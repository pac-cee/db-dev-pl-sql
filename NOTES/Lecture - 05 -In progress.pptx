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73" r:id="rId2"/>
    <p:sldId id="333" r:id="rId3"/>
    <p:sldId id="439" r:id="rId4"/>
    <p:sldId id="410" r:id="rId5"/>
    <p:sldId id="400" r:id="rId6"/>
    <p:sldId id="438" r:id="rId7"/>
    <p:sldId id="431" r:id="rId8"/>
    <p:sldId id="440" r:id="rId9"/>
    <p:sldId id="442" r:id="rId10"/>
    <p:sldId id="448" r:id="rId11"/>
    <p:sldId id="420" r:id="rId12"/>
    <p:sldId id="444" r:id="rId13"/>
    <p:sldId id="443" r:id="rId14"/>
    <p:sldId id="446" r:id="rId15"/>
    <p:sldId id="445" r:id="rId16"/>
    <p:sldId id="447" r:id="rId17"/>
    <p:sldId id="449" r:id="rId18"/>
    <p:sldId id="450" r:id="rId19"/>
    <p:sldId id="422" r:id="rId20"/>
    <p:sldId id="421" r:id="rId21"/>
    <p:sldId id="428" r:id="rId22"/>
    <p:sldId id="429" r:id="rId23"/>
    <p:sldId id="452" r:id="rId24"/>
    <p:sldId id="430" r:id="rId25"/>
    <p:sldId id="437" r:id="rId26"/>
    <p:sldId id="411" r:id="rId27"/>
    <p:sldId id="454" r:id="rId28"/>
    <p:sldId id="456" r:id="rId29"/>
    <p:sldId id="434" r:id="rId30"/>
    <p:sldId id="455" r:id="rId31"/>
    <p:sldId id="435" r:id="rId32"/>
    <p:sldId id="436" r:id="rId33"/>
    <p:sldId id="412" r:id="rId34"/>
    <p:sldId id="457" r:id="rId35"/>
    <p:sldId id="458" r:id="rId36"/>
    <p:sldId id="459" r:id="rId37"/>
    <p:sldId id="460" r:id="rId38"/>
    <p:sldId id="461" r:id="rId39"/>
    <p:sldId id="424" r:id="rId40"/>
    <p:sldId id="401" r:id="rId41"/>
    <p:sldId id="28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6680D2-23A6-424A-B41A-6B6374F8A235}"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FDE57117-E46F-4892-B4B4-336A37A57304}">
      <dgm:prSet custT="1"/>
      <dgm:spPr/>
      <dgm:t>
        <a:bodyPr/>
        <a:lstStyle/>
        <a:p>
          <a:r>
            <a:rPr lang="en-CA" sz="1200" dirty="0">
              <a:latin typeface="Tahoma" panose="020B0604030504040204" pitchFamily="34" charset="0"/>
              <a:ea typeface="Tahoma" panose="020B0604030504040204" pitchFamily="34" charset="0"/>
              <a:cs typeface="Tahoma" panose="020B0604030504040204" pitchFamily="34" charset="0"/>
            </a:rPr>
            <a:t>2. PL/SQL provides </a:t>
          </a:r>
          <a:r>
            <a:rPr lang="en-CA" sz="1200" b="1" dirty="0">
              <a:latin typeface="Tahoma" panose="020B0604030504040204" pitchFamily="34" charset="0"/>
              <a:ea typeface="Tahoma" panose="020B0604030504040204" pitchFamily="34" charset="0"/>
              <a:cs typeface="Tahoma" panose="020B0604030504040204" pitchFamily="34" charset="0"/>
            </a:rPr>
            <a:t>control structures</a:t>
          </a:r>
          <a:r>
            <a:rPr lang="en-CA" sz="1200" dirty="0">
              <a:latin typeface="Tahoma" panose="020B0604030504040204" pitchFamily="34" charset="0"/>
              <a:ea typeface="Tahoma" panose="020B0604030504040204" pitchFamily="34" charset="0"/>
              <a:cs typeface="Tahoma" panose="020B0604030504040204" pitchFamily="34" charset="0"/>
            </a:rPr>
            <a:t> that allow developers to manage the flow of execution in a program. These include:</a:t>
          </a:r>
        </a:p>
      </dgm:t>
    </dgm:pt>
    <dgm:pt modelId="{C17D4016-8D16-4495-8D96-07F59022B59D}" type="parTrans" cxnId="{59F7BC96-A070-4C53-AA6C-4C174A7B3AB0}">
      <dgm:prSet/>
      <dgm:spPr/>
      <dgm:t>
        <a:bodyPr/>
        <a:lstStyle/>
        <a:p>
          <a:endParaRPr lang="en-US"/>
        </a:p>
      </dgm:t>
    </dgm:pt>
    <dgm:pt modelId="{1698FA97-2BC3-4259-8BFA-2F72009C5AFE}" type="sibTrans" cxnId="{59F7BC96-A070-4C53-AA6C-4C174A7B3AB0}">
      <dgm:prSet/>
      <dgm:spPr/>
      <dgm:t>
        <a:bodyPr/>
        <a:lstStyle/>
        <a:p>
          <a:endParaRPr lang="en-US"/>
        </a:p>
      </dgm:t>
    </dgm:pt>
    <dgm:pt modelId="{03FD3585-5E4E-44CE-9022-508AE4CA6B34}">
      <dgm:prSet custT="1"/>
      <dgm:spPr/>
      <dgm:t>
        <a:bodyPr/>
        <a:lstStyle/>
        <a:p>
          <a:pPr>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A.  Conditional Statements</a:t>
          </a:r>
          <a:r>
            <a:rPr lang="en-CA" sz="1200" dirty="0">
              <a:latin typeface="Tahoma" panose="020B0604030504040204" pitchFamily="34" charset="0"/>
              <a:ea typeface="Tahoma" panose="020B0604030504040204" pitchFamily="34" charset="0"/>
              <a:cs typeface="Tahoma" panose="020B0604030504040204" pitchFamily="34" charset="0"/>
            </a:rPr>
            <a:t> – Used for decision-making (IF...THEN, CASE).</a:t>
          </a:r>
        </a:p>
      </dgm:t>
    </dgm:pt>
    <dgm:pt modelId="{DAB8CECA-FBF9-415F-B575-0CA1FD135393}" type="parTrans" cxnId="{4FD390D9-8DE0-4ADD-93B7-5537EBBA3779}">
      <dgm:prSet/>
      <dgm:spPr/>
      <dgm:t>
        <a:bodyPr/>
        <a:lstStyle/>
        <a:p>
          <a:endParaRPr lang="en-US"/>
        </a:p>
      </dgm:t>
    </dgm:pt>
    <dgm:pt modelId="{B0886D55-0ABD-4DF4-AA56-3170FDF58322}" type="sibTrans" cxnId="{4FD390D9-8DE0-4ADD-93B7-5537EBBA3779}">
      <dgm:prSet/>
      <dgm:spPr/>
      <dgm:t>
        <a:bodyPr/>
        <a:lstStyle/>
        <a:p>
          <a:endParaRPr lang="en-US"/>
        </a:p>
      </dgm:t>
    </dgm:pt>
    <dgm:pt modelId="{CAAFB3D7-8917-44B2-A5CE-3DF666EC5BFD}">
      <dgm:prSet custT="1"/>
      <dgm:spPr/>
      <dgm:t>
        <a:bodyPr/>
        <a:lstStyle/>
        <a:p>
          <a:pPr>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B.  Iterative Statements</a:t>
          </a:r>
          <a:r>
            <a:rPr lang="en-CA" sz="1200" dirty="0">
              <a:latin typeface="Tahoma" panose="020B0604030504040204" pitchFamily="34" charset="0"/>
              <a:ea typeface="Tahoma" panose="020B0604030504040204" pitchFamily="34" charset="0"/>
              <a:cs typeface="Tahoma" panose="020B0604030504040204" pitchFamily="34" charset="0"/>
            </a:rPr>
            <a:t> – Used for looping (LOOP, WHILE, FOR).</a:t>
          </a:r>
        </a:p>
      </dgm:t>
    </dgm:pt>
    <dgm:pt modelId="{ECFF4757-B3AE-4E42-BC14-715420B7B756}" type="parTrans" cxnId="{16F49977-6CB7-4374-B0FD-7540986E44C7}">
      <dgm:prSet/>
      <dgm:spPr/>
      <dgm:t>
        <a:bodyPr/>
        <a:lstStyle/>
        <a:p>
          <a:endParaRPr lang="en-US"/>
        </a:p>
      </dgm:t>
    </dgm:pt>
    <dgm:pt modelId="{98DCD642-ECED-4B4D-A11C-E7E6EAD5577D}" type="sibTrans" cxnId="{16F49977-6CB7-4374-B0FD-7540986E44C7}">
      <dgm:prSet/>
      <dgm:spPr/>
      <dgm:t>
        <a:bodyPr/>
        <a:lstStyle/>
        <a:p>
          <a:endParaRPr lang="en-US"/>
        </a:p>
      </dgm:t>
    </dgm:pt>
    <dgm:pt modelId="{DCD5C53C-6F05-494B-9CF5-2A020F30DCA4}">
      <dgm:prSet custT="1"/>
      <dgm:spPr/>
      <dgm:t>
        <a:bodyPr/>
        <a:lstStyle/>
        <a:p>
          <a:pPr>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C.  Sequential Control</a:t>
          </a:r>
          <a:r>
            <a:rPr lang="en-CA" sz="1200" dirty="0">
              <a:latin typeface="Tahoma" panose="020B0604030504040204" pitchFamily="34" charset="0"/>
              <a:ea typeface="Tahoma" panose="020B0604030504040204" pitchFamily="34" charset="0"/>
              <a:cs typeface="Tahoma" panose="020B0604030504040204" pitchFamily="34" charset="0"/>
            </a:rPr>
            <a:t> – Controls the order of execution (GOTO, NULL).</a:t>
          </a:r>
        </a:p>
      </dgm:t>
    </dgm:pt>
    <dgm:pt modelId="{78DBA194-15AE-47FC-820A-DD2A945E927B}" type="parTrans" cxnId="{A114C1C7-9A8E-4E06-8296-E106413F3AC6}">
      <dgm:prSet/>
      <dgm:spPr/>
      <dgm:t>
        <a:bodyPr/>
        <a:lstStyle/>
        <a:p>
          <a:endParaRPr lang="en-US"/>
        </a:p>
      </dgm:t>
    </dgm:pt>
    <dgm:pt modelId="{867131A9-942C-44C7-B609-75EED0B1248E}" type="sibTrans" cxnId="{A114C1C7-9A8E-4E06-8296-E106413F3AC6}">
      <dgm:prSet/>
      <dgm:spPr/>
      <dgm:t>
        <a:bodyPr/>
        <a:lstStyle/>
        <a:p>
          <a:endParaRPr lang="en-US"/>
        </a:p>
      </dgm:t>
    </dgm:pt>
    <dgm:pt modelId="{E5F03FF2-A42B-48FA-A3E5-EE01E76D7F6B}">
      <dgm:prSet custT="1"/>
      <dgm:spPr/>
      <dgm:t>
        <a:bodyPr/>
        <a:lstStyle/>
        <a:p>
          <a:pPr>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1. Error Handling Mechanisms</a:t>
          </a:r>
          <a:r>
            <a:rPr lang="en-CA" sz="1200" dirty="0">
              <a:latin typeface="Tahoma" panose="020B0604030504040204" pitchFamily="34" charset="0"/>
              <a:ea typeface="Tahoma" panose="020B0604030504040204" pitchFamily="34" charset="0"/>
              <a:cs typeface="Tahoma" panose="020B0604030504040204" pitchFamily="34" charset="0"/>
            </a:rPr>
            <a:t> – Handles runtime exceptions (EXCEPTION block).</a:t>
          </a:r>
        </a:p>
      </dgm:t>
    </dgm:pt>
    <dgm:pt modelId="{23D12552-4AC8-437F-9B4C-38A6C73B3132}" type="sibTrans" cxnId="{40553FFC-0443-4848-A6C9-F6352A165E14}">
      <dgm:prSet/>
      <dgm:spPr/>
      <dgm:t>
        <a:bodyPr/>
        <a:lstStyle/>
        <a:p>
          <a:endParaRPr lang="en-US"/>
        </a:p>
      </dgm:t>
    </dgm:pt>
    <dgm:pt modelId="{51344D9C-AFC5-4919-A2A9-45B1939813B4}" type="parTrans" cxnId="{40553FFC-0443-4848-A6C9-F6352A165E14}">
      <dgm:prSet/>
      <dgm:spPr/>
      <dgm:t>
        <a:bodyPr/>
        <a:lstStyle/>
        <a:p>
          <a:endParaRPr lang="en-US"/>
        </a:p>
      </dgm:t>
    </dgm:pt>
    <dgm:pt modelId="{F2393B7A-BA2A-4A4B-8599-A7EB6DEEEF6B}" type="pres">
      <dgm:prSet presAssocID="{476680D2-23A6-424A-B41A-6B6374F8A235}" presName="linear" presStyleCnt="0">
        <dgm:presLayoutVars>
          <dgm:dir/>
          <dgm:animLvl val="lvl"/>
          <dgm:resizeHandles val="exact"/>
        </dgm:presLayoutVars>
      </dgm:prSet>
      <dgm:spPr/>
    </dgm:pt>
    <dgm:pt modelId="{017F3B27-645F-40AC-B046-3C968864A332}" type="pres">
      <dgm:prSet presAssocID="{E5F03FF2-A42B-48FA-A3E5-EE01E76D7F6B}" presName="parentLin" presStyleCnt="0"/>
      <dgm:spPr/>
    </dgm:pt>
    <dgm:pt modelId="{7EEF2255-7E4C-4D9D-9CC0-3CDA8652B426}" type="pres">
      <dgm:prSet presAssocID="{E5F03FF2-A42B-48FA-A3E5-EE01E76D7F6B}" presName="parentLeftMargin" presStyleLbl="node1" presStyleIdx="0" presStyleCnt="5"/>
      <dgm:spPr/>
    </dgm:pt>
    <dgm:pt modelId="{FCFC5293-F11C-4AC8-8BA9-9FD540313967}" type="pres">
      <dgm:prSet presAssocID="{E5F03FF2-A42B-48FA-A3E5-EE01E76D7F6B}" presName="parentText" presStyleLbl="node1" presStyleIdx="0" presStyleCnt="5">
        <dgm:presLayoutVars>
          <dgm:chMax val="0"/>
          <dgm:bulletEnabled val="1"/>
        </dgm:presLayoutVars>
      </dgm:prSet>
      <dgm:spPr/>
    </dgm:pt>
    <dgm:pt modelId="{7EB3BEA3-4614-4859-A2C4-BBDC4576DE90}" type="pres">
      <dgm:prSet presAssocID="{E5F03FF2-A42B-48FA-A3E5-EE01E76D7F6B}" presName="negativeSpace" presStyleCnt="0"/>
      <dgm:spPr/>
    </dgm:pt>
    <dgm:pt modelId="{0BA80433-B4A5-412C-8D5F-79A329CEE109}" type="pres">
      <dgm:prSet presAssocID="{E5F03FF2-A42B-48FA-A3E5-EE01E76D7F6B}" presName="childText" presStyleLbl="conFgAcc1" presStyleIdx="0" presStyleCnt="5">
        <dgm:presLayoutVars>
          <dgm:bulletEnabled val="1"/>
        </dgm:presLayoutVars>
      </dgm:prSet>
      <dgm:spPr/>
    </dgm:pt>
    <dgm:pt modelId="{092585A3-27B8-4431-945C-54ECD4126D5D}" type="pres">
      <dgm:prSet presAssocID="{23D12552-4AC8-437F-9B4C-38A6C73B3132}" presName="spaceBetweenRectangles" presStyleCnt="0"/>
      <dgm:spPr/>
    </dgm:pt>
    <dgm:pt modelId="{45D6D727-1625-4586-AB2B-A7BE92FF0765}" type="pres">
      <dgm:prSet presAssocID="{FDE57117-E46F-4892-B4B4-336A37A57304}" presName="parentLin" presStyleCnt="0"/>
      <dgm:spPr/>
    </dgm:pt>
    <dgm:pt modelId="{0987A59C-473C-440C-A584-24867299F341}" type="pres">
      <dgm:prSet presAssocID="{FDE57117-E46F-4892-B4B4-336A37A57304}" presName="parentLeftMargin" presStyleLbl="node1" presStyleIdx="0" presStyleCnt="5"/>
      <dgm:spPr/>
    </dgm:pt>
    <dgm:pt modelId="{9300E2AB-ED94-4F69-8EA3-CEB5AE373EA5}" type="pres">
      <dgm:prSet presAssocID="{FDE57117-E46F-4892-B4B4-336A37A57304}" presName="parentText" presStyleLbl="node1" presStyleIdx="1" presStyleCnt="5">
        <dgm:presLayoutVars>
          <dgm:chMax val="0"/>
          <dgm:bulletEnabled val="1"/>
        </dgm:presLayoutVars>
      </dgm:prSet>
      <dgm:spPr/>
    </dgm:pt>
    <dgm:pt modelId="{8D08747A-BB0C-4A73-86B6-D6D847E49F31}" type="pres">
      <dgm:prSet presAssocID="{FDE57117-E46F-4892-B4B4-336A37A57304}" presName="negativeSpace" presStyleCnt="0"/>
      <dgm:spPr/>
    </dgm:pt>
    <dgm:pt modelId="{2330EDB7-6E05-475B-884A-70944A03F0CB}" type="pres">
      <dgm:prSet presAssocID="{FDE57117-E46F-4892-B4B4-336A37A57304}" presName="childText" presStyleLbl="conFgAcc1" presStyleIdx="1" presStyleCnt="5">
        <dgm:presLayoutVars>
          <dgm:bulletEnabled val="1"/>
        </dgm:presLayoutVars>
      </dgm:prSet>
      <dgm:spPr/>
    </dgm:pt>
    <dgm:pt modelId="{84259F5B-52D1-4ABE-8FF1-169B98AFDEEE}" type="pres">
      <dgm:prSet presAssocID="{1698FA97-2BC3-4259-8BFA-2F72009C5AFE}" presName="spaceBetweenRectangles" presStyleCnt="0"/>
      <dgm:spPr/>
    </dgm:pt>
    <dgm:pt modelId="{635D54A4-9E8B-40BF-B5F1-85FC8084FE75}" type="pres">
      <dgm:prSet presAssocID="{03FD3585-5E4E-44CE-9022-508AE4CA6B34}" presName="parentLin" presStyleCnt="0"/>
      <dgm:spPr/>
    </dgm:pt>
    <dgm:pt modelId="{0AD83296-CB32-4899-BC74-E267371D5108}" type="pres">
      <dgm:prSet presAssocID="{03FD3585-5E4E-44CE-9022-508AE4CA6B34}" presName="parentLeftMargin" presStyleLbl="node1" presStyleIdx="1" presStyleCnt="5"/>
      <dgm:spPr/>
    </dgm:pt>
    <dgm:pt modelId="{FCA9CF5E-F63B-4FEE-9456-9EDDC88BE788}" type="pres">
      <dgm:prSet presAssocID="{03FD3585-5E4E-44CE-9022-508AE4CA6B34}" presName="parentText" presStyleLbl="node1" presStyleIdx="2" presStyleCnt="5">
        <dgm:presLayoutVars>
          <dgm:chMax val="0"/>
          <dgm:bulletEnabled val="1"/>
        </dgm:presLayoutVars>
      </dgm:prSet>
      <dgm:spPr/>
    </dgm:pt>
    <dgm:pt modelId="{CCA3A62C-C8EE-439F-BCA3-0BB53DADC2E7}" type="pres">
      <dgm:prSet presAssocID="{03FD3585-5E4E-44CE-9022-508AE4CA6B34}" presName="negativeSpace" presStyleCnt="0"/>
      <dgm:spPr/>
    </dgm:pt>
    <dgm:pt modelId="{D95DD2C0-C698-4328-898B-C52B2B78F94E}" type="pres">
      <dgm:prSet presAssocID="{03FD3585-5E4E-44CE-9022-508AE4CA6B34}" presName="childText" presStyleLbl="conFgAcc1" presStyleIdx="2" presStyleCnt="5">
        <dgm:presLayoutVars>
          <dgm:bulletEnabled val="1"/>
        </dgm:presLayoutVars>
      </dgm:prSet>
      <dgm:spPr/>
    </dgm:pt>
    <dgm:pt modelId="{0C88D4FA-7C85-4151-A608-4D311EF3D754}" type="pres">
      <dgm:prSet presAssocID="{B0886D55-0ABD-4DF4-AA56-3170FDF58322}" presName="spaceBetweenRectangles" presStyleCnt="0"/>
      <dgm:spPr/>
    </dgm:pt>
    <dgm:pt modelId="{ED951A70-A3F4-45AA-9680-6327AAE65868}" type="pres">
      <dgm:prSet presAssocID="{CAAFB3D7-8917-44B2-A5CE-3DF666EC5BFD}" presName="parentLin" presStyleCnt="0"/>
      <dgm:spPr/>
    </dgm:pt>
    <dgm:pt modelId="{389A92B8-F5BE-41C3-91C5-1D07D5D7BC43}" type="pres">
      <dgm:prSet presAssocID="{CAAFB3D7-8917-44B2-A5CE-3DF666EC5BFD}" presName="parentLeftMargin" presStyleLbl="node1" presStyleIdx="2" presStyleCnt="5"/>
      <dgm:spPr/>
    </dgm:pt>
    <dgm:pt modelId="{40B0C991-7F3D-4A6D-972D-9E7F55E2C31C}" type="pres">
      <dgm:prSet presAssocID="{CAAFB3D7-8917-44B2-A5CE-3DF666EC5BFD}" presName="parentText" presStyleLbl="node1" presStyleIdx="3" presStyleCnt="5">
        <dgm:presLayoutVars>
          <dgm:chMax val="0"/>
          <dgm:bulletEnabled val="1"/>
        </dgm:presLayoutVars>
      </dgm:prSet>
      <dgm:spPr/>
    </dgm:pt>
    <dgm:pt modelId="{362547B3-3919-4066-B662-222A989C5F03}" type="pres">
      <dgm:prSet presAssocID="{CAAFB3D7-8917-44B2-A5CE-3DF666EC5BFD}" presName="negativeSpace" presStyleCnt="0"/>
      <dgm:spPr/>
    </dgm:pt>
    <dgm:pt modelId="{7DFEB199-BFA7-4A4E-8839-20725777A6E1}" type="pres">
      <dgm:prSet presAssocID="{CAAFB3D7-8917-44B2-A5CE-3DF666EC5BFD}" presName="childText" presStyleLbl="conFgAcc1" presStyleIdx="3" presStyleCnt="5">
        <dgm:presLayoutVars>
          <dgm:bulletEnabled val="1"/>
        </dgm:presLayoutVars>
      </dgm:prSet>
      <dgm:spPr/>
    </dgm:pt>
    <dgm:pt modelId="{FD5833A9-B576-40E3-BD4F-CAF6A76929C0}" type="pres">
      <dgm:prSet presAssocID="{98DCD642-ECED-4B4D-A11C-E7E6EAD5577D}" presName="spaceBetweenRectangles" presStyleCnt="0"/>
      <dgm:spPr/>
    </dgm:pt>
    <dgm:pt modelId="{7C27F7F4-4E51-46F7-95CC-BFA604B09CC7}" type="pres">
      <dgm:prSet presAssocID="{DCD5C53C-6F05-494B-9CF5-2A020F30DCA4}" presName="parentLin" presStyleCnt="0"/>
      <dgm:spPr/>
    </dgm:pt>
    <dgm:pt modelId="{43C6E4AB-C585-4511-90B2-A800C4C20C26}" type="pres">
      <dgm:prSet presAssocID="{DCD5C53C-6F05-494B-9CF5-2A020F30DCA4}" presName="parentLeftMargin" presStyleLbl="node1" presStyleIdx="3" presStyleCnt="5"/>
      <dgm:spPr/>
    </dgm:pt>
    <dgm:pt modelId="{D7E97ECC-7DD0-46F0-B615-6C80CCF08A06}" type="pres">
      <dgm:prSet presAssocID="{DCD5C53C-6F05-494B-9CF5-2A020F30DCA4}" presName="parentText" presStyleLbl="node1" presStyleIdx="4" presStyleCnt="5">
        <dgm:presLayoutVars>
          <dgm:chMax val="0"/>
          <dgm:bulletEnabled val="1"/>
        </dgm:presLayoutVars>
      </dgm:prSet>
      <dgm:spPr/>
    </dgm:pt>
    <dgm:pt modelId="{BE70921E-39BF-49DC-A4E7-B629BF520F05}" type="pres">
      <dgm:prSet presAssocID="{DCD5C53C-6F05-494B-9CF5-2A020F30DCA4}" presName="negativeSpace" presStyleCnt="0"/>
      <dgm:spPr/>
    </dgm:pt>
    <dgm:pt modelId="{885B0F80-C8AA-4B9F-9F4C-0CD6AFF5FF10}" type="pres">
      <dgm:prSet presAssocID="{DCD5C53C-6F05-494B-9CF5-2A020F30DCA4}" presName="childText" presStyleLbl="conFgAcc1" presStyleIdx="4" presStyleCnt="5">
        <dgm:presLayoutVars>
          <dgm:bulletEnabled val="1"/>
        </dgm:presLayoutVars>
      </dgm:prSet>
      <dgm:spPr/>
    </dgm:pt>
  </dgm:ptLst>
  <dgm:cxnLst>
    <dgm:cxn modelId="{CBAE8A38-1626-445F-BF7B-00387EC93ACA}" type="presOf" srcId="{E5F03FF2-A42B-48FA-A3E5-EE01E76D7F6B}" destId="{FCFC5293-F11C-4AC8-8BA9-9FD540313967}" srcOrd="1" destOrd="0" presId="urn:microsoft.com/office/officeart/2005/8/layout/list1"/>
    <dgm:cxn modelId="{EA63E55B-27EF-41FB-BB19-C0A6BFB7D003}" type="presOf" srcId="{DCD5C53C-6F05-494B-9CF5-2A020F30DCA4}" destId="{D7E97ECC-7DD0-46F0-B615-6C80CCF08A06}" srcOrd="1" destOrd="0" presId="urn:microsoft.com/office/officeart/2005/8/layout/list1"/>
    <dgm:cxn modelId="{98B1004F-FCA4-4773-A1E3-31C3A210D36E}" type="presOf" srcId="{FDE57117-E46F-4892-B4B4-336A37A57304}" destId="{9300E2AB-ED94-4F69-8EA3-CEB5AE373EA5}" srcOrd="1" destOrd="0" presId="urn:microsoft.com/office/officeart/2005/8/layout/list1"/>
    <dgm:cxn modelId="{16F49977-6CB7-4374-B0FD-7540986E44C7}" srcId="{476680D2-23A6-424A-B41A-6B6374F8A235}" destId="{CAAFB3D7-8917-44B2-A5CE-3DF666EC5BFD}" srcOrd="3" destOrd="0" parTransId="{ECFF4757-B3AE-4E42-BC14-715420B7B756}" sibTransId="{98DCD642-ECED-4B4D-A11C-E7E6EAD5577D}"/>
    <dgm:cxn modelId="{4DD45378-B4A5-4CA8-B488-C8F6A3E83EBC}" type="presOf" srcId="{CAAFB3D7-8917-44B2-A5CE-3DF666EC5BFD}" destId="{40B0C991-7F3D-4A6D-972D-9E7F55E2C31C}" srcOrd="1" destOrd="0" presId="urn:microsoft.com/office/officeart/2005/8/layout/list1"/>
    <dgm:cxn modelId="{0072D091-7819-4D21-B770-D5B105AA5AEA}" type="presOf" srcId="{FDE57117-E46F-4892-B4B4-336A37A57304}" destId="{0987A59C-473C-440C-A584-24867299F341}" srcOrd="0" destOrd="0" presId="urn:microsoft.com/office/officeart/2005/8/layout/list1"/>
    <dgm:cxn modelId="{59F7BC96-A070-4C53-AA6C-4C174A7B3AB0}" srcId="{476680D2-23A6-424A-B41A-6B6374F8A235}" destId="{FDE57117-E46F-4892-B4B4-336A37A57304}" srcOrd="1" destOrd="0" parTransId="{C17D4016-8D16-4495-8D96-07F59022B59D}" sibTransId="{1698FA97-2BC3-4259-8BFA-2F72009C5AFE}"/>
    <dgm:cxn modelId="{2B367A9A-A103-468C-9395-3BAF7AB19ED0}" type="presOf" srcId="{CAAFB3D7-8917-44B2-A5CE-3DF666EC5BFD}" destId="{389A92B8-F5BE-41C3-91C5-1D07D5D7BC43}" srcOrd="0" destOrd="0" presId="urn:microsoft.com/office/officeart/2005/8/layout/list1"/>
    <dgm:cxn modelId="{C4599DB5-0708-4140-B9E9-532F7F852A5F}" type="presOf" srcId="{476680D2-23A6-424A-B41A-6B6374F8A235}" destId="{F2393B7A-BA2A-4A4B-8599-A7EB6DEEEF6B}" srcOrd="0" destOrd="0" presId="urn:microsoft.com/office/officeart/2005/8/layout/list1"/>
    <dgm:cxn modelId="{968713B9-AD61-43F3-A345-9C79C2F8DA73}" type="presOf" srcId="{03FD3585-5E4E-44CE-9022-508AE4CA6B34}" destId="{0AD83296-CB32-4899-BC74-E267371D5108}" srcOrd="0" destOrd="0" presId="urn:microsoft.com/office/officeart/2005/8/layout/list1"/>
    <dgm:cxn modelId="{A114C1C7-9A8E-4E06-8296-E106413F3AC6}" srcId="{476680D2-23A6-424A-B41A-6B6374F8A235}" destId="{DCD5C53C-6F05-494B-9CF5-2A020F30DCA4}" srcOrd="4" destOrd="0" parTransId="{78DBA194-15AE-47FC-820A-DD2A945E927B}" sibTransId="{867131A9-942C-44C7-B609-75EED0B1248E}"/>
    <dgm:cxn modelId="{2426A2C8-5085-445E-BCF1-49916EF0841C}" type="presOf" srcId="{DCD5C53C-6F05-494B-9CF5-2A020F30DCA4}" destId="{43C6E4AB-C585-4511-90B2-A800C4C20C26}" srcOrd="0" destOrd="0" presId="urn:microsoft.com/office/officeart/2005/8/layout/list1"/>
    <dgm:cxn modelId="{A26651CE-45FA-4090-B938-FEF22ECA0909}" type="presOf" srcId="{03FD3585-5E4E-44CE-9022-508AE4CA6B34}" destId="{FCA9CF5E-F63B-4FEE-9456-9EDDC88BE788}" srcOrd="1" destOrd="0" presId="urn:microsoft.com/office/officeart/2005/8/layout/list1"/>
    <dgm:cxn modelId="{4FD390D9-8DE0-4ADD-93B7-5537EBBA3779}" srcId="{476680D2-23A6-424A-B41A-6B6374F8A235}" destId="{03FD3585-5E4E-44CE-9022-508AE4CA6B34}" srcOrd="2" destOrd="0" parTransId="{DAB8CECA-FBF9-415F-B575-0CA1FD135393}" sibTransId="{B0886D55-0ABD-4DF4-AA56-3170FDF58322}"/>
    <dgm:cxn modelId="{40553FFC-0443-4848-A6C9-F6352A165E14}" srcId="{476680D2-23A6-424A-B41A-6B6374F8A235}" destId="{E5F03FF2-A42B-48FA-A3E5-EE01E76D7F6B}" srcOrd="0" destOrd="0" parTransId="{51344D9C-AFC5-4919-A2A9-45B1939813B4}" sibTransId="{23D12552-4AC8-437F-9B4C-38A6C73B3132}"/>
    <dgm:cxn modelId="{3060DDFD-5364-4173-A2F1-C827E4F85434}" type="presOf" srcId="{E5F03FF2-A42B-48FA-A3E5-EE01E76D7F6B}" destId="{7EEF2255-7E4C-4D9D-9CC0-3CDA8652B426}" srcOrd="0" destOrd="0" presId="urn:microsoft.com/office/officeart/2005/8/layout/list1"/>
    <dgm:cxn modelId="{4BD9685A-2976-4E63-AFEE-CEDD71DBDB8C}" type="presParOf" srcId="{F2393B7A-BA2A-4A4B-8599-A7EB6DEEEF6B}" destId="{017F3B27-645F-40AC-B046-3C968864A332}" srcOrd="0" destOrd="0" presId="urn:microsoft.com/office/officeart/2005/8/layout/list1"/>
    <dgm:cxn modelId="{7F49021F-0852-450C-905A-49D0CE26D384}" type="presParOf" srcId="{017F3B27-645F-40AC-B046-3C968864A332}" destId="{7EEF2255-7E4C-4D9D-9CC0-3CDA8652B426}" srcOrd="0" destOrd="0" presId="urn:microsoft.com/office/officeart/2005/8/layout/list1"/>
    <dgm:cxn modelId="{76363397-6D6C-41B9-87E1-5CD6966EBE9F}" type="presParOf" srcId="{017F3B27-645F-40AC-B046-3C968864A332}" destId="{FCFC5293-F11C-4AC8-8BA9-9FD540313967}" srcOrd="1" destOrd="0" presId="urn:microsoft.com/office/officeart/2005/8/layout/list1"/>
    <dgm:cxn modelId="{B35BC6C7-BB39-4422-8C11-DF0A17DD0724}" type="presParOf" srcId="{F2393B7A-BA2A-4A4B-8599-A7EB6DEEEF6B}" destId="{7EB3BEA3-4614-4859-A2C4-BBDC4576DE90}" srcOrd="1" destOrd="0" presId="urn:microsoft.com/office/officeart/2005/8/layout/list1"/>
    <dgm:cxn modelId="{CDE67332-45B6-4BC5-B78D-7E86A40AD3C9}" type="presParOf" srcId="{F2393B7A-BA2A-4A4B-8599-A7EB6DEEEF6B}" destId="{0BA80433-B4A5-412C-8D5F-79A329CEE109}" srcOrd="2" destOrd="0" presId="urn:microsoft.com/office/officeart/2005/8/layout/list1"/>
    <dgm:cxn modelId="{E15787F6-2F5F-43C7-9CAA-17F374F5B16C}" type="presParOf" srcId="{F2393B7A-BA2A-4A4B-8599-A7EB6DEEEF6B}" destId="{092585A3-27B8-4431-945C-54ECD4126D5D}" srcOrd="3" destOrd="0" presId="urn:microsoft.com/office/officeart/2005/8/layout/list1"/>
    <dgm:cxn modelId="{196896A7-9217-4195-9BDF-D22188976B92}" type="presParOf" srcId="{F2393B7A-BA2A-4A4B-8599-A7EB6DEEEF6B}" destId="{45D6D727-1625-4586-AB2B-A7BE92FF0765}" srcOrd="4" destOrd="0" presId="urn:microsoft.com/office/officeart/2005/8/layout/list1"/>
    <dgm:cxn modelId="{EDDF2EDC-9DAB-4740-879C-85CAA811EB5C}" type="presParOf" srcId="{45D6D727-1625-4586-AB2B-A7BE92FF0765}" destId="{0987A59C-473C-440C-A584-24867299F341}" srcOrd="0" destOrd="0" presId="urn:microsoft.com/office/officeart/2005/8/layout/list1"/>
    <dgm:cxn modelId="{D200DCD3-47AE-42FF-B1F2-6A2D4781BA4F}" type="presParOf" srcId="{45D6D727-1625-4586-AB2B-A7BE92FF0765}" destId="{9300E2AB-ED94-4F69-8EA3-CEB5AE373EA5}" srcOrd="1" destOrd="0" presId="urn:microsoft.com/office/officeart/2005/8/layout/list1"/>
    <dgm:cxn modelId="{D9167642-4715-499C-9D9A-166354E8E2B0}" type="presParOf" srcId="{F2393B7A-BA2A-4A4B-8599-A7EB6DEEEF6B}" destId="{8D08747A-BB0C-4A73-86B6-D6D847E49F31}" srcOrd="5" destOrd="0" presId="urn:microsoft.com/office/officeart/2005/8/layout/list1"/>
    <dgm:cxn modelId="{521EB78C-221D-463F-9B88-C9C298740271}" type="presParOf" srcId="{F2393B7A-BA2A-4A4B-8599-A7EB6DEEEF6B}" destId="{2330EDB7-6E05-475B-884A-70944A03F0CB}" srcOrd="6" destOrd="0" presId="urn:microsoft.com/office/officeart/2005/8/layout/list1"/>
    <dgm:cxn modelId="{D7B159AA-FCBE-4C48-8037-822288DB6346}" type="presParOf" srcId="{F2393B7A-BA2A-4A4B-8599-A7EB6DEEEF6B}" destId="{84259F5B-52D1-4ABE-8FF1-169B98AFDEEE}" srcOrd="7" destOrd="0" presId="urn:microsoft.com/office/officeart/2005/8/layout/list1"/>
    <dgm:cxn modelId="{08AA3327-4AAA-4917-B8E9-3F3177618BD3}" type="presParOf" srcId="{F2393B7A-BA2A-4A4B-8599-A7EB6DEEEF6B}" destId="{635D54A4-9E8B-40BF-B5F1-85FC8084FE75}" srcOrd="8" destOrd="0" presId="urn:microsoft.com/office/officeart/2005/8/layout/list1"/>
    <dgm:cxn modelId="{0F9D093B-1CED-4978-AA7C-3450535C95A8}" type="presParOf" srcId="{635D54A4-9E8B-40BF-B5F1-85FC8084FE75}" destId="{0AD83296-CB32-4899-BC74-E267371D5108}" srcOrd="0" destOrd="0" presId="urn:microsoft.com/office/officeart/2005/8/layout/list1"/>
    <dgm:cxn modelId="{05B36891-841C-40FD-838C-E645AA8C182D}" type="presParOf" srcId="{635D54A4-9E8B-40BF-B5F1-85FC8084FE75}" destId="{FCA9CF5E-F63B-4FEE-9456-9EDDC88BE788}" srcOrd="1" destOrd="0" presId="urn:microsoft.com/office/officeart/2005/8/layout/list1"/>
    <dgm:cxn modelId="{C2595C65-824D-4229-A2E9-724F06B0E749}" type="presParOf" srcId="{F2393B7A-BA2A-4A4B-8599-A7EB6DEEEF6B}" destId="{CCA3A62C-C8EE-439F-BCA3-0BB53DADC2E7}" srcOrd="9" destOrd="0" presId="urn:microsoft.com/office/officeart/2005/8/layout/list1"/>
    <dgm:cxn modelId="{D7110BD3-EFF7-4504-8534-2FB1FD97C70C}" type="presParOf" srcId="{F2393B7A-BA2A-4A4B-8599-A7EB6DEEEF6B}" destId="{D95DD2C0-C698-4328-898B-C52B2B78F94E}" srcOrd="10" destOrd="0" presId="urn:microsoft.com/office/officeart/2005/8/layout/list1"/>
    <dgm:cxn modelId="{B893B918-CB73-4BB3-AD5F-F7B596FFAAEB}" type="presParOf" srcId="{F2393B7A-BA2A-4A4B-8599-A7EB6DEEEF6B}" destId="{0C88D4FA-7C85-4151-A608-4D311EF3D754}" srcOrd="11" destOrd="0" presId="urn:microsoft.com/office/officeart/2005/8/layout/list1"/>
    <dgm:cxn modelId="{16D6FBF6-4853-45F6-962D-C32EB584E1D6}" type="presParOf" srcId="{F2393B7A-BA2A-4A4B-8599-A7EB6DEEEF6B}" destId="{ED951A70-A3F4-45AA-9680-6327AAE65868}" srcOrd="12" destOrd="0" presId="urn:microsoft.com/office/officeart/2005/8/layout/list1"/>
    <dgm:cxn modelId="{C6CE259E-8687-4BC7-88F8-D58E9F33B6C5}" type="presParOf" srcId="{ED951A70-A3F4-45AA-9680-6327AAE65868}" destId="{389A92B8-F5BE-41C3-91C5-1D07D5D7BC43}" srcOrd="0" destOrd="0" presId="urn:microsoft.com/office/officeart/2005/8/layout/list1"/>
    <dgm:cxn modelId="{720B5D3A-F580-4B84-AF57-72446DF4F9C6}" type="presParOf" srcId="{ED951A70-A3F4-45AA-9680-6327AAE65868}" destId="{40B0C991-7F3D-4A6D-972D-9E7F55E2C31C}" srcOrd="1" destOrd="0" presId="urn:microsoft.com/office/officeart/2005/8/layout/list1"/>
    <dgm:cxn modelId="{AC1E8F29-D348-4F55-B8BA-9AA635D79D8E}" type="presParOf" srcId="{F2393B7A-BA2A-4A4B-8599-A7EB6DEEEF6B}" destId="{362547B3-3919-4066-B662-222A989C5F03}" srcOrd="13" destOrd="0" presId="urn:microsoft.com/office/officeart/2005/8/layout/list1"/>
    <dgm:cxn modelId="{3CECCF1B-132F-4307-A758-3B8CCC0744B7}" type="presParOf" srcId="{F2393B7A-BA2A-4A4B-8599-A7EB6DEEEF6B}" destId="{7DFEB199-BFA7-4A4E-8839-20725777A6E1}" srcOrd="14" destOrd="0" presId="urn:microsoft.com/office/officeart/2005/8/layout/list1"/>
    <dgm:cxn modelId="{F2F7ABD6-9E78-4CD7-A1F7-1EF58F146143}" type="presParOf" srcId="{F2393B7A-BA2A-4A4B-8599-A7EB6DEEEF6B}" destId="{FD5833A9-B576-40E3-BD4F-CAF6A76929C0}" srcOrd="15" destOrd="0" presId="urn:microsoft.com/office/officeart/2005/8/layout/list1"/>
    <dgm:cxn modelId="{56B979A7-764A-42F2-B1D3-2C940B20E992}" type="presParOf" srcId="{F2393B7A-BA2A-4A4B-8599-A7EB6DEEEF6B}" destId="{7C27F7F4-4E51-46F7-95CC-BFA604B09CC7}" srcOrd="16" destOrd="0" presId="urn:microsoft.com/office/officeart/2005/8/layout/list1"/>
    <dgm:cxn modelId="{66791DD3-E403-46AC-A36B-2F1DC4C3C6C3}" type="presParOf" srcId="{7C27F7F4-4E51-46F7-95CC-BFA604B09CC7}" destId="{43C6E4AB-C585-4511-90B2-A800C4C20C26}" srcOrd="0" destOrd="0" presId="urn:microsoft.com/office/officeart/2005/8/layout/list1"/>
    <dgm:cxn modelId="{A7BD50CA-0B1F-46CB-86D7-41628EE8F863}" type="presParOf" srcId="{7C27F7F4-4E51-46F7-95CC-BFA604B09CC7}" destId="{D7E97ECC-7DD0-46F0-B615-6C80CCF08A06}" srcOrd="1" destOrd="0" presId="urn:microsoft.com/office/officeart/2005/8/layout/list1"/>
    <dgm:cxn modelId="{192F2838-8E1C-411A-9140-ECB9595FF804}" type="presParOf" srcId="{F2393B7A-BA2A-4A4B-8599-A7EB6DEEEF6B}" destId="{BE70921E-39BF-49DC-A4E7-B629BF520F05}" srcOrd="17" destOrd="0" presId="urn:microsoft.com/office/officeart/2005/8/layout/list1"/>
    <dgm:cxn modelId="{2D6062C7-DDEA-4114-AB0A-17CA6CD865F7}" type="presParOf" srcId="{F2393B7A-BA2A-4A4B-8599-A7EB6DEEEF6B}" destId="{885B0F80-C8AA-4B9F-9F4C-0CD6AFF5FF10}"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9B0DCC-FB35-4F32-983D-9809AACCE561}"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655FE75E-3CDB-49C6-A02A-88A5FF1C808E}">
      <dgm:prSet phldrT="[Text]" custT="1"/>
      <dgm:spPr/>
      <dgm:t>
        <a:bodyPr/>
        <a:lstStyle/>
        <a:p>
          <a:pPr>
            <a:buClrTx/>
            <a:buSzTx/>
            <a:buFontTx/>
            <a:buAutoNum type="arabicPeriod"/>
          </a:pPr>
          <a:r>
            <a:rPr kumimoji="0" lang="en-US" altLang="en-US" sz="1200" b="1" i="0" u="none" strike="noStrike" cap="none" normalizeH="0" baseline="0" dirty="0">
              <a:ln/>
              <a:solidFill>
                <a:schemeClr val="tx1"/>
              </a:solidFill>
              <a:effectLst/>
              <a:latin typeface="Tahoma" panose="020B0604030504040204" pitchFamily="34" charset="0"/>
              <a:ea typeface="Tahoma" panose="020B0604030504040204" pitchFamily="34" charset="0"/>
              <a:cs typeface="Tahoma" panose="020B0604030504040204" pitchFamily="34" charset="0"/>
            </a:rPr>
            <a:t>System-defined exceptions or </a:t>
          </a:r>
          <a:r>
            <a:rPr lang="en-CA" sz="12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Named system exceptions</a:t>
          </a:r>
          <a:endPar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endParaRPr>
        </a:p>
      </dgm:t>
    </dgm:pt>
    <dgm:pt modelId="{6824586A-DB5D-4255-B4E1-FC294449D0D2}" type="parTrans" cxnId="{F02FD2E4-3C06-4746-B121-D38B43AAC35B}">
      <dgm:prSet/>
      <dgm:spPr/>
      <dgm:t>
        <a:bodyPr/>
        <a:lstStyle/>
        <a:p>
          <a:endParaRPr lang="en-US"/>
        </a:p>
      </dgm:t>
    </dgm:pt>
    <dgm:pt modelId="{8C4AB80D-27E4-43AB-AB4B-5840DD9B9F53}" type="sibTrans" cxnId="{F02FD2E4-3C06-4746-B121-D38B43AAC35B}">
      <dgm:prSet/>
      <dgm:spPr/>
      <dgm:t>
        <a:bodyPr/>
        <a:lstStyle/>
        <a:p>
          <a:endParaRPr lang="en-US"/>
        </a:p>
      </dgm:t>
    </dgm:pt>
    <dgm:pt modelId="{393149F8-BF0B-455C-AFEE-794F9EE26948}">
      <dgm:prSet custT="1"/>
      <dgm:spPr/>
      <dgm:t>
        <a:bodyPr/>
        <a:lstStyle/>
        <a:p>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User-defined exceptions or Unnamed System exceptions</a:t>
          </a:r>
          <a:endPar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endParaRPr>
        </a:p>
      </dgm:t>
    </dgm:pt>
    <dgm:pt modelId="{34421ABC-0332-4CBA-ABAE-30BC7518D091}" type="parTrans" cxnId="{EF2A4B1E-3B40-4F60-A443-806823855425}">
      <dgm:prSet/>
      <dgm:spPr/>
      <dgm:t>
        <a:bodyPr/>
        <a:lstStyle/>
        <a:p>
          <a:endParaRPr lang="en-US"/>
        </a:p>
      </dgm:t>
    </dgm:pt>
    <dgm:pt modelId="{944EF065-2B8B-477C-B3C4-94ED001E96D2}" type="sibTrans" cxnId="{EF2A4B1E-3B40-4F60-A443-806823855425}">
      <dgm:prSet/>
      <dgm:spPr/>
      <dgm:t>
        <a:bodyPr/>
        <a:lstStyle/>
        <a:p>
          <a:endParaRPr lang="en-US"/>
        </a:p>
      </dgm:t>
    </dgm:pt>
    <dgm:pt modelId="{8E744F86-0643-42CD-88AE-4A60A52E0607}">
      <dgm:prSet phldrT="[Text]" custT="1"/>
      <dgm:spPr/>
      <dgm:t>
        <a:bodyPr/>
        <a:lstStyle/>
        <a:p>
          <a:pPr>
            <a:buClrTx/>
            <a:buSzTx/>
            <a:buFontTx/>
            <a:buNone/>
          </a:pP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These are predefined exceptions raised automatically by the system when an error occurs.</a:t>
          </a:r>
          <a:endParaRPr lang="en-US" sz="1200" dirty="0"/>
        </a:p>
      </dgm:t>
    </dgm:pt>
    <dgm:pt modelId="{0BC5C9E4-970D-410F-BD93-43289DA5C44A}" type="parTrans" cxnId="{2966A5C6-A5CB-4A5F-A600-2B38793BBD1F}">
      <dgm:prSet/>
      <dgm:spPr/>
      <dgm:t>
        <a:bodyPr/>
        <a:lstStyle/>
        <a:p>
          <a:endParaRPr lang="en-US"/>
        </a:p>
      </dgm:t>
    </dgm:pt>
    <dgm:pt modelId="{CE383FEA-4159-49A4-81C8-DB650A7F8DFD}" type="sibTrans" cxnId="{2966A5C6-A5CB-4A5F-A600-2B38793BBD1F}">
      <dgm:prSet/>
      <dgm:spPr/>
      <dgm:t>
        <a:bodyPr/>
        <a:lstStyle/>
        <a:p>
          <a:endParaRPr lang="en-US"/>
        </a:p>
      </dgm:t>
    </dgm:pt>
    <dgm:pt modelId="{4027A27E-958C-4EC3-841A-D8E841E9E3E7}">
      <dgm:prSet custT="1"/>
      <dgm:spPr/>
      <dgm:t>
        <a:bodyPr/>
        <a:lstStyle/>
        <a:p>
          <a:pPr>
            <a:buNone/>
          </a:pP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These are explicitly declared and raised by the programmer using the RAISE statement.</a:t>
          </a:r>
        </a:p>
      </dgm:t>
    </dgm:pt>
    <dgm:pt modelId="{69062181-FA94-4590-B067-16B57E258BF3}" type="parTrans" cxnId="{09C86B30-7D76-4E7A-A090-0220D63C0F3F}">
      <dgm:prSet/>
      <dgm:spPr/>
      <dgm:t>
        <a:bodyPr/>
        <a:lstStyle/>
        <a:p>
          <a:endParaRPr lang="en-US"/>
        </a:p>
      </dgm:t>
    </dgm:pt>
    <dgm:pt modelId="{191D3B52-E080-4971-9AAF-CC5695F4BB17}" type="sibTrans" cxnId="{09C86B30-7D76-4E7A-A090-0220D63C0F3F}">
      <dgm:prSet/>
      <dgm:spPr/>
      <dgm:t>
        <a:bodyPr/>
        <a:lstStyle/>
        <a:p>
          <a:endParaRPr lang="en-US"/>
        </a:p>
      </dgm:t>
    </dgm:pt>
    <dgm:pt modelId="{ACE0BB7B-221F-41AC-9395-C552C7A3F99D}">
      <dgm:prSet phldrT="[Text]" custT="1"/>
      <dgm:spPr/>
      <dgm:t>
        <a:bodyPr/>
        <a:lstStyle/>
        <a:p>
          <a:pPr>
            <a:buClrTx/>
            <a:buSzTx/>
            <a:buFontTx/>
            <a:buNone/>
          </a:pPr>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Two Types of Exceptions in PL/SQL</a:t>
          </a:r>
          <a:endParaRPr lang="en-US" sz="1200" dirty="0"/>
        </a:p>
      </dgm:t>
    </dgm:pt>
    <dgm:pt modelId="{4A6A9F7D-6669-4694-8FB9-FB68D190F0A9}" type="parTrans" cxnId="{A2A76E8A-EE64-4AA5-A02E-06D2965EB3BC}">
      <dgm:prSet/>
      <dgm:spPr/>
      <dgm:t>
        <a:bodyPr/>
        <a:lstStyle/>
        <a:p>
          <a:endParaRPr lang="en-US"/>
        </a:p>
      </dgm:t>
    </dgm:pt>
    <dgm:pt modelId="{31BD5059-E955-49B2-A960-27EA5E3C1D13}" type="sibTrans" cxnId="{A2A76E8A-EE64-4AA5-A02E-06D2965EB3BC}">
      <dgm:prSet/>
      <dgm:spPr/>
      <dgm:t>
        <a:bodyPr/>
        <a:lstStyle/>
        <a:p>
          <a:endParaRPr lang="en-US"/>
        </a:p>
      </dgm:t>
    </dgm:pt>
    <dgm:pt modelId="{989C2922-1CF3-49AC-A8DC-FF9C5321B065}" type="pres">
      <dgm:prSet presAssocID="{FF9B0DCC-FB35-4F32-983D-9809AACCE561}" presName="linear" presStyleCnt="0">
        <dgm:presLayoutVars>
          <dgm:dir/>
          <dgm:animLvl val="lvl"/>
          <dgm:resizeHandles val="exact"/>
        </dgm:presLayoutVars>
      </dgm:prSet>
      <dgm:spPr/>
    </dgm:pt>
    <dgm:pt modelId="{4792C556-F8D9-47FA-99E6-F912FD27AF5E}" type="pres">
      <dgm:prSet presAssocID="{ACE0BB7B-221F-41AC-9395-C552C7A3F99D}" presName="parentLin" presStyleCnt="0"/>
      <dgm:spPr/>
    </dgm:pt>
    <dgm:pt modelId="{07664254-60C6-4781-A065-2DCEC5240B62}" type="pres">
      <dgm:prSet presAssocID="{ACE0BB7B-221F-41AC-9395-C552C7A3F99D}" presName="parentLeftMargin" presStyleLbl="node1" presStyleIdx="0" presStyleCnt="3"/>
      <dgm:spPr/>
    </dgm:pt>
    <dgm:pt modelId="{2ECCF852-34C6-4A8F-A228-46F7092C6F1F}" type="pres">
      <dgm:prSet presAssocID="{ACE0BB7B-221F-41AC-9395-C552C7A3F99D}" presName="parentText" presStyleLbl="node1" presStyleIdx="0" presStyleCnt="3">
        <dgm:presLayoutVars>
          <dgm:chMax val="0"/>
          <dgm:bulletEnabled val="1"/>
        </dgm:presLayoutVars>
      </dgm:prSet>
      <dgm:spPr/>
    </dgm:pt>
    <dgm:pt modelId="{1F485C08-82B4-41EE-B267-E99CCF94DA69}" type="pres">
      <dgm:prSet presAssocID="{ACE0BB7B-221F-41AC-9395-C552C7A3F99D}" presName="negativeSpace" presStyleCnt="0"/>
      <dgm:spPr/>
    </dgm:pt>
    <dgm:pt modelId="{66B72BB9-913B-424C-82E6-DCE9DBC84DC1}" type="pres">
      <dgm:prSet presAssocID="{ACE0BB7B-221F-41AC-9395-C552C7A3F99D}" presName="childText" presStyleLbl="conFgAcc1" presStyleIdx="0" presStyleCnt="3">
        <dgm:presLayoutVars>
          <dgm:bulletEnabled val="1"/>
        </dgm:presLayoutVars>
      </dgm:prSet>
      <dgm:spPr/>
    </dgm:pt>
    <dgm:pt modelId="{F2A6C65F-C822-42F7-ABEE-F168647FEE9B}" type="pres">
      <dgm:prSet presAssocID="{31BD5059-E955-49B2-A960-27EA5E3C1D13}" presName="spaceBetweenRectangles" presStyleCnt="0"/>
      <dgm:spPr/>
    </dgm:pt>
    <dgm:pt modelId="{D25EE200-44C6-4EAE-98DE-36A6727EBFD3}" type="pres">
      <dgm:prSet presAssocID="{655FE75E-3CDB-49C6-A02A-88A5FF1C808E}" presName="parentLin" presStyleCnt="0"/>
      <dgm:spPr/>
    </dgm:pt>
    <dgm:pt modelId="{5F92807B-F9DF-4DC6-AD6F-75D10B75C605}" type="pres">
      <dgm:prSet presAssocID="{655FE75E-3CDB-49C6-A02A-88A5FF1C808E}" presName="parentLeftMargin" presStyleLbl="node1" presStyleIdx="0" presStyleCnt="3"/>
      <dgm:spPr/>
    </dgm:pt>
    <dgm:pt modelId="{E32149BA-8F7E-4BB7-B76D-0A1F82615955}" type="pres">
      <dgm:prSet presAssocID="{655FE75E-3CDB-49C6-A02A-88A5FF1C808E}" presName="parentText" presStyleLbl="node1" presStyleIdx="1" presStyleCnt="3">
        <dgm:presLayoutVars>
          <dgm:chMax val="0"/>
          <dgm:bulletEnabled val="1"/>
        </dgm:presLayoutVars>
      </dgm:prSet>
      <dgm:spPr/>
    </dgm:pt>
    <dgm:pt modelId="{AF0A75A9-4AC2-4307-96E9-23DED069A715}" type="pres">
      <dgm:prSet presAssocID="{655FE75E-3CDB-49C6-A02A-88A5FF1C808E}" presName="negativeSpace" presStyleCnt="0"/>
      <dgm:spPr/>
    </dgm:pt>
    <dgm:pt modelId="{C6726D86-6EFB-41A7-A2D7-F4FD8F32E743}" type="pres">
      <dgm:prSet presAssocID="{655FE75E-3CDB-49C6-A02A-88A5FF1C808E}" presName="childText" presStyleLbl="conFgAcc1" presStyleIdx="1" presStyleCnt="3">
        <dgm:presLayoutVars>
          <dgm:bulletEnabled val="1"/>
        </dgm:presLayoutVars>
      </dgm:prSet>
      <dgm:spPr/>
    </dgm:pt>
    <dgm:pt modelId="{4D11C705-2D28-4320-8EBD-5710A876EBA3}" type="pres">
      <dgm:prSet presAssocID="{8C4AB80D-27E4-43AB-AB4B-5840DD9B9F53}" presName="spaceBetweenRectangles" presStyleCnt="0"/>
      <dgm:spPr/>
    </dgm:pt>
    <dgm:pt modelId="{F6862BA7-D314-4205-8E29-07D49C00F6E4}" type="pres">
      <dgm:prSet presAssocID="{393149F8-BF0B-455C-AFEE-794F9EE26948}" presName="parentLin" presStyleCnt="0"/>
      <dgm:spPr/>
    </dgm:pt>
    <dgm:pt modelId="{34D1C150-690C-4152-8A56-945142770153}" type="pres">
      <dgm:prSet presAssocID="{393149F8-BF0B-455C-AFEE-794F9EE26948}" presName="parentLeftMargin" presStyleLbl="node1" presStyleIdx="1" presStyleCnt="3"/>
      <dgm:spPr/>
    </dgm:pt>
    <dgm:pt modelId="{AC5AD4E8-C7BE-49A2-906C-8266C3EB44CB}" type="pres">
      <dgm:prSet presAssocID="{393149F8-BF0B-455C-AFEE-794F9EE26948}" presName="parentText" presStyleLbl="node1" presStyleIdx="2" presStyleCnt="3">
        <dgm:presLayoutVars>
          <dgm:chMax val="0"/>
          <dgm:bulletEnabled val="1"/>
        </dgm:presLayoutVars>
      </dgm:prSet>
      <dgm:spPr/>
    </dgm:pt>
    <dgm:pt modelId="{DDCF544E-1F78-4D9A-A49B-50A78361DF80}" type="pres">
      <dgm:prSet presAssocID="{393149F8-BF0B-455C-AFEE-794F9EE26948}" presName="negativeSpace" presStyleCnt="0"/>
      <dgm:spPr/>
    </dgm:pt>
    <dgm:pt modelId="{82D54039-85EC-42DE-8EB2-F673F59674DB}" type="pres">
      <dgm:prSet presAssocID="{393149F8-BF0B-455C-AFEE-794F9EE26948}" presName="childText" presStyleLbl="conFgAcc1" presStyleIdx="2" presStyleCnt="3">
        <dgm:presLayoutVars>
          <dgm:bulletEnabled val="1"/>
        </dgm:presLayoutVars>
      </dgm:prSet>
      <dgm:spPr/>
    </dgm:pt>
  </dgm:ptLst>
  <dgm:cxnLst>
    <dgm:cxn modelId="{EF2A4B1E-3B40-4F60-A443-806823855425}" srcId="{FF9B0DCC-FB35-4F32-983D-9809AACCE561}" destId="{393149F8-BF0B-455C-AFEE-794F9EE26948}" srcOrd="2" destOrd="0" parTransId="{34421ABC-0332-4CBA-ABAE-30BC7518D091}" sibTransId="{944EF065-2B8B-477C-B3C4-94ED001E96D2}"/>
    <dgm:cxn modelId="{1EC4FC2D-4358-4C10-ADCB-2C4B973FEC22}" type="presOf" srcId="{FF9B0DCC-FB35-4F32-983D-9809AACCE561}" destId="{989C2922-1CF3-49AC-A8DC-FF9C5321B065}" srcOrd="0" destOrd="0" presId="urn:microsoft.com/office/officeart/2005/8/layout/list1"/>
    <dgm:cxn modelId="{09C86B30-7D76-4E7A-A090-0220D63C0F3F}" srcId="{393149F8-BF0B-455C-AFEE-794F9EE26948}" destId="{4027A27E-958C-4EC3-841A-D8E841E9E3E7}" srcOrd="0" destOrd="0" parTransId="{69062181-FA94-4590-B067-16B57E258BF3}" sibTransId="{191D3B52-E080-4971-9AAF-CC5695F4BB17}"/>
    <dgm:cxn modelId="{14DF6C30-208A-4415-9F52-3104504BF2F1}" type="presOf" srcId="{393149F8-BF0B-455C-AFEE-794F9EE26948}" destId="{34D1C150-690C-4152-8A56-945142770153}" srcOrd="0" destOrd="0" presId="urn:microsoft.com/office/officeart/2005/8/layout/list1"/>
    <dgm:cxn modelId="{A2A76E8A-EE64-4AA5-A02E-06D2965EB3BC}" srcId="{FF9B0DCC-FB35-4F32-983D-9809AACCE561}" destId="{ACE0BB7B-221F-41AC-9395-C552C7A3F99D}" srcOrd="0" destOrd="0" parTransId="{4A6A9F7D-6669-4694-8FB9-FB68D190F0A9}" sibTransId="{31BD5059-E955-49B2-A960-27EA5E3C1D13}"/>
    <dgm:cxn modelId="{51B09D99-84CF-4C0E-AB01-3E3829855673}" type="presOf" srcId="{ACE0BB7B-221F-41AC-9395-C552C7A3F99D}" destId="{2ECCF852-34C6-4A8F-A228-46F7092C6F1F}" srcOrd="1" destOrd="0" presId="urn:microsoft.com/office/officeart/2005/8/layout/list1"/>
    <dgm:cxn modelId="{7D2666AD-AC9C-4982-AB4C-12168458BC80}" type="presOf" srcId="{8E744F86-0643-42CD-88AE-4A60A52E0607}" destId="{C6726D86-6EFB-41A7-A2D7-F4FD8F32E743}" srcOrd="0" destOrd="0" presId="urn:microsoft.com/office/officeart/2005/8/layout/list1"/>
    <dgm:cxn modelId="{2966A5C6-A5CB-4A5F-A600-2B38793BBD1F}" srcId="{655FE75E-3CDB-49C6-A02A-88A5FF1C808E}" destId="{8E744F86-0643-42CD-88AE-4A60A52E0607}" srcOrd="0" destOrd="0" parTransId="{0BC5C9E4-970D-410F-BD93-43289DA5C44A}" sibTransId="{CE383FEA-4159-49A4-81C8-DB650A7F8DFD}"/>
    <dgm:cxn modelId="{3FF692CE-ADBF-42DE-B8A7-5F77F9E367D5}" type="presOf" srcId="{655FE75E-3CDB-49C6-A02A-88A5FF1C808E}" destId="{E32149BA-8F7E-4BB7-B76D-0A1F82615955}" srcOrd="1" destOrd="0" presId="urn:microsoft.com/office/officeart/2005/8/layout/list1"/>
    <dgm:cxn modelId="{C4FC5ADD-A3E1-47A2-A496-6C7A6E61E22B}" type="presOf" srcId="{4027A27E-958C-4EC3-841A-D8E841E9E3E7}" destId="{82D54039-85EC-42DE-8EB2-F673F59674DB}" srcOrd="0" destOrd="0" presId="urn:microsoft.com/office/officeart/2005/8/layout/list1"/>
    <dgm:cxn modelId="{3DA604E2-F511-43B8-8C0E-692BD5A6EE36}" type="presOf" srcId="{ACE0BB7B-221F-41AC-9395-C552C7A3F99D}" destId="{07664254-60C6-4781-A065-2DCEC5240B62}" srcOrd="0" destOrd="0" presId="urn:microsoft.com/office/officeart/2005/8/layout/list1"/>
    <dgm:cxn modelId="{F02FD2E4-3C06-4746-B121-D38B43AAC35B}" srcId="{FF9B0DCC-FB35-4F32-983D-9809AACCE561}" destId="{655FE75E-3CDB-49C6-A02A-88A5FF1C808E}" srcOrd="1" destOrd="0" parTransId="{6824586A-DB5D-4255-B4E1-FC294449D0D2}" sibTransId="{8C4AB80D-27E4-43AB-AB4B-5840DD9B9F53}"/>
    <dgm:cxn modelId="{3290A7EA-40A5-4DCE-9846-4177635E66BE}" type="presOf" srcId="{655FE75E-3CDB-49C6-A02A-88A5FF1C808E}" destId="{5F92807B-F9DF-4DC6-AD6F-75D10B75C605}" srcOrd="0" destOrd="0" presId="urn:microsoft.com/office/officeart/2005/8/layout/list1"/>
    <dgm:cxn modelId="{25C204F0-1ED5-4742-A448-F7B1BB510A0D}" type="presOf" srcId="{393149F8-BF0B-455C-AFEE-794F9EE26948}" destId="{AC5AD4E8-C7BE-49A2-906C-8266C3EB44CB}" srcOrd="1" destOrd="0" presId="urn:microsoft.com/office/officeart/2005/8/layout/list1"/>
    <dgm:cxn modelId="{C05863E7-3A1A-4F15-B702-2EE72EFA2F58}" type="presParOf" srcId="{989C2922-1CF3-49AC-A8DC-FF9C5321B065}" destId="{4792C556-F8D9-47FA-99E6-F912FD27AF5E}" srcOrd="0" destOrd="0" presId="urn:microsoft.com/office/officeart/2005/8/layout/list1"/>
    <dgm:cxn modelId="{66FDA5FE-B3BF-464E-81BF-F5A122D89925}" type="presParOf" srcId="{4792C556-F8D9-47FA-99E6-F912FD27AF5E}" destId="{07664254-60C6-4781-A065-2DCEC5240B62}" srcOrd="0" destOrd="0" presId="urn:microsoft.com/office/officeart/2005/8/layout/list1"/>
    <dgm:cxn modelId="{FB07063B-E8E6-4B59-BA10-275C11D01E55}" type="presParOf" srcId="{4792C556-F8D9-47FA-99E6-F912FD27AF5E}" destId="{2ECCF852-34C6-4A8F-A228-46F7092C6F1F}" srcOrd="1" destOrd="0" presId="urn:microsoft.com/office/officeart/2005/8/layout/list1"/>
    <dgm:cxn modelId="{39588DFA-8F7C-4701-9F2A-CA16941B1502}" type="presParOf" srcId="{989C2922-1CF3-49AC-A8DC-FF9C5321B065}" destId="{1F485C08-82B4-41EE-B267-E99CCF94DA69}" srcOrd="1" destOrd="0" presId="urn:microsoft.com/office/officeart/2005/8/layout/list1"/>
    <dgm:cxn modelId="{BB6F875A-4A28-4C21-B80A-16115D71235B}" type="presParOf" srcId="{989C2922-1CF3-49AC-A8DC-FF9C5321B065}" destId="{66B72BB9-913B-424C-82E6-DCE9DBC84DC1}" srcOrd="2" destOrd="0" presId="urn:microsoft.com/office/officeart/2005/8/layout/list1"/>
    <dgm:cxn modelId="{CDF95CBD-2FC7-40E4-8E90-A1FAD4BB067E}" type="presParOf" srcId="{989C2922-1CF3-49AC-A8DC-FF9C5321B065}" destId="{F2A6C65F-C822-42F7-ABEE-F168647FEE9B}" srcOrd="3" destOrd="0" presId="urn:microsoft.com/office/officeart/2005/8/layout/list1"/>
    <dgm:cxn modelId="{DB5C07CD-57FA-4DA0-9084-13D08D5E6C69}" type="presParOf" srcId="{989C2922-1CF3-49AC-A8DC-FF9C5321B065}" destId="{D25EE200-44C6-4EAE-98DE-36A6727EBFD3}" srcOrd="4" destOrd="0" presId="urn:microsoft.com/office/officeart/2005/8/layout/list1"/>
    <dgm:cxn modelId="{D69C0B9E-50E4-4699-B1A7-85C45846FC49}" type="presParOf" srcId="{D25EE200-44C6-4EAE-98DE-36A6727EBFD3}" destId="{5F92807B-F9DF-4DC6-AD6F-75D10B75C605}" srcOrd="0" destOrd="0" presId="urn:microsoft.com/office/officeart/2005/8/layout/list1"/>
    <dgm:cxn modelId="{15C0E15A-1D13-4BB9-BBD2-B020430F7A48}" type="presParOf" srcId="{D25EE200-44C6-4EAE-98DE-36A6727EBFD3}" destId="{E32149BA-8F7E-4BB7-B76D-0A1F82615955}" srcOrd="1" destOrd="0" presId="urn:microsoft.com/office/officeart/2005/8/layout/list1"/>
    <dgm:cxn modelId="{055DDF04-C726-4C5E-9B93-59FAB631D6A3}" type="presParOf" srcId="{989C2922-1CF3-49AC-A8DC-FF9C5321B065}" destId="{AF0A75A9-4AC2-4307-96E9-23DED069A715}" srcOrd="5" destOrd="0" presId="urn:microsoft.com/office/officeart/2005/8/layout/list1"/>
    <dgm:cxn modelId="{D330EA92-AF8D-417A-907A-BD73FE57E859}" type="presParOf" srcId="{989C2922-1CF3-49AC-A8DC-FF9C5321B065}" destId="{C6726D86-6EFB-41A7-A2D7-F4FD8F32E743}" srcOrd="6" destOrd="0" presId="urn:microsoft.com/office/officeart/2005/8/layout/list1"/>
    <dgm:cxn modelId="{00AF77E2-11BD-475C-8FF9-B044ABD64788}" type="presParOf" srcId="{989C2922-1CF3-49AC-A8DC-FF9C5321B065}" destId="{4D11C705-2D28-4320-8EBD-5710A876EBA3}" srcOrd="7" destOrd="0" presId="urn:microsoft.com/office/officeart/2005/8/layout/list1"/>
    <dgm:cxn modelId="{B6E31605-1363-44A5-9E80-B267E10C182D}" type="presParOf" srcId="{989C2922-1CF3-49AC-A8DC-FF9C5321B065}" destId="{F6862BA7-D314-4205-8E29-07D49C00F6E4}" srcOrd="8" destOrd="0" presId="urn:microsoft.com/office/officeart/2005/8/layout/list1"/>
    <dgm:cxn modelId="{45717330-A767-4AD1-AA62-563AB470538A}" type="presParOf" srcId="{F6862BA7-D314-4205-8E29-07D49C00F6E4}" destId="{34D1C150-690C-4152-8A56-945142770153}" srcOrd="0" destOrd="0" presId="urn:microsoft.com/office/officeart/2005/8/layout/list1"/>
    <dgm:cxn modelId="{C643D8EA-3B4F-4934-BF82-77188255CE86}" type="presParOf" srcId="{F6862BA7-D314-4205-8E29-07D49C00F6E4}" destId="{AC5AD4E8-C7BE-49A2-906C-8266C3EB44CB}" srcOrd="1" destOrd="0" presId="urn:microsoft.com/office/officeart/2005/8/layout/list1"/>
    <dgm:cxn modelId="{6FDA05F9-2560-4951-AD60-B20644AF2DFF}" type="presParOf" srcId="{989C2922-1CF3-49AC-A8DC-FF9C5321B065}" destId="{DDCF544E-1F78-4D9A-A49B-50A78361DF80}" srcOrd="9" destOrd="0" presId="urn:microsoft.com/office/officeart/2005/8/layout/list1"/>
    <dgm:cxn modelId="{AA3D59DB-523C-43CE-BA66-38C8D9F6552E}" type="presParOf" srcId="{989C2922-1CF3-49AC-A8DC-FF9C5321B065}" destId="{82D54039-85EC-42DE-8EB2-F673F59674DB}"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9B0DCC-FB35-4F32-983D-9809AACCE561}"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ACE0BB7B-221F-41AC-9395-C552C7A3F99D}">
      <dgm:prSet phldrT="[Text]" custT="1"/>
      <dgm:spPr/>
      <dgm:t>
        <a:bodyPr/>
        <a:lstStyle/>
        <a:p>
          <a:pPr>
            <a:buClrTx/>
            <a:buSzTx/>
            <a:buFontTx/>
            <a:buNone/>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Steps to Handle User-Defined Exceptions</a:t>
          </a:r>
          <a:endParaRPr lang="en-US" sz="1200" dirty="0"/>
        </a:p>
      </dgm:t>
    </dgm:pt>
    <dgm:pt modelId="{4A6A9F7D-6669-4694-8FB9-FB68D190F0A9}" type="parTrans" cxnId="{A2A76E8A-EE64-4AA5-A02E-06D2965EB3BC}">
      <dgm:prSet/>
      <dgm:spPr/>
      <dgm:t>
        <a:bodyPr/>
        <a:lstStyle/>
        <a:p>
          <a:endParaRPr lang="en-US"/>
        </a:p>
      </dgm:t>
    </dgm:pt>
    <dgm:pt modelId="{31BD5059-E955-49B2-A960-27EA5E3C1D13}" type="sibTrans" cxnId="{A2A76E8A-EE64-4AA5-A02E-06D2965EB3BC}">
      <dgm:prSet/>
      <dgm:spPr/>
      <dgm:t>
        <a:bodyPr/>
        <a:lstStyle/>
        <a:p>
          <a:endParaRPr lang="en-US"/>
        </a:p>
      </dgm:t>
    </dgm:pt>
    <dgm:pt modelId="{021EE9F7-CC42-4C47-AFE3-AC50B911FA50}">
      <dgm:prSet custT="1"/>
      <dgm:spPr/>
      <dgm:t>
        <a:bodyPr/>
        <a:lstStyle/>
        <a:p>
          <a:pPr>
            <a:buClrTx/>
            <a:buSzTx/>
            <a:buFontTx/>
            <a:buNone/>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 Declare the exception.</a:t>
          </a:r>
        </a:p>
      </dgm:t>
    </dgm:pt>
    <dgm:pt modelId="{C0801551-F405-4A8A-9686-93E56B497272}" type="parTrans" cxnId="{9B53640F-5AF2-41FD-9219-6555D7C118BF}">
      <dgm:prSet/>
      <dgm:spPr/>
      <dgm:t>
        <a:bodyPr/>
        <a:lstStyle/>
        <a:p>
          <a:endParaRPr lang="en-US"/>
        </a:p>
      </dgm:t>
    </dgm:pt>
    <dgm:pt modelId="{A5DDA634-269A-4873-A41C-10B0B48450D1}" type="sibTrans" cxnId="{9B53640F-5AF2-41FD-9219-6555D7C118BF}">
      <dgm:prSet/>
      <dgm:spPr/>
      <dgm:t>
        <a:bodyPr/>
        <a:lstStyle/>
        <a:p>
          <a:endParaRPr lang="en-US"/>
        </a:p>
      </dgm:t>
    </dgm:pt>
    <dgm:pt modelId="{E4097E7A-0947-4EBD-A671-CCE029AA8DB0}">
      <dgm:prSet custT="1"/>
      <dgm:spPr/>
      <dgm:t>
        <a:bodyPr/>
        <a:lstStyle/>
        <a:p>
          <a:pPr>
            <a:buClrTx/>
            <a:buSzTx/>
            <a:buFontTx/>
            <a:buNone/>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 Raise the exception using the RAISE statement.</a:t>
          </a:r>
        </a:p>
      </dgm:t>
    </dgm:pt>
    <dgm:pt modelId="{22DB0781-DEF6-41A5-9D3C-959D0B20A434}" type="parTrans" cxnId="{92A1E4B4-EA4A-407F-9606-4A23A0E48C6D}">
      <dgm:prSet/>
      <dgm:spPr/>
      <dgm:t>
        <a:bodyPr/>
        <a:lstStyle/>
        <a:p>
          <a:endParaRPr lang="en-US"/>
        </a:p>
      </dgm:t>
    </dgm:pt>
    <dgm:pt modelId="{CEA2BF2D-BA62-4528-A2CE-C49FD7172525}" type="sibTrans" cxnId="{92A1E4B4-EA4A-407F-9606-4A23A0E48C6D}">
      <dgm:prSet/>
      <dgm:spPr/>
      <dgm:t>
        <a:bodyPr/>
        <a:lstStyle/>
        <a:p>
          <a:endParaRPr lang="en-US"/>
        </a:p>
      </dgm:t>
    </dgm:pt>
    <dgm:pt modelId="{34B56340-DE85-4BC5-A303-A4CF27E13359}">
      <dgm:prSet custT="1"/>
      <dgm:spPr/>
      <dgm:t>
        <a:bodyPr/>
        <a:lstStyle/>
        <a:p>
          <a:pPr>
            <a:buClrTx/>
            <a:buSzTx/>
            <a:buFontTx/>
            <a:buNone/>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 Handle the exception in the EXCEPTION block.</a:t>
          </a:r>
        </a:p>
      </dgm:t>
    </dgm:pt>
    <dgm:pt modelId="{E4F0EE0D-931D-4957-8F70-1B59F9C7DD9D}" type="parTrans" cxnId="{97E177C4-C455-479A-B134-914BC21DB833}">
      <dgm:prSet/>
      <dgm:spPr/>
      <dgm:t>
        <a:bodyPr/>
        <a:lstStyle/>
        <a:p>
          <a:endParaRPr lang="en-US"/>
        </a:p>
      </dgm:t>
    </dgm:pt>
    <dgm:pt modelId="{48790527-1B5D-4D67-A204-C5C5EE87917E}" type="sibTrans" cxnId="{97E177C4-C455-479A-B134-914BC21DB833}">
      <dgm:prSet/>
      <dgm:spPr/>
      <dgm:t>
        <a:bodyPr/>
        <a:lstStyle/>
        <a:p>
          <a:endParaRPr lang="en-US"/>
        </a:p>
      </dgm:t>
    </dgm:pt>
    <dgm:pt modelId="{989C2922-1CF3-49AC-A8DC-FF9C5321B065}" type="pres">
      <dgm:prSet presAssocID="{FF9B0DCC-FB35-4F32-983D-9809AACCE561}" presName="linear" presStyleCnt="0">
        <dgm:presLayoutVars>
          <dgm:dir/>
          <dgm:animLvl val="lvl"/>
          <dgm:resizeHandles val="exact"/>
        </dgm:presLayoutVars>
      </dgm:prSet>
      <dgm:spPr/>
    </dgm:pt>
    <dgm:pt modelId="{4792C556-F8D9-47FA-99E6-F912FD27AF5E}" type="pres">
      <dgm:prSet presAssocID="{ACE0BB7B-221F-41AC-9395-C552C7A3F99D}" presName="parentLin" presStyleCnt="0"/>
      <dgm:spPr/>
    </dgm:pt>
    <dgm:pt modelId="{07664254-60C6-4781-A065-2DCEC5240B62}" type="pres">
      <dgm:prSet presAssocID="{ACE0BB7B-221F-41AC-9395-C552C7A3F99D}" presName="parentLeftMargin" presStyleLbl="node1" presStyleIdx="0" presStyleCnt="4"/>
      <dgm:spPr/>
    </dgm:pt>
    <dgm:pt modelId="{2ECCF852-34C6-4A8F-A228-46F7092C6F1F}" type="pres">
      <dgm:prSet presAssocID="{ACE0BB7B-221F-41AC-9395-C552C7A3F99D}" presName="parentText" presStyleLbl="node1" presStyleIdx="0" presStyleCnt="4">
        <dgm:presLayoutVars>
          <dgm:chMax val="0"/>
          <dgm:bulletEnabled val="1"/>
        </dgm:presLayoutVars>
      </dgm:prSet>
      <dgm:spPr/>
    </dgm:pt>
    <dgm:pt modelId="{1F485C08-82B4-41EE-B267-E99CCF94DA69}" type="pres">
      <dgm:prSet presAssocID="{ACE0BB7B-221F-41AC-9395-C552C7A3F99D}" presName="negativeSpace" presStyleCnt="0"/>
      <dgm:spPr/>
    </dgm:pt>
    <dgm:pt modelId="{66B72BB9-913B-424C-82E6-DCE9DBC84DC1}" type="pres">
      <dgm:prSet presAssocID="{ACE0BB7B-221F-41AC-9395-C552C7A3F99D}" presName="childText" presStyleLbl="conFgAcc1" presStyleIdx="0" presStyleCnt="4">
        <dgm:presLayoutVars>
          <dgm:bulletEnabled val="1"/>
        </dgm:presLayoutVars>
      </dgm:prSet>
      <dgm:spPr/>
    </dgm:pt>
    <dgm:pt modelId="{2AD7C386-7AC2-48A1-BE1D-A9C3D7FE1100}" type="pres">
      <dgm:prSet presAssocID="{31BD5059-E955-49B2-A960-27EA5E3C1D13}" presName="spaceBetweenRectangles" presStyleCnt="0"/>
      <dgm:spPr/>
    </dgm:pt>
    <dgm:pt modelId="{65370900-DCFC-43EE-91C0-2013D312B65B}" type="pres">
      <dgm:prSet presAssocID="{021EE9F7-CC42-4C47-AFE3-AC50B911FA50}" presName="parentLin" presStyleCnt="0"/>
      <dgm:spPr/>
    </dgm:pt>
    <dgm:pt modelId="{BD0DC21E-7E61-4AAA-B2B0-C5325D6617EB}" type="pres">
      <dgm:prSet presAssocID="{021EE9F7-CC42-4C47-AFE3-AC50B911FA50}" presName="parentLeftMargin" presStyleLbl="node1" presStyleIdx="0" presStyleCnt="4"/>
      <dgm:spPr/>
    </dgm:pt>
    <dgm:pt modelId="{C0D899BF-FAF0-4B78-A431-2CDBB595C721}" type="pres">
      <dgm:prSet presAssocID="{021EE9F7-CC42-4C47-AFE3-AC50B911FA50}" presName="parentText" presStyleLbl="node1" presStyleIdx="1" presStyleCnt="4">
        <dgm:presLayoutVars>
          <dgm:chMax val="0"/>
          <dgm:bulletEnabled val="1"/>
        </dgm:presLayoutVars>
      </dgm:prSet>
      <dgm:spPr/>
    </dgm:pt>
    <dgm:pt modelId="{FD09E11B-1D97-47C4-9F06-6BA2F4E1D3B7}" type="pres">
      <dgm:prSet presAssocID="{021EE9F7-CC42-4C47-AFE3-AC50B911FA50}" presName="negativeSpace" presStyleCnt="0"/>
      <dgm:spPr/>
    </dgm:pt>
    <dgm:pt modelId="{2D417569-5BB0-426B-B272-BAF986E4C5BD}" type="pres">
      <dgm:prSet presAssocID="{021EE9F7-CC42-4C47-AFE3-AC50B911FA50}" presName="childText" presStyleLbl="conFgAcc1" presStyleIdx="1" presStyleCnt="4">
        <dgm:presLayoutVars>
          <dgm:bulletEnabled val="1"/>
        </dgm:presLayoutVars>
      </dgm:prSet>
      <dgm:spPr/>
    </dgm:pt>
    <dgm:pt modelId="{65D5139E-AC3D-4173-BD7D-79F875A1EC3D}" type="pres">
      <dgm:prSet presAssocID="{A5DDA634-269A-4873-A41C-10B0B48450D1}" presName="spaceBetweenRectangles" presStyleCnt="0"/>
      <dgm:spPr/>
    </dgm:pt>
    <dgm:pt modelId="{5EDFB6A9-A15B-4F4E-8427-EECDE61DDBA5}" type="pres">
      <dgm:prSet presAssocID="{E4097E7A-0947-4EBD-A671-CCE029AA8DB0}" presName="parentLin" presStyleCnt="0"/>
      <dgm:spPr/>
    </dgm:pt>
    <dgm:pt modelId="{4B3BAD69-9360-45A5-BCDA-DA2DB1037EAC}" type="pres">
      <dgm:prSet presAssocID="{E4097E7A-0947-4EBD-A671-CCE029AA8DB0}" presName="parentLeftMargin" presStyleLbl="node1" presStyleIdx="1" presStyleCnt="4"/>
      <dgm:spPr/>
    </dgm:pt>
    <dgm:pt modelId="{98EA88AA-A295-4FB8-BD21-BF8A8F0D257C}" type="pres">
      <dgm:prSet presAssocID="{E4097E7A-0947-4EBD-A671-CCE029AA8DB0}" presName="parentText" presStyleLbl="node1" presStyleIdx="2" presStyleCnt="4">
        <dgm:presLayoutVars>
          <dgm:chMax val="0"/>
          <dgm:bulletEnabled val="1"/>
        </dgm:presLayoutVars>
      </dgm:prSet>
      <dgm:spPr/>
    </dgm:pt>
    <dgm:pt modelId="{49235799-4D10-477E-BC1C-D9F9DD63ED85}" type="pres">
      <dgm:prSet presAssocID="{E4097E7A-0947-4EBD-A671-CCE029AA8DB0}" presName="negativeSpace" presStyleCnt="0"/>
      <dgm:spPr/>
    </dgm:pt>
    <dgm:pt modelId="{2F9F1B33-E296-4FC5-8ED4-5DBBB653DBB1}" type="pres">
      <dgm:prSet presAssocID="{E4097E7A-0947-4EBD-A671-CCE029AA8DB0}" presName="childText" presStyleLbl="conFgAcc1" presStyleIdx="2" presStyleCnt="4">
        <dgm:presLayoutVars>
          <dgm:bulletEnabled val="1"/>
        </dgm:presLayoutVars>
      </dgm:prSet>
      <dgm:spPr/>
    </dgm:pt>
    <dgm:pt modelId="{2225718F-D74B-4B7D-825B-26913F0BF275}" type="pres">
      <dgm:prSet presAssocID="{CEA2BF2D-BA62-4528-A2CE-C49FD7172525}" presName="spaceBetweenRectangles" presStyleCnt="0"/>
      <dgm:spPr/>
    </dgm:pt>
    <dgm:pt modelId="{7853E282-3BCC-40D3-A6F7-702E39BD268A}" type="pres">
      <dgm:prSet presAssocID="{34B56340-DE85-4BC5-A303-A4CF27E13359}" presName="parentLin" presStyleCnt="0"/>
      <dgm:spPr/>
    </dgm:pt>
    <dgm:pt modelId="{10F79949-5578-41B1-9A6C-ECA0683D4459}" type="pres">
      <dgm:prSet presAssocID="{34B56340-DE85-4BC5-A303-A4CF27E13359}" presName="parentLeftMargin" presStyleLbl="node1" presStyleIdx="2" presStyleCnt="4"/>
      <dgm:spPr/>
    </dgm:pt>
    <dgm:pt modelId="{8A08B9E9-D6BB-4B8A-B650-AC2154CE5153}" type="pres">
      <dgm:prSet presAssocID="{34B56340-DE85-4BC5-A303-A4CF27E13359}" presName="parentText" presStyleLbl="node1" presStyleIdx="3" presStyleCnt="4">
        <dgm:presLayoutVars>
          <dgm:chMax val="0"/>
          <dgm:bulletEnabled val="1"/>
        </dgm:presLayoutVars>
      </dgm:prSet>
      <dgm:spPr/>
    </dgm:pt>
    <dgm:pt modelId="{E55CC0CA-4182-498E-A1DD-B0C4F660D6DE}" type="pres">
      <dgm:prSet presAssocID="{34B56340-DE85-4BC5-A303-A4CF27E13359}" presName="negativeSpace" presStyleCnt="0"/>
      <dgm:spPr/>
    </dgm:pt>
    <dgm:pt modelId="{E3FB6B0D-7EE9-4B0A-B76A-4F5E684105D1}" type="pres">
      <dgm:prSet presAssocID="{34B56340-DE85-4BC5-A303-A4CF27E13359}" presName="childText" presStyleLbl="conFgAcc1" presStyleIdx="3" presStyleCnt="4">
        <dgm:presLayoutVars>
          <dgm:bulletEnabled val="1"/>
        </dgm:presLayoutVars>
      </dgm:prSet>
      <dgm:spPr/>
    </dgm:pt>
  </dgm:ptLst>
  <dgm:cxnLst>
    <dgm:cxn modelId="{664A6708-B564-4FEF-8EE3-2ED56B6D7BDD}" type="presOf" srcId="{34B56340-DE85-4BC5-A303-A4CF27E13359}" destId="{10F79949-5578-41B1-9A6C-ECA0683D4459}" srcOrd="0" destOrd="0" presId="urn:microsoft.com/office/officeart/2005/8/layout/list1"/>
    <dgm:cxn modelId="{9B53640F-5AF2-41FD-9219-6555D7C118BF}" srcId="{FF9B0DCC-FB35-4F32-983D-9809AACCE561}" destId="{021EE9F7-CC42-4C47-AFE3-AC50B911FA50}" srcOrd="1" destOrd="0" parTransId="{C0801551-F405-4A8A-9686-93E56B497272}" sibTransId="{A5DDA634-269A-4873-A41C-10B0B48450D1}"/>
    <dgm:cxn modelId="{4C727723-41A1-411E-949E-E192FB1793A0}" type="presOf" srcId="{021EE9F7-CC42-4C47-AFE3-AC50B911FA50}" destId="{BD0DC21E-7E61-4AAA-B2B0-C5325D6617EB}" srcOrd="0" destOrd="0" presId="urn:microsoft.com/office/officeart/2005/8/layout/list1"/>
    <dgm:cxn modelId="{8ECAB726-300E-4E85-83BD-C1506A53DC8C}" type="presOf" srcId="{E4097E7A-0947-4EBD-A671-CCE029AA8DB0}" destId="{4B3BAD69-9360-45A5-BCDA-DA2DB1037EAC}" srcOrd="0" destOrd="0" presId="urn:microsoft.com/office/officeart/2005/8/layout/list1"/>
    <dgm:cxn modelId="{51BF4C2B-74FD-4048-B2B6-FECD6699F3D6}" type="presOf" srcId="{34B56340-DE85-4BC5-A303-A4CF27E13359}" destId="{8A08B9E9-D6BB-4B8A-B650-AC2154CE5153}" srcOrd="1" destOrd="0" presId="urn:microsoft.com/office/officeart/2005/8/layout/list1"/>
    <dgm:cxn modelId="{1EC4FC2D-4358-4C10-ADCB-2C4B973FEC22}" type="presOf" srcId="{FF9B0DCC-FB35-4F32-983D-9809AACCE561}" destId="{989C2922-1CF3-49AC-A8DC-FF9C5321B065}" srcOrd="0" destOrd="0" presId="urn:microsoft.com/office/officeart/2005/8/layout/list1"/>
    <dgm:cxn modelId="{2D848F69-5B32-4EF7-83DC-833F805CCC64}" type="presOf" srcId="{021EE9F7-CC42-4C47-AFE3-AC50B911FA50}" destId="{C0D899BF-FAF0-4B78-A431-2CDBB595C721}" srcOrd="1" destOrd="0" presId="urn:microsoft.com/office/officeart/2005/8/layout/list1"/>
    <dgm:cxn modelId="{A2A76E8A-EE64-4AA5-A02E-06D2965EB3BC}" srcId="{FF9B0DCC-FB35-4F32-983D-9809AACCE561}" destId="{ACE0BB7B-221F-41AC-9395-C552C7A3F99D}" srcOrd="0" destOrd="0" parTransId="{4A6A9F7D-6669-4694-8FB9-FB68D190F0A9}" sibTransId="{31BD5059-E955-49B2-A960-27EA5E3C1D13}"/>
    <dgm:cxn modelId="{51B09D99-84CF-4C0E-AB01-3E3829855673}" type="presOf" srcId="{ACE0BB7B-221F-41AC-9395-C552C7A3F99D}" destId="{2ECCF852-34C6-4A8F-A228-46F7092C6F1F}" srcOrd="1" destOrd="0" presId="urn:microsoft.com/office/officeart/2005/8/layout/list1"/>
    <dgm:cxn modelId="{92A1E4B4-EA4A-407F-9606-4A23A0E48C6D}" srcId="{FF9B0DCC-FB35-4F32-983D-9809AACCE561}" destId="{E4097E7A-0947-4EBD-A671-CCE029AA8DB0}" srcOrd="2" destOrd="0" parTransId="{22DB0781-DEF6-41A5-9D3C-959D0B20A434}" sibTransId="{CEA2BF2D-BA62-4528-A2CE-C49FD7172525}"/>
    <dgm:cxn modelId="{97E177C4-C455-479A-B134-914BC21DB833}" srcId="{FF9B0DCC-FB35-4F32-983D-9809AACCE561}" destId="{34B56340-DE85-4BC5-A303-A4CF27E13359}" srcOrd="3" destOrd="0" parTransId="{E4F0EE0D-931D-4957-8F70-1B59F9C7DD9D}" sibTransId="{48790527-1B5D-4D67-A204-C5C5EE87917E}"/>
    <dgm:cxn modelId="{169259D4-8E9F-4461-BEC0-0D52664CE3CC}" type="presOf" srcId="{E4097E7A-0947-4EBD-A671-CCE029AA8DB0}" destId="{98EA88AA-A295-4FB8-BD21-BF8A8F0D257C}" srcOrd="1" destOrd="0" presId="urn:microsoft.com/office/officeart/2005/8/layout/list1"/>
    <dgm:cxn modelId="{3DA604E2-F511-43B8-8C0E-692BD5A6EE36}" type="presOf" srcId="{ACE0BB7B-221F-41AC-9395-C552C7A3F99D}" destId="{07664254-60C6-4781-A065-2DCEC5240B62}" srcOrd="0" destOrd="0" presId="urn:microsoft.com/office/officeart/2005/8/layout/list1"/>
    <dgm:cxn modelId="{C05863E7-3A1A-4F15-B702-2EE72EFA2F58}" type="presParOf" srcId="{989C2922-1CF3-49AC-A8DC-FF9C5321B065}" destId="{4792C556-F8D9-47FA-99E6-F912FD27AF5E}" srcOrd="0" destOrd="0" presId="urn:microsoft.com/office/officeart/2005/8/layout/list1"/>
    <dgm:cxn modelId="{66FDA5FE-B3BF-464E-81BF-F5A122D89925}" type="presParOf" srcId="{4792C556-F8D9-47FA-99E6-F912FD27AF5E}" destId="{07664254-60C6-4781-A065-2DCEC5240B62}" srcOrd="0" destOrd="0" presId="urn:microsoft.com/office/officeart/2005/8/layout/list1"/>
    <dgm:cxn modelId="{FB07063B-E8E6-4B59-BA10-275C11D01E55}" type="presParOf" srcId="{4792C556-F8D9-47FA-99E6-F912FD27AF5E}" destId="{2ECCF852-34C6-4A8F-A228-46F7092C6F1F}" srcOrd="1" destOrd="0" presId="urn:microsoft.com/office/officeart/2005/8/layout/list1"/>
    <dgm:cxn modelId="{39588DFA-8F7C-4701-9F2A-CA16941B1502}" type="presParOf" srcId="{989C2922-1CF3-49AC-A8DC-FF9C5321B065}" destId="{1F485C08-82B4-41EE-B267-E99CCF94DA69}" srcOrd="1" destOrd="0" presId="urn:microsoft.com/office/officeart/2005/8/layout/list1"/>
    <dgm:cxn modelId="{BB6F875A-4A28-4C21-B80A-16115D71235B}" type="presParOf" srcId="{989C2922-1CF3-49AC-A8DC-FF9C5321B065}" destId="{66B72BB9-913B-424C-82E6-DCE9DBC84DC1}" srcOrd="2" destOrd="0" presId="urn:microsoft.com/office/officeart/2005/8/layout/list1"/>
    <dgm:cxn modelId="{951A9E9E-E2B8-45A0-8D66-8A5DC273122E}" type="presParOf" srcId="{989C2922-1CF3-49AC-A8DC-FF9C5321B065}" destId="{2AD7C386-7AC2-48A1-BE1D-A9C3D7FE1100}" srcOrd="3" destOrd="0" presId="urn:microsoft.com/office/officeart/2005/8/layout/list1"/>
    <dgm:cxn modelId="{8414BCC5-DFD8-47D5-86CB-E10881F87346}" type="presParOf" srcId="{989C2922-1CF3-49AC-A8DC-FF9C5321B065}" destId="{65370900-DCFC-43EE-91C0-2013D312B65B}" srcOrd="4" destOrd="0" presId="urn:microsoft.com/office/officeart/2005/8/layout/list1"/>
    <dgm:cxn modelId="{82C29566-DD29-41C8-8D37-956594D88008}" type="presParOf" srcId="{65370900-DCFC-43EE-91C0-2013D312B65B}" destId="{BD0DC21E-7E61-4AAA-B2B0-C5325D6617EB}" srcOrd="0" destOrd="0" presId="urn:microsoft.com/office/officeart/2005/8/layout/list1"/>
    <dgm:cxn modelId="{0FB720AE-21FC-480F-BD25-93B66AAD8F4B}" type="presParOf" srcId="{65370900-DCFC-43EE-91C0-2013D312B65B}" destId="{C0D899BF-FAF0-4B78-A431-2CDBB595C721}" srcOrd="1" destOrd="0" presId="urn:microsoft.com/office/officeart/2005/8/layout/list1"/>
    <dgm:cxn modelId="{BACB9C92-1DE5-4115-9ED2-86FCBCF8D690}" type="presParOf" srcId="{989C2922-1CF3-49AC-A8DC-FF9C5321B065}" destId="{FD09E11B-1D97-47C4-9F06-6BA2F4E1D3B7}" srcOrd="5" destOrd="0" presId="urn:microsoft.com/office/officeart/2005/8/layout/list1"/>
    <dgm:cxn modelId="{5C598206-A9D4-4F4D-8093-5C7B0C35089D}" type="presParOf" srcId="{989C2922-1CF3-49AC-A8DC-FF9C5321B065}" destId="{2D417569-5BB0-426B-B272-BAF986E4C5BD}" srcOrd="6" destOrd="0" presId="urn:microsoft.com/office/officeart/2005/8/layout/list1"/>
    <dgm:cxn modelId="{4BD00764-BEF3-4E31-9ED2-6BD7B96F5415}" type="presParOf" srcId="{989C2922-1CF3-49AC-A8DC-FF9C5321B065}" destId="{65D5139E-AC3D-4173-BD7D-79F875A1EC3D}" srcOrd="7" destOrd="0" presId="urn:microsoft.com/office/officeart/2005/8/layout/list1"/>
    <dgm:cxn modelId="{0F65CF25-7D5C-443A-B99D-2CF64622473E}" type="presParOf" srcId="{989C2922-1CF3-49AC-A8DC-FF9C5321B065}" destId="{5EDFB6A9-A15B-4F4E-8427-EECDE61DDBA5}" srcOrd="8" destOrd="0" presId="urn:microsoft.com/office/officeart/2005/8/layout/list1"/>
    <dgm:cxn modelId="{DA896A5B-BB95-4DD1-ABC8-48ECAA1897B3}" type="presParOf" srcId="{5EDFB6A9-A15B-4F4E-8427-EECDE61DDBA5}" destId="{4B3BAD69-9360-45A5-BCDA-DA2DB1037EAC}" srcOrd="0" destOrd="0" presId="urn:microsoft.com/office/officeart/2005/8/layout/list1"/>
    <dgm:cxn modelId="{04941B57-8362-4E18-B262-7F4DCBEBA3B3}" type="presParOf" srcId="{5EDFB6A9-A15B-4F4E-8427-EECDE61DDBA5}" destId="{98EA88AA-A295-4FB8-BD21-BF8A8F0D257C}" srcOrd="1" destOrd="0" presId="urn:microsoft.com/office/officeart/2005/8/layout/list1"/>
    <dgm:cxn modelId="{8C57F708-7713-4507-A199-FC95F1565653}" type="presParOf" srcId="{989C2922-1CF3-49AC-A8DC-FF9C5321B065}" destId="{49235799-4D10-477E-BC1C-D9F9DD63ED85}" srcOrd="9" destOrd="0" presId="urn:microsoft.com/office/officeart/2005/8/layout/list1"/>
    <dgm:cxn modelId="{AFE67F71-D697-4B05-A2DE-B798F1BE2B03}" type="presParOf" srcId="{989C2922-1CF3-49AC-A8DC-FF9C5321B065}" destId="{2F9F1B33-E296-4FC5-8ED4-5DBBB653DBB1}" srcOrd="10" destOrd="0" presId="urn:microsoft.com/office/officeart/2005/8/layout/list1"/>
    <dgm:cxn modelId="{6FC9D6E3-8C62-4A18-8424-353B68AAD0CB}" type="presParOf" srcId="{989C2922-1CF3-49AC-A8DC-FF9C5321B065}" destId="{2225718F-D74B-4B7D-825B-26913F0BF275}" srcOrd="11" destOrd="0" presId="urn:microsoft.com/office/officeart/2005/8/layout/list1"/>
    <dgm:cxn modelId="{BB4FBA63-7BC3-4CD4-95BE-CEC54AECDFF4}" type="presParOf" srcId="{989C2922-1CF3-49AC-A8DC-FF9C5321B065}" destId="{7853E282-3BCC-40D3-A6F7-702E39BD268A}" srcOrd="12" destOrd="0" presId="urn:microsoft.com/office/officeart/2005/8/layout/list1"/>
    <dgm:cxn modelId="{6536311F-20E2-4E84-979C-BB42F9833FF8}" type="presParOf" srcId="{7853E282-3BCC-40D3-A6F7-702E39BD268A}" destId="{10F79949-5578-41B1-9A6C-ECA0683D4459}" srcOrd="0" destOrd="0" presId="urn:microsoft.com/office/officeart/2005/8/layout/list1"/>
    <dgm:cxn modelId="{8FA78303-E596-4681-BF3A-C56F527E654A}" type="presParOf" srcId="{7853E282-3BCC-40D3-A6F7-702E39BD268A}" destId="{8A08B9E9-D6BB-4B8A-B650-AC2154CE5153}" srcOrd="1" destOrd="0" presId="urn:microsoft.com/office/officeart/2005/8/layout/list1"/>
    <dgm:cxn modelId="{674383E8-3193-47E2-ADDC-4461ADF0F45C}" type="presParOf" srcId="{989C2922-1CF3-49AC-A8DC-FF9C5321B065}" destId="{E55CC0CA-4182-498E-A1DD-B0C4F660D6DE}" srcOrd="13" destOrd="0" presId="urn:microsoft.com/office/officeart/2005/8/layout/list1"/>
    <dgm:cxn modelId="{F528477A-9CC4-43A9-80AD-4F9AEC9EC31F}" type="presParOf" srcId="{989C2922-1CF3-49AC-A8DC-FF9C5321B065}" destId="{E3FB6B0D-7EE9-4B0A-B76A-4F5E684105D1}"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ADA42FD-08CB-4EF7-8AD2-D1033C7FA83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2C3A2C7-DAA1-437B-BF8F-9038217844D6}">
      <dgm:prSet phldrT="[Text]" custT="1"/>
      <dgm:spPr/>
      <dgm:t>
        <a:bodyPr/>
        <a:lstStyle/>
        <a:p>
          <a:pPr>
            <a:buClrTx/>
            <a:buSzTx/>
            <a:buFontTx/>
            <a:buNone/>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Summary</a:t>
          </a:r>
          <a:endParaRPr lang="en-US" sz="1200" dirty="0"/>
        </a:p>
      </dgm:t>
    </dgm:pt>
    <dgm:pt modelId="{0BF48F60-086F-4F05-9A7D-A8FDCE894387}" type="parTrans" cxnId="{C1A4F561-8E0E-46D6-A075-87264745368B}">
      <dgm:prSet/>
      <dgm:spPr/>
      <dgm:t>
        <a:bodyPr/>
        <a:lstStyle/>
        <a:p>
          <a:endParaRPr lang="en-US"/>
        </a:p>
      </dgm:t>
    </dgm:pt>
    <dgm:pt modelId="{ECC98C8D-38A5-4E81-9F8A-02713BEADD6E}" type="sibTrans" cxnId="{C1A4F561-8E0E-46D6-A075-87264745368B}">
      <dgm:prSet/>
      <dgm:spPr/>
      <dgm:t>
        <a:bodyPr/>
        <a:lstStyle/>
        <a:p>
          <a:endParaRPr lang="en-US"/>
        </a:p>
      </dgm:t>
    </dgm:pt>
    <dgm:pt modelId="{8E5B35F1-A064-4EFB-9352-EA2C21309691}">
      <dgm:prSet custT="1"/>
      <dgm:spPr/>
      <dgm:t>
        <a:bodyPr/>
        <a:lstStyle/>
        <a:p>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 provides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exception handling</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deal with errors efficiently.</a:t>
          </a:r>
        </a:p>
      </dgm:t>
    </dgm:pt>
    <dgm:pt modelId="{51AE8C66-5213-452C-A72C-083E219362D7}" type="parTrans" cxnId="{96B7ED42-C7BD-4076-BD89-556BBE185A3F}">
      <dgm:prSet/>
      <dgm:spPr/>
      <dgm:t>
        <a:bodyPr/>
        <a:lstStyle/>
        <a:p>
          <a:endParaRPr lang="en-US"/>
        </a:p>
      </dgm:t>
    </dgm:pt>
    <dgm:pt modelId="{FF839A6E-3ABE-4687-AF70-76F5E489C381}" type="sibTrans" cxnId="{96B7ED42-C7BD-4076-BD89-556BBE185A3F}">
      <dgm:prSet/>
      <dgm:spPr/>
      <dgm:t>
        <a:bodyPr/>
        <a:lstStyle/>
        <a:p>
          <a:endParaRPr lang="en-US"/>
        </a:p>
      </dgm:t>
    </dgm:pt>
    <dgm:pt modelId="{B0126CA4-F69A-4687-AAD0-B185EC873CCB}">
      <dgm:prSet custT="1"/>
      <dgm:spPr/>
      <dgm:t>
        <a:bodyPr/>
        <a:lstStyle/>
        <a:p>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There are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system-defined exceptions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(predefined) and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user-defined exceptions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(declared by the user).</a:t>
          </a:r>
        </a:p>
      </dgm:t>
    </dgm:pt>
    <dgm:pt modelId="{074BE124-E2DE-41FA-AD2E-2531F2691E1D}" type="parTrans" cxnId="{5D997B2A-AF2C-4B85-A800-4063FC7C4181}">
      <dgm:prSet/>
      <dgm:spPr/>
      <dgm:t>
        <a:bodyPr/>
        <a:lstStyle/>
        <a:p>
          <a:endParaRPr lang="en-US"/>
        </a:p>
      </dgm:t>
    </dgm:pt>
    <dgm:pt modelId="{25B52182-60EB-4CC8-ABC3-773F2D3AB26C}" type="sibTrans" cxnId="{5D997B2A-AF2C-4B85-A800-4063FC7C4181}">
      <dgm:prSet/>
      <dgm:spPr/>
      <dgm:t>
        <a:bodyPr/>
        <a:lstStyle/>
        <a:p>
          <a:endParaRPr lang="en-US"/>
        </a:p>
      </dgm:t>
    </dgm:pt>
    <dgm:pt modelId="{BB8EE675-41F3-44CD-ADE0-AF03B58A389E}">
      <dgm:prSet custT="1"/>
      <dgm:spPr/>
      <dgm:t>
        <a:bodyPr/>
        <a:lstStyle/>
        <a:p>
          <a:r>
            <a:rPr kumimoji="0" lang="en-US" altLang="en-US" sz="1200" b="0" i="0" u="none" strike="noStrike" cap="none" normalizeH="0" baseline="0" dirty="0">
              <a:ln>
                <a:noFill/>
              </a:ln>
              <a:solidFill>
                <a:schemeClr val="tx1"/>
              </a:solidFill>
              <a:effectLst/>
              <a:highlight>
                <a:srgbClr val="C0C0C0"/>
              </a:highlight>
              <a:latin typeface="Tahoma" panose="020B0604030504040204" pitchFamily="34" charset="0"/>
              <a:ea typeface="Tahoma" panose="020B0604030504040204" pitchFamily="34" charset="0"/>
              <a:cs typeface="Tahoma" panose="020B0604030504040204" pitchFamily="34" charset="0"/>
            </a:rPr>
            <a:t>RAISE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is used to trigger user-defined exceptions.</a:t>
          </a:r>
        </a:p>
      </dgm:t>
    </dgm:pt>
    <dgm:pt modelId="{EAFB684B-A2F6-4E03-9EED-613C2801680D}" type="parTrans" cxnId="{12DE9E9A-EC41-45DF-9AB1-9718D6575E9B}">
      <dgm:prSet/>
      <dgm:spPr/>
      <dgm:t>
        <a:bodyPr/>
        <a:lstStyle/>
        <a:p>
          <a:endParaRPr lang="en-US"/>
        </a:p>
      </dgm:t>
    </dgm:pt>
    <dgm:pt modelId="{F943D0F5-8E69-4908-A118-F55572EF8DE1}" type="sibTrans" cxnId="{12DE9E9A-EC41-45DF-9AB1-9718D6575E9B}">
      <dgm:prSet/>
      <dgm:spPr/>
      <dgm:t>
        <a:bodyPr/>
        <a:lstStyle/>
        <a:p>
          <a:endParaRPr lang="en-US"/>
        </a:p>
      </dgm:t>
    </dgm:pt>
    <dgm:pt modelId="{20ED597B-41AA-4FEC-A0FA-51B962D255D9}">
      <dgm:prSet custT="1"/>
      <dgm:spPr/>
      <dgm:t>
        <a:bodyPr/>
        <a:lstStyle/>
        <a:p>
          <a:r>
            <a:rPr kumimoji="0" lang="en-US" altLang="en-US" sz="1200" b="0" i="0" u="none" strike="noStrike" cap="none" normalizeH="0" baseline="0" dirty="0">
              <a:ln>
                <a:noFill/>
              </a:ln>
              <a:solidFill>
                <a:schemeClr val="tx1"/>
              </a:solidFill>
              <a:effectLst/>
              <a:highlight>
                <a:srgbClr val="C0C0C0"/>
              </a:highlight>
              <a:latin typeface="Tahoma" panose="020B0604030504040204" pitchFamily="34" charset="0"/>
              <a:ea typeface="Tahoma" panose="020B0604030504040204" pitchFamily="34" charset="0"/>
              <a:cs typeface="Tahoma" panose="020B0604030504040204" pitchFamily="34" charset="0"/>
            </a:rPr>
            <a:t>PRAGMA EXCEPTION_INIT </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links a system error with a user-defined exception.</a:t>
          </a:r>
        </a:p>
      </dgm:t>
    </dgm:pt>
    <dgm:pt modelId="{BA404F90-806A-40AD-ABCC-FCF61E2B157A}" type="parTrans" cxnId="{A9987510-E8DA-41B4-9146-02DD165068A6}">
      <dgm:prSet/>
      <dgm:spPr/>
      <dgm:t>
        <a:bodyPr/>
        <a:lstStyle/>
        <a:p>
          <a:endParaRPr lang="en-US"/>
        </a:p>
      </dgm:t>
    </dgm:pt>
    <dgm:pt modelId="{982D624D-4E5D-456F-B47F-3A89F565AFE0}" type="sibTrans" cxnId="{A9987510-E8DA-41B4-9146-02DD165068A6}">
      <dgm:prSet/>
      <dgm:spPr/>
      <dgm:t>
        <a:bodyPr/>
        <a:lstStyle/>
        <a:p>
          <a:endParaRPr lang="en-US"/>
        </a:p>
      </dgm:t>
    </dgm:pt>
    <dgm:pt modelId="{DCF8972E-662C-4865-8C8F-BEC9F389C903}">
      <dgm:prSet custT="1"/>
      <dgm:spPr/>
      <dgm:t>
        <a:bodyPr/>
        <a:lstStyle/>
        <a:p>
          <a:r>
            <a:rPr kumimoji="0" lang="en-US" altLang="en-US" sz="1200" b="0" i="0" u="none" strike="noStrike" cap="none" normalizeH="0" baseline="0" dirty="0">
              <a:ln>
                <a:noFill/>
              </a:ln>
              <a:solidFill>
                <a:schemeClr val="tx1"/>
              </a:solidFill>
              <a:effectLst/>
              <a:highlight>
                <a:srgbClr val="C0C0C0"/>
              </a:highlight>
              <a:latin typeface="Tahoma" panose="020B0604030504040204" pitchFamily="34" charset="0"/>
              <a:ea typeface="Tahoma" panose="020B0604030504040204" pitchFamily="34" charset="0"/>
              <a:cs typeface="Tahoma" panose="020B0604030504040204" pitchFamily="34" charset="0"/>
            </a:rPr>
            <a:t>RAISE_APPLICATION_ERROR </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allows generating custom error messages.</a:t>
          </a:r>
        </a:p>
      </dgm:t>
    </dgm:pt>
    <dgm:pt modelId="{A70E3D0D-2D71-49C1-B1D9-4056E4202434}" type="parTrans" cxnId="{62CD3563-B4F2-43E3-A6DD-7DFD2D270BDE}">
      <dgm:prSet/>
      <dgm:spPr/>
      <dgm:t>
        <a:bodyPr/>
        <a:lstStyle/>
        <a:p>
          <a:endParaRPr lang="en-US"/>
        </a:p>
      </dgm:t>
    </dgm:pt>
    <dgm:pt modelId="{A87F5D21-3B20-4C0C-A7B0-87DE7F0A8A79}" type="sibTrans" cxnId="{62CD3563-B4F2-43E3-A6DD-7DFD2D270BDE}">
      <dgm:prSet/>
      <dgm:spPr/>
      <dgm:t>
        <a:bodyPr/>
        <a:lstStyle/>
        <a:p>
          <a:endParaRPr lang="en-US"/>
        </a:p>
      </dgm:t>
    </dgm:pt>
    <dgm:pt modelId="{EB595AC8-2FF4-4908-A622-4DC895E0786B}">
      <dgm:prSet custT="1"/>
      <dgm:spPr/>
      <dgm:t>
        <a:bodyPr/>
        <a:lstStyle/>
        <a:p>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With proper exception handling, PL/SQL programs become more robust and reliable.</a:t>
          </a:r>
        </a:p>
      </dgm:t>
    </dgm:pt>
    <dgm:pt modelId="{0D40F409-A9AA-43B0-8650-3BE84EDFC147}" type="parTrans" cxnId="{34A30FE4-F386-458C-9528-DA86471D7C5D}">
      <dgm:prSet/>
      <dgm:spPr/>
      <dgm:t>
        <a:bodyPr/>
        <a:lstStyle/>
        <a:p>
          <a:endParaRPr lang="en-US"/>
        </a:p>
      </dgm:t>
    </dgm:pt>
    <dgm:pt modelId="{074AC384-BB90-4426-8015-688F71B2D7B0}" type="sibTrans" cxnId="{34A30FE4-F386-458C-9528-DA86471D7C5D}">
      <dgm:prSet/>
      <dgm:spPr/>
      <dgm:t>
        <a:bodyPr/>
        <a:lstStyle/>
        <a:p>
          <a:endParaRPr lang="en-US"/>
        </a:p>
      </dgm:t>
    </dgm:pt>
    <dgm:pt modelId="{7AE08AA2-9F93-4A90-BBCC-A00161706D04}" type="pres">
      <dgm:prSet presAssocID="{CADA42FD-08CB-4EF7-8AD2-D1033C7FA836}" presName="vert0" presStyleCnt="0">
        <dgm:presLayoutVars>
          <dgm:dir/>
          <dgm:animOne val="branch"/>
          <dgm:animLvl val="lvl"/>
        </dgm:presLayoutVars>
      </dgm:prSet>
      <dgm:spPr/>
    </dgm:pt>
    <dgm:pt modelId="{B98112EE-D370-4A15-B0BB-6A88CD675CC4}" type="pres">
      <dgm:prSet presAssocID="{42C3A2C7-DAA1-437B-BF8F-9038217844D6}" presName="thickLine" presStyleLbl="alignNode1" presStyleIdx="0" presStyleCnt="1"/>
      <dgm:spPr/>
    </dgm:pt>
    <dgm:pt modelId="{FFFC85CE-772C-4D76-AD06-076910EAB068}" type="pres">
      <dgm:prSet presAssocID="{42C3A2C7-DAA1-437B-BF8F-9038217844D6}" presName="horz1" presStyleCnt="0"/>
      <dgm:spPr/>
    </dgm:pt>
    <dgm:pt modelId="{8AAAD353-F342-49C7-A9AD-7297C006BA6A}" type="pres">
      <dgm:prSet presAssocID="{42C3A2C7-DAA1-437B-BF8F-9038217844D6}" presName="tx1" presStyleLbl="revTx" presStyleIdx="0" presStyleCnt="7"/>
      <dgm:spPr/>
    </dgm:pt>
    <dgm:pt modelId="{F99B6495-7657-4A78-9414-24E65986DDDF}" type="pres">
      <dgm:prSet presAssocID="{42C3A2C7-DAA1-437B-BF8F-9038217844D6}" presName="vert1" presStyleCnt="0"/>
      <dgm:spPr/>
    </dgm:pt>
    <dgm:pt modelId="{1B3E75A5-C47D-4DEA-A623-706D9B9B41F8}" type="pres">
      <dgm:prSet presAssocID="{8E5B35F1-A064-4EFB-9352-EA2C21309691}" presName="vertSpace2a" presStyleCnt="0"/>
      <dgm:spPr/>
    </dgm:pt>
    <dgm:pt modelId="{FAAF0475-74D0-4FA6-97BD-148B92855B8C}" type="pres">
      <dgm:prSet presAssocID="{8E5B35F1-A064-4EFB-9352-EA2C21309691}" presName="horz2" presStyleCnt="0"/>
      <dgm:spPr/>
    </dgm:pt>
    <dgm:pt modelId="{A5279874-6D3A-45BA-A6D0-E8A44B1FA752}" type="pres">
      <dgm:prSet presAssocID="{8E5B35F1-A064-4EFB-9352-EA2C21309691}" presName="horzSpace2" presStyleCnt="0"/>
      <dgm:spPr/>
    </dgm:pt>
    <dgm:pt modelId="{A97DA956-2B9C-4CCF-B850-9ABED57A142F}" type="pres">
      <dgm:prSet presAssocID="{8E5B35F1-A064-4EFB-9352-EA2C21309691}" presName="tx2" presStyleLbl="revTx" presStyleIdx="1" presStyleCnt="7"/>
      <dgm:spPr/>
    </dgm:pt>
    <dgm:pt modelId="{EEB94E78-D2A9-4899-83AD-E36768630A41}" type="pres">
      <dgm:prSet presAssocID="{8E5B35F1-A064-4EFB-9352-EA2C21309691}" presName="vert2" presStyleCnt="0"/>
      <dgm:spPr/>
    </dgm:pt>
    <dgm:pt modelId="{C1B3D6A7-860F-4610-8BBB-9632E441287E}" type="pres">
      <dgm:prSet presAssocID="{8E5B35F1-A064-4EFB-9352-EA2C21309691}" presName="thinLine2b" presStyleLbl="callout" presStyleIdx="0" presStyleCnt="6"/>
      <dgm:spPr/>
    </dgm:pt>
    <dgm:pt modelId="{AE3D1BB6-BB29-40B3-8F51-77479353C94B}" type="pres">
      <dgm:prSet presAssocID="{8E5B35F1-A064-4EFB-9352-EA2C21309691}" presName="vertSpace2b" presStyleCnt="0"/>
      <dgm:spPr/>
    </dgm:pt>
    <dgm:pt modelId="{3294C6E9-44BB-498A-A411-E007D01F7668}" type="pres">
      <dgm:prSet presAssocID="{B0126CA4-F69A-4687-AAD0-B185EC873CCB}" presName="horz2" presStyleCnt="0"/>
      <dgm:spPr/>
    </dgm:pt>
    <dgm:pt modelId="{825A233A-287B-4EEF-8704-7FDF5DBC68C4}" type="pres">
      <dgm:prSet presAssocID="{B0126CA4-F69A-4687-AAD0-B185EC873CCB}" presName="horzSpace2" presStyleCnt="0"/>
      <dgm:spPr/>
    </dgm:pt>
    <dgm:pt modelId="{445FE12A-CF3C-41CF-9D99-1E760EFCBE38}" type="pres">
      <dgm:prSet presAssocID="{B0126CA4-F69A-4687-AAD0-B185EC873CCB}" presName="tx2" presStyleLbl="revTx" presStyleIdx="2" presStyleCnt="7"/>
      <dgm:spPr/>
    </dgm:pt>
    <dgm:pt modelId="{A63B9956-F0D7-44BB-A2C9-59377D6E6D21}" type="pres">
      <dgm:prSet presAssocID="{B0126CA4-F69A-4687-AAD0-B185EC873CCB}" presName="vert2" presStyleCnt="0"/>
      <dgm:spPr/>
    </dgm:pt>
    <dgm:pt modelId="{970AA877-EFC7-4DB3-A6B8-58A47636F55F}" type="pres">
      <dgm:prSet presAssocID="{B0126CA4-F69A-4687-AAD0-B185EC873CCB}" presName="thinLine2b" presStyleLbl="callout" presStyleIdx="1" presStyleCnt="6"/>
      <dgm:spPr/>
    </dgm:pt>
    <dgm:pt modelId="{9EE2257E-3994-4578-B58F-B25634EB955C}" type="pres">
      <dgm:prSet presAssocID="{B0126CA4-F69A-4687-AAD0-B185EC873CCB}" presName="vertSpace2b" presStyleCnt="0"/>
      <dgm:spPr/>
    </dgm:pt>
    <dgm:pt modelId="{C177199A-B8C4-4D21-9029-649920BF8E9D}" type="pres">
      <dgm:prSet presAssocID="{BB8EE675-41F3-44CD-ADE0-AF03B58A389E}" presName="horz2" presStyleCnt="0"/>
      <dgm:spPr/>
    </dgm:pt>
    <dgm:pt modelId="{229408A1-5991-45D5-A0AB-518A384C39EC}" type="pres">
      <dgm:prSet presAssocID="{BB8EE675-41F3-44CD-ADE0-AF03B58A389E}" presName="horzSpace2" presStyleCnt="0"/>
      <dgm:spPr/>
    </dgm:pt>
    <dgm:pt modelId="{80890B2F-CF06-4ABA-A74A-DC0BFCDC6240}" type="pres">
      <dgm:prSet presAssocID="{BB8EE675-41F3-44CD-ADE0-AF03B58A389E}" presName="tx2" presStyleLbl="revTx" presStyleIdx="3" presStyleCnt="7"/>
      <dgm:spPr/>
    </dgm:pt>
    <dgm:pt modelId="{3F748ECA-2A49-4AAA-B5E3-002558741BCB}" type="pres">
      <dgm:prSet presAssocID="{BB8EE675-41F3-44CD-ADE0-AF03B58A389E}" presName="vert2" presStyleCnt="0"/>
      <dgm:spPr/>
    </dgm:pt>
    <dgm:pt modelId="{905B09F3-14EF-4BB8-A441-62295E4E311C}" type="pres">
      <dgm:prSet presAssocID="{BB8EE675-41F3-44CD-ADE0-AF03B58A389E}" presName="thinLine2b" presStyleLbl="callout" presStyleIdx="2" presStyleCnt="6"/>
      <dgm:spPr/>
    </dgm:pt>
    <dgm:pt modelId="{153AE291-9D61-4972-90E6-078246B022CA}" type="pres">
      <dgm:prSet presAssocID="{BB8EE675-41F3-44CD-ADE0-AF03B58A389E}" presName="vertSpace2b" presStyleCnt="0"/>
      <dgm:spPr/>
    </dgm:pt>
    <dgm:pt modelId="{5E026A95-653D-4810-9420-1F0B9AE3ACFB}" type="pres">
      <dgm:prSet presAssocID="{20ED597B-41AA-4FEC-A0FA-51B962D255D9}" presName="horz2" presStyleCnt="0"/>
      <dgm:spPr/>
    </dgm:pt>
    <dgm:pt modelId="{E92241CE-F512-4999-9CB2-F846C0DDD378}" type="pres">
      <dgm:prSet presAssocID="{20ED597B-41AA-4FEC-A0FA-51B962D255D9}" presName="horzSpace2" presStyleCnt="0"/>
      <dgm:spPr/>
    </dgm:pt>
    <dgm:pt modelId="{07B622E9-A434-4B87-ACA7-CB8CFB8BF4FF}" type="pres">
      <dgm:prSet presAssocID="{20ED597B-41AA-4FEC-A0FA-51B962D255D9}" presName="tx2" presStyleLbl="revTx" presStyleIdx="4" presStyleCnt="7"/>
      <dgm:spPr/>
    </dgm:pt>
    <dgm:pt modelId="{D0DB700D-1CF6-4976-8D9F-5F725915939B}" type="pres">
      <dgm:prSet presAssocID="{20ED597B-41AA-4FEC-A0FA-51B962D255D9}" presName="vert2" presStyleCnt="0"/>
      <dgm:spPr/>
    </dgm:pt>
    <dgm:pt modelId="{3753AA17-6269-4EB2-AD71-3E3A3C8F0DAC}" type="pres">
      <dgm:prSet presAssocID="{20ED597B-41AA-4FEC-A0FA-51B962D255D9}" presName="thinLine2b" presStyleLbl="callout" presStyleIdx="3" presStyleCnt="6"/>
      <dgm:spPr/>
    </dgm:pt>
    <dgm:pt modelId="{EE5D5E60-6033-4615-AC94-F61A9533E91D}" type="pres">
      <dgm:prSet presAssocID="{20ED597B-41AA-4FEC-A0FA-51B962D255D9}" presName="vertSpace2b" presStyleCnt="0"/>
      <dgm:spPr/>
    </dgm:pt>
    <dgm:pt modelId="{F496B556-CE66-4E56-873B-67832D713889}" type="pres">
      <dgm:prSet presAssocID="{DCF8972E-662C-4865-8C8F-BEC9F389C903}" presName="horz2" presStyleCnt="0"/>
      <dgm:spPr/>
    </dgm:pt>
    <dgm:pt modelId="{1E9237B6-63E2-4DCD-96DC-111FDB77A17B}" type="pres">
      <dgm:prSet presAssocID="{DCF8972E-662C-4865-8C8F-BEC9F389C903}" presName="horzSpace2" presStyleCnt="0"/>
      <dgm:spPr/>
    </dgm:pt>
    <dgm:pt modelId="{80C69C53-BBA5-48AD-A059-92785164016A}" type="pres">
      <dgm:prSet presAssocID="{DCF8972E-662C-4865-8C8F-BEC9F389C903}" presName="tx2" presStyleLbl="revTx" presStyleIdx="5" presStyleCnt="7"/>
      <dgm:spPr/>
    </dgm:pt>
    <dgm:pt modelId="{F5BA119F-D465-47B8-AB4C-A93EEFD823DA}" type="pres">
      <dgm:prSet presAssocID="{DCF8972E-662C-4865-8C8F-BEC9F389C903}" presName="vert2" presStyleCnt="0"/>
      <dgm:spPr/>
    </dgm:pt>
    <dgm:pt modelId="{79D30574-C358-4F5F-B397-359FCED626DE}" type="pres">
      <dgm:prSet presAssocID="{DCF8972E-662C-4865-8C8F-BEC9F389C903}" presName="thinLine2b" presStyleLbl="callout" presStyleIdx="4" presStyleCnt="6"/>
      <dgm:spPr/>
    </dgm:pt>
    <dgm:pt modelId="{459DC23C-7CC6-4FA0-BA98-2AA93E0EBCD2}" type="pres">
      <dgm:prSet presAssocID="{DCF8972E-662C-4865-8C8F-BEC9F389C903}" presName="vertSpace2b" presStyleCnt="0"/>
      <dgm:spPr/>
    </dgm:pt>
    <dgm:pt modelId="{F18013FA-5205-41EF-AA9F-756A2B2BC4B1}" type="pres">
      <dgm:prSet presAssocID="{EB595AC8-2FF4-4908-A622-4DC895E0786B}" presName="horz2" presStyleCnt="0"/>
      <dgm:spPr/>
    </dgm:pt>
    <dgm:pt modelId="{353B391F-ACCB-48E3-A30F-E850C029E818}" type="pres">
      <dgm:prSet presAssocID="{EB595AC8-2FF4-4908-A622-4DC895E0786B}" presName="horzSpace2" presStyleCnt="0"/>
      <dgm:spPr/>
    </dgm:pt>
    <dgm:pt modelId="{E5A9175B-B6CA-4BE8-A840-260A781BB87E}" type="pres">
      <dgm:prSet presAssocID="{EB595AC8-2FF4-4908-A622-4DC895E0786B}" presName="tx2" presStyleLbl="revTx" presStyleIdx="6" presStyleCnt="7"/>
      <dgm:spPr/>
    </dgm:pt>
    <dgm:pt modelId="{EF36351C-19E9-425B-B39C-C04C41D02DFD}" type="pres">
      <dgm:prSet presAssocID="{EB595AC8-2FF4-4908-A622-4DC895E0786B}" presName="vert2" presStyleCnt="0"/>
      <dgm:spPr/>
    </dgm:pt>
    <dgm:pt modelId="{C722F842-4247-43E2-B131-9248F0323E1F}" type="pres">
      <dgm:prSet presAssocID="{EB595AC8-2FF4-4908-A622-4DC895E0786B}" presName="thinLine2b" presStyleLbl="callout" presStyleIdx="5" presStyleCnt="6"/>
      <dgm:spPr/>
    </dgm:pt>
    <dgm:pt modelId="{21BF7E27-C2A3-4ACE-95B7-438EB3122EAD}" type="pres">
      <dgm:prSet presAssocID="{EB595AC8-2FF4-4908-A622-4DC895E0786B}" presName="vertSpace2b" presStyleCnt="0"/>
      <dgm:spPr/>
    </dgm:pt>
  </dgm:ptLst>
  <dgm:cxnLst>
    <dgm:cxn modelId="{1594B208-4C6D-4D97-A012-2ADB34C28845}" type="presOf" srcId="{BB8EE675-41F3-44CD-ADE0-AF03B58A389E}" destId="{80890B2F-CF06-4ABA-A74A-DC0BFCDC6240}" srcOrd="0" destOrd="0" presId="urn:microsoft.com/office/officeart/2008/layout/LinedList"/>
    <dgm:cxn modelId="{7BDBF70E-5C26-433A-B476-46C9660A0409}" type="presOf" srcId="{20ED597B-41AA-4FEC-A0FA-51B962D255D9}" destId="{07B622E9-A434-4B87-ACA7-CB8CFB8BF4FF}" srcOrd="0" destOrd="0" presId="urn:microsoft.com/office/officeart/2008/layout/LinedList"/>
    <dgm:cxn modelId="{A9987510-E8DA-41B4-9146-02DD165068A6}" srcId="{42C3A2C7-DAA1-437B-BF8F-9038217844D6}" destId="{20ED597B-41AA-4FEC-A0FA-51B962D255D9}" srcOrd="3" destOrd="0" parTransId="{BA404F90-806A-40AD-ABCC-FCF61E2B157A}" sibTransId="{982D624D-4E5D-456F-B47F-3A89F565AFE0}"/>
    <dgm:cxn modelId="{25E85514-35A7-4915-876D-FBCDD49613C8}" type="presOf" srcId="{B0126CA4-F69A-4687-AAD0-B185EC873CCB}" destId="{445FE12A-CF3C-41CF-9D99-1E760EFCBE38}" srcOrd="0" destOrd="0" presId="urn:microsoft.com/office/officeart/2008/layout/LinedList"/>
    <dgm:cxn modelId="{5D997B2A-AF2C-4B85-A800-4063FC7C4181}" srcId="{42C3A2C7-DAA1-437B-BF8F-9038217844D6}" destId="{B0126CA4-F69A-4687-AAD0-B185EC873CCB}" srcOrd="1" destOrd="0" parTransId="{074BE124-E2DE-41FA-AD2E-2531F2691E1D}" sibTransId="{25B52182-60EB-4CC8-ABC3-773F2D3AB26C}"/>
    <dgm:cxn modelId="{C1A4F561-8E0E-46D6-A075-87264745368B}" srcId="{CADA42FD-08CB-4EF7-8AD2-D1033C7FA836}" destId="{42C3A2C7-DAA1-437B-BF8F-9038217844D6}" srcOrd="0" destOrd="0" parTransId="{0BF48F60-086F-4F05-9A7D-A8FDCE894387}" sibTransId="{ECC98C8D-38A5-4E81-9F8A-02713BEADD6E}"/>
    <dgm:cxn modelId="{18285D42-2E6F-415E-8A70-4AC55173B998}" type="presOf" srcId="{CADA42FD-08CB-4EF7-8AD2-D1033C7FA836}" destId="{7AE08AA2-9F93-4A90-BBCC-A00161706D04}" srcOrd="0" destOrd="0" presId="urn:microsoft.com/office/officeart/2008/layout/LinedList"/>
    <dgm:cxn modelId="{96B7ED42-C7BD-4076-BD89-556BBE185A3F}" srcId="{42C3A2C7-DAA1-437B-BF8F-9038217844D6}" destId="{8E5B35F1-A064-4EFB-9352-EA2C21309691}" srcOrd="0" destOrd="0" parTransId="{51AE8C66-5213-452C-A72C-083E219362D7}" sibTransId="{FF839A6E-3ABE-4687-AF70-76F5E489C381}"/>
    <dgm:cxn modelId="{62CD3563-B4F2-43E3-A6DD-7DFD2D270BDE}" srcId="{42C3A2C7-DAA1-437B-BF8F-9038217844D6}" destId="{DCF8972E-662C-4865-8C8F-BEC9F389C903}" srcOrd="4" destOrd="0" parTransId="{A70E3D0D-2D71-49C1-B1D9-4056E4202434}" sibTransId="{A87F5D21-3B20-4C0C-A7B0-87DE7F0A8A79}"/>
    <dgm:cxn modelId="{49F00570-E3A2-4CCC-8541-3046A06C5390}" type="presOf" srcId="{8E5B35F1-A064-4EFB-9352-EA2C21309691}" destId="{A97DA956-2B9C-4CCF-B850-9ABED57A142F}" srcOrd="0" destOrd="0" presId="urn:microsoft.com/office/officeart/2008/layout/LinedList"/>
    <dgm:cxn modelId="{4C1FC581-23BD-4569-A32A-75525FCC3844}" type="presOf" srcId="{42C3A2C7-DAA1-437B-BF8F-9038217844D6}" destId="{8AAAD353-F342-49C7-A9AD-7297C006BA6A}" srcOrd="0" destOrd="0" presId="urn:microsoft.com/office/officeart/2008/layout/LinedList"/>
    <dgm:cxn modelId="{12DE9E9A-EC41-45DF-9AB1-9718D6575E9B}" srcId="{42C3A2C7-DAA1-437B-BF8F-9038217844D6}" destId="{BB8EE675-41F3-44CD-ADE0-AF03B58A389E}" srcOrd="2" destOrd="0" parTransId="{EAFB684B-A2F6-4E03-9EED-613C2801680D}" sibTransId="{F943D0F5-8E69-4908-A118-F55572EF8DE1}"/>
    <dgm:cxn modelId="{E9CF60B0-18A2-44A4-BB25-1A782A2C5DAF}" type="presOf" srcId="{EB595AC8-2FF4-4908-A622-4DC895E0786B}" destId="{E5A9175B-B6CA-4BE8-A840-260A781BB87E}" srcOrd="0" destOrd="0" presId="urn:microsoft.com/office/officeart/2008/layout/LinedList"/>
    <dgm:cxn modelId="{34A30FE4-F386-458C-9528-DA86471D7C5D}" srcId="{42C3A2C7-DAA1-437B-BF8F-9038217844D6}" destId="{EB595AC8-2FF4-4908-A622-4DC895E0786B}" srcOrd="5" destOrd="0" parTransId="{0D40F409-A9AA-43B0-8650-3BE84EDFC147}" sibTransId="{074AC384-BB90-4426-8015-688F71B2D7B0}"/>
    <dgm:cxn modelId="{DF27E0E6-9A34-42F8-97BB-DA1811B2E005}" type="presOf" srcId="{DCF8972E-662C-4865-8C8F-BEC9F389C903}" destId="{80C69C53-BBA5-48AD-A059-92785164016A}" srcOrd="0" destOrd="0" presId="urn:microsoft.com/office/officeart/2008/layout/LinedList"/>
    <dgm:cxn modelId="{DFC37E91-9B17-4D52-A34C-863959C0214E}" type="presParOf" srcId="{7AE08AA2-9F93-4A90-BBCC-A00161706D04}" destId="{B98112EE-D370-4A15-B0BB-6A88CD675CC4}" srcOrd="0" destOrd="0" presId="urn:microsoft.com/office/officeart/2008/layout/LinedList"/>
    <dgm:cxn modelId="{E2832EDE-1C13-420A-BA93-4A23F5492622}" type="presParOf" srcId="{7AE08AA2-9F93-4A90-BBCC-A00161706D04}" destId="{FFFC85CE-772C-4D76-AD06-076910EAB068}" srcOrd="1" destOrd="0" presId="urn:microsoft.com/office/officeart/2008/layout/LinedList"/>
    <dgm:cxn modelId="{76922EC8-5AC8-4438-A22C-4135BE0C5878}" type="presParOf" srcId="{FFFC85CE-772C-4D76-AD06-076910EAB068}" destId="{8AAAD353-F342-49C7-A9AD-7297C006BA6A}" srcOrd="0" destOrd="0" presId="urn:microsoft.com/office/officeart/2008/layout/LinedList"/>
    <dgm:cxn modelId="{6B63D4A4-C605-4918-AB26-9AC89000D9E6}" type="presParOf" srcId="{FFFC85CE-772C-4D76-AD06-076910EAB068}" destId="{F99B6495-7657-4A78-9414-24E65986DDDF}" srcOrd="1" destOrd="0" presId="urn:microsoft.com/office/officeart/2008/layout/LinedList"/>
    <dgm:cxn modelId="{3AF2C3C2-BCD1-48CA-9EC4-0938265DD7F7}" type="presParOf" srcId="{F99B6495-7657-4A78-9414-24E65986DDDF}" destId="{1B3E75A5-C47D-4DEA-A623-706D9B9B41F8}" srcOrd="0" destOrd="0" presId="urn:microsoft.com/office/officeart/2008/layout/LinedList"/>
    <dgm:cxn modelId="{C51B0A61-BCFE-4A9E-92F1-CE1B53C1FECC}" type="presParOf" srcId="{F99B6495-7657-4A78-9414-24E65986DDDF}" destId="{FAAF0475-74D0-4FA6-97BD-148B92855B8C}" srcOrd="1" destOrd="0" presId="urn:microsoft.com/office/officeart/2008/layout/LinedList"/>
    <dgm:cxn modelId="{662A7E63-09CA-4F9D-866C-4A31988BEC61}" type="presParOf" srcId="{FAAF0475-74D0-4FA6-97BD-148B92855B8C}" destId="{A5279874-6D3A-45BA-A6D0-E8A44B1FA752}" srcOrd="0" destOrd="0" presId="urn:microsoft.com/office/officeart/2008/layout/LinedList"/>
    <dgm:cxn modelId="{4E3C6802-2833-4B7E-8B63-F18271CC79E4}" type="presParOf" srcId="{FAAF0475-74D0-4FA6-97BD-148B92855B8C}" destId="{A97DA956-2B9C-4CCF-B850-9ABED57A142F}" srcOrd="1" destOrd="0" presId="urn:microsoft.com/office/officeart/2008/layout/LinedList"/>
    <dgm:cxn modelId="{32D280E7-2364-4563-98A7-A7D5AFFED188}" type="presParOf" srcId="{FAAF0475-74D0-4FA6-97BD-148B92855B8C}" destId="{EEB94E78-D2A9-4899-83AD-E36768630A41}" srcOrd="2" destOrd="0" presId="urn:microsoft.com/office/officeart/2008/layout/LinedList"/>
    <dgm:cxn modelId="{E3FFF252-E641-4028-B2BF-D6DCA77A8D17}" type="presParOf" srcId="{F99B6495-7657-4A78-9414-24E65986DDDF}" destId="{C1B3D6A7-860F-4610-8BBB-9632E441287E}" srcOrd="2" destOrd="0" presId="urn:microsoft.com/office/officeart/2008/layout/LinedList"/>
    <dgm:cxn modelId="{060F5E53-5E5C-448B-A7E2-4206DF04810E}" type="presParOf" srcId="{F99B6495-7657-4A78-9414-24E65986DDDF}" destId="{AE3D1BB6-BB29-40B3-8F51-77479353C94B}" srcOrd="3" destOrd="0" presId="urn:microsoft.com/office/officeart/2008/layout/LinedList"/>
    <dgm:cxn modelId="{97ACED4A-2580-47C3-9365-D6937C47F4B7}" type="presParOf" srcId="{F99B6495-7657-4A78-9414-24E65986DDDF}" destId="{3294C6E9-44BB-498A-A411-E007D01F7668}" srcOrd="4" destOrd="0" presId="urn:microsoft.com/office/officeart/2008/layout/LinedList"/>
    <dgm:cxn modelId="{7035A24A-1CEC-4F9D-ABF4-A4C1B3214263}" type="presParOf" srcId="{3294C6E9-44BB-498A-A411-E007D01F7668}" destId="{825A233A-287B-4EEF-8704-7FDF5DBC68C4}" srcOrd="0" destOrd="0" presId="urn:microsoft.com/office/officeart/2008/layout/LinedList"/>
    <dgm:cxn modelId="{6E5F5A6D-E24E-4119-9859-44F580BB8F67}" type="presParOf" srcId="{3294C6E9-44BB-498A-A411-E007D01F7668}" destId="{445FE12A-CF3C-41CF-9D99-1E760EFCBE38}" srcOrd="1" destOrd="0" presId="urn:microsoft.com/office/officeart/2008/layout/LinedList"/>
    <dgm:cxn modelId="{692F0921-AF96-4D34-9441-45753907A02D}" type="presParOf" srcId="{3294C6E9-44BB-498A-A411-E007D01F7668}" destId="{A63B9956-F0D7-44BB-A2C9-59377D6E6D21}" srcOrd="2" destOrd="0" presId="urn:microsoft.com/office/officeart/2008/layout/LinedList"/>
    <dgm:cxn modelId="{63EB38C3-40C2-43DF-9DD0-4C8786B023EE}" type="presParOf" srcId="{F99B6495-7657-4A78-9414-24E65986DDDF}" destId="{970AA877-EFC7-4DB3-A6B8-58A47636F55F}" srcOrd="5" destOrd="0" presId="urn:microsoft.com/office/officeart/2008/layout/LinedList"/>
    <dgm:cxn modelId="{B42649C0-AFA4-43C3-A1AF-147CDA33112A}" type="presParOf" srcId="{F99B6495-7657-4A78-9414-24E65986DDDF}" destId="{9EE2257E-3994-4578-B58F-B25634EB955C}" srcOrd="6" destOrd="0" presId="urn:microsoft.com/office/officeart/2008/layout/LinedList"/>
    <dgm:cxn modelId="{4CE66D7B-1B89-4B74-B548-06759D1F3E97}" type="presParOf" srcId="{F99B6495-7657-4A78-9414-24E65986DDDF}" destId="{C177199A-B8C4-4D21-9029-649920BF8E9D}" srcOrd="7" destOrd="0" presId="urn:microsoft.com/office/officeart/2008/layout/LinedList"/>
    <dgm:cxn modelId="{508DEEAE-0ABF-48FC-B9A8-FC55E3FEF2AA}" type="presParOf" srcId="{C177199A-B8C4-4D21-9029-649920BF8E9D}" destId="{229408A1-5991-45D5-A0AB-518A384C39EC}" srcOrd="0" destOrd="0" presId="urn:microsoft.com/office/officeart/2008/layout/LinedList"/>
    <dgm:cxn modelId="{494DC258-FEE7-4B3C-A88F-5EDFAEC5C25E}" type="presParOf" srcId="{C177199A-B8C4-4D21-9029-649920BF8E9D}" destId="{80890B2F-CF06-4ABA-A74A-DC0BFCDC6240}" srcOrd="1" destOrd="0" presId="urn:microsoft.com/office/officeart/2008/layout/LinedList"/>
    <dgm:cxn modelId="{466B5C0B-18F6-41CD-9BE1-E591F345E36F}" type="presParOf" srcId="{C177199A-B8C4-4D21-9029-649920BF8E9D}" destId="{3F748ECA-2A49-4AAA-B5E3-002558741BCB}" srcOrd="2" destOrd="0" presId="urn:microsoft.com/office/officeart/2008/layout/LinedList"/>
    <dgm:cxn modelId="{1638E16A-5E39-419E-9D06-DEBC1477B6F8}" type="presParOf" srcId="{F99B6495-7657-4A78-9414-24E65986DDDF}" destId="{905B09F3-14EF-4BB8-A441-62295E4E311C}" srcOrd="8" destOrd="0" presId="urn:microsoft.com/office/officeart/2008/layout/LinedList"/>
    <dgm:cxn modelId="{68DC8E5A-37BF-45E7-904E-8CEEBF0E23B2}" type="presParOf" srcId="{F99B6495-7657-4A78-9414-24E65986DDDF}" destId="{153AE291-9D61-4972-90E6-078246B022CA}" srcOrd="9" destOrd="0" presId="urn:microsoft.com/office/officeart/2008/layout/LinedList"/>
    <dgm:cxn modelId="{64BE8B9B-57C3-48CD-96F5-3C828664EB0E}" type="presParOf" srcId="{F99B6495-7657-4A78-9414-24E65986DDDF}" destId="{5E026A95-653D-4810-9420-1F0B9AE3ACFB}" srcOrd="10" destOrd="0" presId="urn:microsoft.com/office/officeart/2008/layout/LinedList"/>
    <dgm:cxn modelId="{6F86CC99-7CEB-467D-9AFF-87E9E1D4350B}" type="presParOf" srcId="{5E026A95-653D-4810-9420-1F0B9AE3ACFB}" destId="{E92241CE-F512-4999-9CB2-F846C0DDD378}" srcOrd="0" destOrd="0" presId="urn:microsoft.com/office/officeart/2008/layout/LinedList"/>
    <dgm:cxn modelId="{6655C294-2822-479E-8F61-27CD2A4BA25F}" type="presParOf" srcId="{5E026A95-653D-4810-9420-1F0B9AE3ACFB}" destId="{07B622E9-A434-4B87-ACA7-CB8CFB8BF4FF}" srcOrd="1" destOrd="0" presId="urn:microsoft.com/office/officeart/2008/layout/LinedList"/>
    <dgm:cxn modelId="{CE3C8CB4-D310-4D85-BE55-8FCB448272A5}" type="presParOf" srcId="{5E026A95-653D-4810-9420-1F0B9AE3ACFB}" destId="{D0DB700D-1CF6-4976-8D9F-5F725915939B}" srcOrd="2" destOrd="0" presId="urn:microsoft.com/office/officeart/2008/layout/LinedList"/>
    <dgm:cxn modelId="{01F1D58B-EAC8-4BA2-A0CE-3F2A5354CD93}" type="presParOf" srcId="{F99B6495-7657-4A78-9414-24E65986DDDF}" destId="{3753AA17-6269-4EB2-AD71-3E3A3C8F0DAC}" srcOrd="11" destOrd="0" presId="urn:microsoft.com/office/officeart/2008/layout/LinedList"/>
    <dgm:cxn modelId="{9DD4AEB9-D977-4A13-A024-A861ADDCA29B}" type="presParOf" srcId="{F99B6495-7657-4A78-9414-24E65986DDDF}" destId="{EE5D5E60-6033-4615-AC94-F61A9533E91D}" srcOrd="12" destOrd="0" presId="urn:microsoft.com/office/officeart/2008/layout/LinedList"/>
    <dgm:cxn modelId="{9F81C895-5AB3-4C79-B1ED-0B90577D1087}" type="presParOf" srcId="{F99B6495-7657-4A78-9414-24E65986DDDF}" destId="{F496B556-CE66-4E56-873B-67832D713889}" srcOrd="13" destOrd="0" presId="urn:microsoft.com/office/officeart/2008/layout/LinedList"/>
    <dgm:cxn modelId="{AD405DA0-DD28-40CE-A92F-D1574D49A4E7}" type="presParOf" srcId="{F496B556-CE66-4E56-873B-67832D713889}" destId="{1E9237B6-63E2-4DCD-96DC-111FDB77A17B}" srcOrd="0" destOrd="0" presId="urn:microsoft.com/office/officeart/2008/layout/LinedList"/>
    <dgm:cxn modelId="{E8BC717A-9E2D-4B6D-BD5C-41DB58D62B93}" type="presParOf" srcId="{F496B556-CE66-4E56-873B-67832D713889}" destId="{80C69C53-BBA5-48AD-A059-92785164016A}" srcOrd="1" destOrd="0" presId="urn:microsoft.com/office/officeart/2008/layout/LinedList"/>
    <dgm:cxn modelId="{805F097B-B65C-462E-9633-010D90F3F20F}" type="presParOf" srcId="{F496B556-CE66-4E56-873B-67832D713889}" destId="{F5BA119F-D465-47B8-AB4C-A93EEFD823DA}" srcOrd="2" destOrd="0" presId="urn:microsoft.com/office/officeart/2008/layout/LinedList"/>
    <dgm:cxn modelId="{5B08AD5C-7328-4A3A-881B-AF1BCD28EF85}" type="presParOf" srcId="{F99B6495-7657-4A78-9414-24E65986DDDF}" destId="{79D30574-C358-4F5F-B397-359FCED626DE}" srcOrd="14" destOrd="0" presId="urn:microsoft.com/office/officeart/2008/layout/LinedList"/>
    <dgm:cxn modelId="{016462CB-B955-4180-B664-42D87B818132}" type="presParOf" srcId="{F99B6495-7657-4A78-9414-24E65986DDDF}" destId="{459DC23C-7CC6-4FA0-BA98-2AA93E0EBCD2}" srcOrd="15" destOrd="0" presId="urn:microsoft.com/office/officeart/2008/layout/LinedList"/>
    <dgm:cxn modelId="{1991172F-6804-4D9C-9C0A-64AB2F5AA491}" type="presParOf" srcId="{F99B6495-7657-4A78-9414-24E65986DDDF}" destId="{F18013FA-5205-41EF-AA9F-756A2B2BC4B1}" srcOrd="16" destOrd="0" presId="urn:microsoft.com/office/officeart/2008/layout/LinedList"/>
    <dgm:cxn modelId="{AA9FDB72-56F5-40DC-AA7C-1E9043492205}" type="presParOf" srcId="{F18013FA-5205-41EF-AA9F-756A2B2BC4B1}" destId="{353B391F-ACCB-48E3-A30F-E850C029E818}" srcOrd="0" destOrd="0" presId="urn:microsoft.com/office/officeart/2008/layout/LinedList"/>
    <dgm:cxn modelId="{457F3363-EA13-4FE5-89C9-C54B0F4506E4}" type="presParOf" srcId="{F18013FA-5205-41EF-AA9F-756A2B2BC4B1}" destId="{E5A9175B-B6CA-4BE8-A840-260A781BB87E}" srcOrd="1" destOrd="0" presId="urn:microsoft.com/office/officeart/2008/layout/LinedList"/>
    <dgm:cxn modelId="{469404D6-86E8-4A07-9BEF-F4D26F73BBBF}" type="presParOf" srcId="{F18013FA-5205-41EF-AA9F-756A2B2BC4B1}" destId="{EF36351C-19E9-425B-B39C-C04C41D02DFD}" srcOrd="2" destOrd="0" presId="urn:microsoft.com/office/officeart/2008/layout/LinedList"/>
    <dgm:cxn modelId="{EA87752B-6023-4974-99C7-E067CE435E1F}" type="presParOf" srcId="{F99B6495-7657-4A78-9414-24E65986DDDF}" destId="{C722F842-4247-43E2-B131-9248F0323E1F}" srcOrd="17" destOrd="0" presId="urn:microsoft.com/office/officeart/2008/layout/LinedList"/>
    <dgm:cxn modelId="{A2E7DD19-990C-45A6-8530-27631A42E877}" type="presParOf" srcId="{F99B6495-7657-4A78-9414-24E65986DDDF}" destId="{21BF7E27-C2A3-4ACE-95B7-438EB3122EAD}" srcOrd="18"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280D9F-EB73-451F-A319-B166444CAAD7}" type="doc">
      <dgm:prSet loTypeId="urn:microsoft.com/office/officeart/2011/layout/CircleProcess" loCatId="process" qsTypeId="urn:microsoft.com/office/officeart/2005/8/quickstyle/simple1" qsCatId="simple" csTypeId="urn:microsoft.com/office/officeart/2005/8/colors/colorful2" csCatId="colorful" phldr="1"/>
      <dgm:spPr/>
      <dgm:t>
        <a:bodyPr/>
        <a:lstStyle/>
        <a:p>
          <a:endParaRPr lang="en-US"/>
        </a:p>
      </dgm:t>
    </dgm:pt>
    <dgm:pt modelId="{B5E28245-4729-479E-B8C4-3FCE90368A43}">
      <dgm:prSet phldrT="[Text]" custT="1"/>
      <dgm:spPr/>
      <dgm:t>
        <a:bodyPr/>
        <a:lstStyle/>
        <a:p>
          <a:pPr algn="ctr">
            <a:buClrTx/>
            <a:buSzTx/>
            <a:buFontTx/>
            <a:buChar char="•"/>
          </a:pPr>
          <a:r>
            <a:rPr kumimoji="0" lang="en-US" altLang="en-US" sz="1200" b="0" i="0" u="none" strike="noStrike" cap="none" normalizeH="0" baseline="0">
              <a:ln/>
              <a:effectLst/>
              <a:latin typeface="Tahoma" panose="020B0604030504040204" pitchFamily="34" charset="0"/>
              <a:ea typeface="Tahoma" panose="020B0604030504040204" pitchFamily="34" charset="0"/>
              <a:cs typeface="Tahoma" panose="020B0604030504040204" pitchFamily="34" charset="0"/>
            </a:rPr>
            <a:t>It catches all exceptions that are not handled by any specific WHEN clause.</a:t>
          </a:r>
          <a:endParaRPr lang="en-US" sz="1200" dirty="0">
            <a:latin typeface="Tahoma" panose="020B0604030504040204" pitchFamily="34" charset="0"/>
            <a:ea typeface="Tahoma" panose="020B0604030504040204" pitchFamily="34" charset="0"/>
            <a:cs typeface="Tahoma" panose="020B0604030504040204" pitchFamily="34" charset="0"/>
          </a:endParaRPr>
        </a:p>
      </dgm:t>
    </dgm:pt>
    <dgm:pt modelId="{6ABAB9CC-CB40-47AB-A3B4-EA3FBC5D9B28}" type="parTrans" cxnId="{5E7DB5C1-3335-4887-BA41-1AF06C431CE7}">
      <dgm:prSet/>
      <dgm:spPr/>
      <dgm:t>
        <a:bodyPr/>
        <a:lstStyle/>
        <a:p>
          <a:endParaRPr lang="en-US"/>
        </a:p>
      </dgm:t>
    </dgm:pt>
    <dgm:pt modelId="{5176EAF9-BC86-40F9-98B0-C50C06DEB419}" type="sibTrans" cxnId="{5E7DB5C1-3335-4887-BA41-1AF06C431CE7}">
      <dgm:prSet/>
      <dgm:spPr/>
      <dgm:t>
        <a:bodyPr/>
        <a:lstStyle/>
        <a:p>
          <a:endParaRPr lang="en-US"/>
        </a:p>
      </dgm:t>
    </dgm:pt>
    <dgm:pt modelId="{21E6DF8A-CEB3-4FAC-A06A-1DB0F689A4D4}">
      <dgm:prSet custT="1"/>
      <dgm:spPr/>
      <dgm:t>
        <a:bodyPr/>
        <a:lstStyle/>
        <a:p>
          <a:pPr algn="ctr"/>
          <a:r>
            <a:rPr kumimoji="0" lang="en-US" altLang="en-US" sz="1200" b="0" i="0" u="none" strike="noStrike" cap="none" normalizeH="0" baseline="0">
              <a:ln/>
              <a:effectLst/>
              <a:latin typeface="Tahoma" panose="020B0604030504040204" pitchFamily="34" charset="0"/>
              <a:ea typeface="Tahoma" panose="020B0604030504040204" pitchFamily="34" charset="0"/>
              <a:cs typeface="Tahoma" panose="020B0604030504040204" pitchFamily="34" charset="0"/>
            </a:rPr>
            <a:t>It must be the last exception handler in the EXCEPTION block, as no further exception clauses will be evaluated once it is encountered.</a:t>
          </a:r>
          <a:endPar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endParaRPr>
        </a:p>
      </dgm:t>
    </dgm:pt>
    <dgm:pt modelId="{6D46C383-37C6-4EFF-9503-6DE30E114B85}" type="parTrans" cxnId="{ADEB77E8-25C1-47EE-A6EB-700818A4A2AD}">
      <dgm:prSet/>
      <dgm:spPr/>
      <dgm:t>
        <a:bodyPr/>
        <a:lstStyle/>
        <a:p>
          <a:endParaRPr lang="en-US"/>
        </a:p>
      </dgm:t>
    </dgm:pt>
    <dgm:pt modelId="{5FCB17C1-2D9B-4B50-B726-7500FEAA2F52}" type="sibTrans" cxnId="{ADEB77E8-25C1-47EE-A6EB-700818A4A2AD}">
      <dgm:prSet/>
      <dgm:spPr/>
      <dgm:t>
        <a:bodyPr/>
        <a:lstStyle/>
        <a:p>
          <a:endParaRPr lang="en-US"/>
        </a:p>
      </dgm:t>
    </dgm:pt>
    <dgm:pt modelId="{D85ED469-1752-448D-B97E-5904974AB373}">
      <dgm:prSet custT="1"/>
      <dgm:spPr/>
      <dgm:t>
        <a:bodyPr/>
        <a:lstStyle/>
        <a:p>
          <a:pPr algn="ctr"/>
          <a:r>
            <a:rPr kumimoji="0" lang="en-US" altLang="en-US" sz="1200" b="0" i="0" u="none" strike="noStrike" cap="none" normalizeH="0" baseline="0">
              <a:ln/>
              <a:effectLst/>
              <a:latin typeface="Tahoma" panose="020B0604030504040204" pitchFamily="34" charset="0"/>
              <a:ea typeface="Tahoma" panose="020B0604030504040204" pitchFamily="34" charset="0"/>
              <a:cs typeface="Tahoma" panose="020B0604030504040204" pitchFamily="34" charset="0"/>
            </a:rPr>
            <a:t>It is often used in conjunction with SQLCODE and SQLERRM to log or display detailed error information.</a:t>
          </a:r>
          <a:endPar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endParaRPr>
        </a:p>
      </dgm:t>
    </dgm:pt>
    <dgm:pt modelId="{22FE60A6-9412-4440-8558-91B0FCF9EF42}" type="parTrans" cxnId="{48B496D9-CA81-4F90-B6A2-A04EE81EDBBC}">
      <dgm:prSet/>
      <dgm:spPr/>
      <dgm:t>
        <a:bodyPr/>
        <a:lstStyle/>
        <a:p>
          <a:endParaRPr lang="en-US"/>
        </a:p>
      </dgm:t>
    </dgm:pt>
    <dgm:pt modelId="{B6467A64-43D9-45DF-BF04-B4D781F1B2A5}" type="sibTrans" cxnId="{48B496D9-CA81-4F90-B6A2-A04EE81EDBBC}">
      <dgm:prSet/>
      <dgm:spPr/>
      <dgm:t>
        <a:bodyPr/>
        <a:lstStyle/>
        <a:p>
          <a:endParaRPr lang="en-US"/>
        </a:p>
      </dgm:t>
    </dgm:pt>
    <dgm:pt modelId="{F318E2AF-A64D-44D9-9102-33946CD25312}">
      <dgm:prSet phldrT="[Text]" custT="1"/>
      <dgm:spPr/>
      <dgm:t>
        <a:bodyPr/>
        <a:lstStyle/>
        <a:p>
          <a:pPr algn="ctr">
            <a:buClrTx/>
            <a:buSzTx/>
            <a:buFontTx/>
            <a:buNone/>
          </a:pPr>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Key Points about WHEN OTHERS:</a:t>
          </a:r>
          <a:endParaRPr lang="en-US" sz="1200" b="1" dirty="0">
            <a:latin typeface="Tahoma" panose="020B0604030504040204" pitchFamily="34" charset="0"/>
            <a:ea typeface="Tahoma" panose="020B0604030504040204" pitchFamily="34" charset="0"/>
            <a:cs typeface="Tahoma" panose="020B0604030504040204" pitchFamily="34" charset="0"/>
          </a:endParaRPr>
        </a:p>
      </dgm:t>
    </dgm:pt>
    <dgm:pt modelId="{13197557-D38F-4EBF-841E-1C2CFA5E1C3D}" type="parTrans" cxnId="{3F9BCCBA-3897-4B81-884F-976BDF38DC2A}">
      <dgm:prSet/>
      <dgm:spPr/>
      <dgm:t>
        <a:bodyPr/>
        <a:lstStyle/>
        <a:p>
          <a:endParaRPr lang="en-US"/>
        </a:p>
      </dgm:t>
    </dgm:pt>
    <dgm:pt modelId="{6451603F-80E4-4E3E-A4CC-50840FF11E7E}" type="sibTrans" cxnId="{3F9BCCBA-3897-4B81-884F-976BDF38DC2A}">
      <dgm:prSet/>
      <dgm:spPr/>
      <dgm:t>
        <a:bodyPr/>
        <a:lstStyle/>
        <a:p>
          <a:endParaRPr lang="en-US"/>
        </a:p>
      </dgm:t>
    </dgm:pt>
    <dgm:pt modelId="{1CD60E39-63DC-4603-A0BE-6103BD1D114A}" type="pres">
      <dgm:prSet presAssocID="{3F280D9F-EB73-451F-A319-B166444CAAD7}" presName="Name0" presStyleCnt="0">
        <dgm:presLayoutVars>
          <dgm:chMax val="11"/>
          <dgm:chPref val="11"/>
          <dgm:dir/>
          <dgm:resizeHandles/>
        </dgm:presLayoutVars>
      </dgm:prSet>
      <dgm:spPr/>
    </dgm:pt>
    <dgm:pt modelId="{E2F7FC7C-78AD-4C4C-AC3F-16DD3BD64B89}" type="pres">
      <dgm:prSet presAssocID="{D85ED469-1752-448D-B97E-5904974AB373}" presName="Accent4" presStyleCnt="0"/>
      <dgm:spPr/>
    </dgm:pt>
    <dgm:pt modelId="{EE97D2CA-D3B7-4CB1-9D24-C9812B22FAA4}" type="pres">
      <dgm:prSet presAssocID="{D85ED469-1752-448D-B97E-5904974AB373}" presName="Accent" presStyleLbl="node1" presStyleIdx="0" presStyleCnt="4"/>
      <dgm:spPr/>
    </dgm:pt>
    <dgm:pt modelId="{F222BE68-DB2A-4BDE-970B-3BAEA6180D2D}" type="pres">
      <dgm:prSet presAssocID="{D85ED469-1752-448D-B97E-5904974AB373}" presName="ParentBackground4" presStyleCnt="0"/>
      <dgm:spPr/>
    </dgm:pt>
    <dgm:pt modelId="{A22154EC-23D0-446E-A9AA-BC3106AA4E99}" type="pres">
      <dgm:prSet presAssocID="{D85ED469-1752-448D-B97E-5904974AB373}" presName="ParentBackground" presStyleLbl="fgAcc1" presStyleIdx="0" presStyleCnt="4"/>
      <dgm:spPr/>
    </dgm:pt>
    <dgm:pt modelId="{C136CD98-511E-4529-93C9-94CB26BFC044}" type="pres">
      <dgm:prSet presAssocID="{D85ED469-1752-448D-B97E-5904974AB373}" presName="Parent4" presStyleLbl="revTx" presStyleIdx="0" presStyleCnt="0">
        <dgm:presLayoutVars>
          <dgm:chMax val="1"/>
          <dgm:chPref val="1"/>
          <dgm:bulletEnabled val="1"/>
        </dgm:presLayoutVars>
      </dgm:prSet>
      <dgm:spPr/>
    </dgm:pt>
    <dgm:pt modelId="{D10B7FD8-37A5-4804-B8DE-CB7872721D1A}" type="pres">
      <dgm:prSet presAssocID="{21E6DF8A-CEB3-4FAC-A06A-1DB0F689A4D4}" presName="Accent3" presStyleCnt="0"/>
      <dgm:spPr/>
    </dgm:pt>
    <dgm:pt modelId="{9B50D729-2E26-4C0F-AD2A-8898E11A97C6}" type="pres">
      <dgm:prSet presAssocID="{21E6DF8A-CEB3-4FAC-A06A-1DB0F689A4D4}" presName="Accent" presStyleLbl="node1" presStyleIdx="1" presStyleCnt="4"/>
      <dgm:spPr/>
    </dgm:pt>
    <dgm:pt modelId="{84F6F5E5-5939-4E49-A742-D45A0A0F20F9}" type="pres">
      <dgm:prSet presAssocID="{21E6DF8A-CEB3-4FAC-A06A-1DB0F689A4D4}" presName="ParentBackground3" presStyleCnt="0"/>
      <dgm:spPr/>
    </dgm:pt>
    <dgm:pt modelId="{A7751EAC-A5DC-43EB-9E11-0DEB2A59E2CD}" type="pres">
      <dgm:prSet presAssocID="{21E6DF8A-CEB3-4FAC-A06A-1DB0F689A4D4}" presName="ParentBackground" presStyleLbl="fgAcc1" presStyleIdx="1" presStyleCnt="4"/>
      <dgm:spPr/>
    </dgm:pt>
    <dgm:pt modelId="{8E0E1742-B499-4F13-9107-D25FA65C7829}" type="pres">
      <dgm:prSet presAssocID="{21E6DF8A-CEB3-4FAC-A06A-1DB0F689A4D4}" presName="Parent3" presStyleLbl="revTx" presStyleIdx="0" presStyleCnt="0">
        <dgm:presLayoutVars>
          <dgm:chMax val="1"/>
          <dgm:chPref val="1"/>
          <dgm:bulletEnabled val="1"/>
        </dgm:presLayoutVars>
      </dgm:prSet>
      <dgm:spPr/>
    </dgm:pt>
    <dgm:pt modelId="{D02C5889-F286-474A-843D-F88015D80C8B}" type="pres">
      <dgm:prSet presAssocID="{B5E28245-4729-479E-B8C4-3FCE90368A43}" presName="Accent2" presStyleCnt="0"/>
      <dgm:spPr/>
    </dgm:pt>
    <dgm:pt modelId="{378CA076-EFED-4B47-88F0-068E05A8D422}" type="pres">
      <dgm:prSet presAssocID="{B5E28245-4729-479E-B8C4-3FCE90368A43}" presName="Accent" presStyleLbl="node1" presStyleIdx="2" presStyleCnt="4"/>
      <dgm:spPr/>
    </dgm:pt>
    <dgm:pt modelId="{A1341AF1-7F3C-4F02-B59D-3FAC531A196A}" type="pres">
      <dgm:prSet presAssocID="{B5E28245-4729-479E-B8C4-3FCE90368A43}" presName="ParentBackground2" presStyleCnt="0"/>
      <dgm:spPr/>
    </dgm:pt>
    <dgm:pt modelId="{B1461C7C-77A2-41F1-A189-847BD956D11E}" type="pres">
      <dgm:prSet presAssocID="{B5E28245-4729-479E-B8C4-3FCE90368A43}" presName="ParentBackground" presStyleLbl="fgAcc1" presStyleIdx="2" presStyleCnt="4"/>
      <dgm:spPr/>
    </dgm:pt>
    <dgm:pt modelId="{436C650A-8F86-4B1E-8BAB-2096224EF0BF}" type="pres">
      <dgm:prSet presAssocID="{B5E28245-4729-479E-B8C4-3FCE90368A43}" presName="Parent2" presStyleLbl="revTx" presStyleIdx="0" presStyleCnt="0">
        <dgm:presLayoutVars>
          <dgm:chMax val="1"/>
          <dgm:chPref val="1"/>
          <dgm:bulletEnabled val="1"/>
        </dgm:presLayoutVars>
      </dgm:prSet>
      <dgm:spPr/>
    </dgm:pt>
    <dgm:pt modelId="{9D28BF6D-92B6-4164-92AF-596FE9BF100F}" type="pres">
      <dgm:prSet presAssocID="{F318E2AF-A64D-44D9-9102-33946CD25312}" presName="Accent1" presStyleCnt="0"/>
      <dgm:spPr/>
    </dgm:pt>
    <dgm:pt modelId="{07041F37-0AB3-4DDA-8A11-D6A6CD1A49F7}" type="pres">
      <dgm:prSet presAssocID="{F318E2AF-A64D-44D9-9102-33946CD25312}" presName="Accent" presStyleLbl="node1" presStyleIdx="3" presStyleCnt="4"/>
      <dgm:spPr/>
    </dgm:pt>
    <dgm:pt modelId="{286BCE57-7342-4141-A5E3-6445700DEAEE}" type="pres">
      <dgm:prSet presAssocID="{F318E2AF-A64D-44D9-9102-33946CD25312}" presName="ParentBackground1" presStyleCnt="0"/>
      <dgm:spPr/>
    </dgm:pt>
    <dgm:pt modelId="{23877250-B0E4-4373-9FB5-323494FF84AD}" type="pres">
      <dgm:prSet presAssocID="{F318E2AF-A64D-44D9-9102-33946CD25312}" presName="ParentBackground" presStyleLbl="fgAcc1" presStyleIdx="3" presStyleCnt="4"/>
      <dgm:spPr/>
    </dgm:pt>
    <dgm:pt modelId="{2A929FF1-A6FB-4EE1-BA89-B8D155BE1326}" type="pres">
      <dgm:prSet presAssocID="{F318E2AF-A64D-44D9-9102-33946CD25312}" presName="Parent1" presStyleLbl="revTx" presStyleIdx="0" presStyleCnt="0">
        <dgm:presLayoutVars>
          <dgm:chMax val="1"/>
          <dgm:chPref val="1"/>
          <dgm:bulletEnabled val="1"/>
        </dgm:presLayoutVars>
      </dgm:prSet>
      <dgm:spPr/>
    </dgm:pt>
  </dgm:ptLst>
  <dgm:cxnLst>
    <dgm:cxn modelId="{5870F51F-721B-493B-BF6D-8EA6CBE47512}" type="presOf" srcId="{D85ED469-1752-448D-B97E-5904974AB373}" destId="{A22154EC-23D0-446E-A9AA-BC3106AA4E99}" srcOrd="0" destOrd="0" presId="urn:microsoft.com/office/officeart/2011/layout/CircleProcess"/>
    <dgm:cxn modelId="{23D4762B-AE4E-4058-B17D-07E2E6AFA60C}" type="presOf" srcId="{F318E2AF-A64D-44D9-9102-33946CD25312}" destId="{23877250-B0E4-4373-9FB5-323494FF84AD}" srcOrd="0" destOrd="0" presId="urn:microsoft.com/office/officeart/2011/layout/CircleProcess"/>
    <dgm:cxn modelId="{D8F9AD2D-342C-4D9C-A863-C46A57ADBE68}" type="presOf" srcId="{F318E2AF-A64D-44D9-9102-33946CD25312}" destId="{2A929FF1-A6FB-4EE1-BA89-B8D155BE1326}" srcOrd="1" destOrd="0" presId="urn:microsoft.com/office/officeart/2011/layout/CircleProcess"/>
    <dgm:cxn modelId="{8F709D3E-377B-4204-A2EA-7CE6D4B8CC2F}" type="presOf" srcId="{3F280D9F-EB73-451F-A319-B166444CAAD7}" destId="{1CD60E39-63DC-4603-A0BE-6103BD1D114A}" srcOrd="0" destOrd="0" presId="urn:microsoft.com/office/officeart/2011/layout/CircleProcess"/>
    <dgm:cxn modelId="{1A6FE982-7C97-4768-8911-F0F989292914}" type="presOf" srcId="{B5E28245-4729-479E-B8C4-3FCE90368A43}" destId="{B1461C7C-77A2-41F1-A189-847BD956D11E}" srcOrd="0" destOrd="0" presId="urn:microsoft.com/office/officeart/2011/layout/CircleProcess"/>
    <dgm:cxn modelId="{107B538B-6645-4560-B9B6-5D43011936B1}" type="presOf" srcId="{21E6DF8A-CEB3-4FAC-A06A-1DB0F689A4D4}" destId="{8E0E1742-B499-4F13-9107-D25FA65C7829}" srcOrd="1" destOrd="0" presId="urn:microsoft.com/office/officeart/2011/layout/CircleProcess"/>
    <dgm:cxn modelId="{A084FE92-6A4D-4190-A84B-E90B0E48ACB1}" type="presOf" srcId="{B5E28245-4729-479E-B8C4-3FCE90368A43}" destId="{436C650A-8F86-4B1E-8BAB-2096224EF0BF}" srcOrd="1" destOrd="0" presId="urn:microsoft.com/office/officeart/2011/layout/CircleProcess"/>
    <dgm:cxn modelId="{D0CB84A7-0279-485E-827E-057715EFC0E2}" type="presOf" srcId="{D85ED469-1752-448D-B97E-5904974AB373}" destId="{C136CD98-511E-4529-93C9-94CB26BFC044}" srcOrd="1" destOrd="0" presId="urn:microsoft.com/office/officeart/2011/layout/CircleProcess"/>
    <dgm:cxn modelId="{3F9BCCBA-3897-4B81-884F-976BDF38DC2A}" srcId="{3F280D9F-EB73-451F-A319-B166444CAAD7}" destId="{F318E2AF-A64D-44D9-9102-33946CD25312}" srcOrd="0" destOrd="0" parTransId="{13197557-D38F-4EBF-841E-1C2CFA5E1C3D}" sibTransId="{6451603F-80E4-4E3E-A4CC-50840FF11E7E}"/>
    <dgm:cxn modelId="{5E7DB5C1-3335-4887-BA41-1AF06C431CE7}" srcId="{3F280D9F-EB73-451F-A319-B166444CAAD7}" destId="{B5E28245-4729-479E-B8C4-3FCE90368A43}" srcOrd="1" destOrd="0" parTransId="{6ABAB9CC-CB40-47AB-A3B4-EA3FBC5D9B28}" sibTransId="{5176EAF9-BC86-40F9-98B0-C50C06DEB419}"/>
    <dgm:cxn modelId="{B084B9C8-9006-4F69-989B-9A0573850A67}" type="presOf" srcId="{21E6DF8A-CEB3-4FAC-A06A-1DB0F689A4D4}" destId="{A7751EAC-A5DC-43EB-9E11-0DEB2A59E2CD}" srcOrd="0" destOrd="0" presId="urn:microsoft.com/office/officeart/2011/layout/CircleProcess"/>
    <dgm:cxn modelId="{48B496D9-CA81-4F90-B6A2-A04EE81EDBBC}" srcId="{3F280D9F-EB73-451F-A319-B166444CAAD7}" destId="{D85ED469-1752-448D-B97E-5904974AB373}" srcOrd="3" destOrd="0" parTransId="{22FE60A6-9412-4440-8558-91B0FCF9EF42}" sibTransId="{B6467A64-43D9-45DF-BF04-B4D781F1B2A5}"/>
    <dgm:cxn modelId="{ADEB77E8-25C1-47EE-A6EB-700818A4A2AD}" srcId="{3F280D9F-EB73-451F-A319-B166444CAAD7}" destId="{21E6DF8A-CEB3-4FAC-A06A-1DB0F689A4D4}" srcOrd="2" destOrd="0" parTransId="{6D46C383-37C6-4EFF-9503-6DE30E114B85}" sibTransId="{5FCB17C1-2D9B-4B50-B726-7500FEAA2F52}"/>
    <dgm:cxn modelId="{68BE205D-B0E1-47F3-AE18-2AF0C3BDEEA5}" type="presParOf" srcId="{1CD60E39-63DC-4603-A0BE-6103BD1D114A}" destId="{E2F7FC7C-78AD-4C4C-AC3F-16DD3BD64B89}" srcOrd="0" destOrd="0" presId="urn:microsoft.com/office/officeart/2011/layout/CircleProcess"/>
    <dgm:cxn modelId="{C951B110-C887-48F1-BF14-7572D5AAB59A}" type="presParOf" srcId="{E2F7FC7C-78AD-4C4C-AC3F-16DD3BD64B89}" destId="{EE97D2CA-D3B7-4CB1-9D24-C9812B22FAA4}" srcOrd="0" destOrd="0" presId="urn:microsoft.com/office/officeart/2011/layout/CircleProcess"/>
    <dgm:cxn modelId="{B55F4BD9-B847-4DC7-999B-4D466E4E1D9B}" type="presParOf" srcId="{1CD60E39-63DC-4603-A0BE-6103BD1D114A}" destId="{F222BE68-DB2A-4BDE-970B-3BAEA6180D2D}" srcOrd="1" destOrd="0" presId="urn:microsoft.com/office/officeart/2011/layout/CircleProcess"/>
    <dgm:cxn modelId="{9F02CEED-FC01-4F82-A54A-FFEC1BF474FD}" type="presParOf" srcId="{F222BE68-DB2A-4BDE-970B-3BAEA6180D2D}" destId="{A22154EC-23D0-446E-A9AA-BC3106AA4E99}" srcOrd="0" destOrd="0" presId="urn:microsoft.com/office/officeart/2011/layout/CircleProcess"/>
    <dgm:cxn modelId="{B9351EA0-576E-43F1-80D1-8B521C815BBF}" type="presParOf" srcId="{1CD60E39-63DC-4603-A0BE-6103BD1D114A}" destId="{C136CD98-511E-4529-93C9-94CB26BFC044}" srcOrd="2" destOrd="0" presId="urn:microsoft.com/office/officeart/2011/layout/CircleProcess"/>
    <dgm:cxn modelId="{DC7F9493-1172-45C1-B57E-95468C442782}" type="presParOf" srcId="{1CD60E39-63DC-4603-A0BE-6103BD1D114A}" destId="{D10B7FD8-37A5-4804-B8DE-CB7872721D1A}" srcOrd="3" destOrd="0" presId="urn:microsoft.com/office/officeart/2011/layout/CircleProcess"/>
    <dgm:cxn modelId="{8498DACA-91CE-4642-8E06-C3B532F2B132}" type="presParOf" srcId="{D10B7FD8-37A5-4804-B8DE-CB7872721D1A}" destId="{9B50D729-2E26-4C0F-AD2A-8898E11A97C6}" srcOrd="0" destOrd="0" presId="urn:microsoft.com/office/officeart/2011/layout/CircleProcess"/>
    <dgm:cxn modelId="{173E3C76-2B18-43BD-9468-121EB4F20AAF}" type="presParOf" srcId="{1CD60E39-63DC-4603-A0BE-6103BD1D114A}" destId="{84F6F5E5-5939-4E49-A742-D45A0A0F20F9}" srcOrd="4" destOrd="0" presId="urn:microsoft.com/office/officeart/2011/layout/CircleProcess"/>
    <dgm:cxn modelId="{5023511C-DFED-461B-B602-F785FA18C7D5}" type="presParOf" srcId="{84F6F5E5-5939-4E49-A742-D45A0A0F20F9}" destId="{A7751EAC-A5DC-43EB-9E11-0DEB2A59E2CD}" srcOrd="0" destOrd="0" presId="urn:microsoft.com/office/officeart/2011/layout/CircleProcess"/>
    <dgm:cxn modelId="{A0599A19-2E98-4291-BABB-C88E4430B09C}" type="presParOf" srcId="{1CD60E39-63DC-4603-A0BE-6103BD1D114A}" destId="{8E0E1742-B499-4F13-9107-D25FA65C7829}" srcOrd="5" destOrd="0" presId="urn:microsoft.com/office/officeart/2011/layout/CircleProcess"/>
    <dgm:cxn modelId="{790F1487-D621-4CDA-AE47-CDD18C0FAD97}" type="presParOf" srcId="{1CD60E39-63DC-4603-A0BE-6103BD1D114A}" destId="{D02C5889-F286-474A-843D-F88015D80C8B}" srcOrd="6" destOrd="0" presId="urn:microsoft.com/office/officeart/2011/layout/CircleProcess"/>
    <dgm:cxn modelId="{C629E4FC-7B47-4992-B362-59A5BEEB4D55}" type="presParOf" srcId="{D02C5889-F286-474A-843D-F88015D80C8B}" destId="{378CA076-EFED-4B47-88F0-068E05A8D422}" srcOrd="0" destOrd="0" presId="urn:microsoft.com/office/officeart/2011/layout/CircleProcess"/>
    <dgm:cxn modelId="{0535A997-3D00-464E-AFC7-DC233771399E}" type="presParOf" srcId="{1CD60E39-63DC-4603-A0BE-6103BD1D114A}" destId="{A1341AF1-7F3C-4F02-B59D-3FAC531A196A}" srcOrd="7" destOrd="0" presId="urn:microsoft.com/office/officeart/2011/layout/CircleProcess"/>
    <dgm:cxn modelId="{38550243-066D-4018-AF3D-1F327B3ACF9E}" type="presParOf" srcId="{A1341AF1-7F3C-4F02-B59D-3FAC531A196A}" destId="{B1461C7C-77A2-41F1-A189-847BD956D11E}" srcOrd="0" destOrd="0" presId="urn:microsoft.com/office/officeart/2011/layout/CircleProcess"/>
    <dgm:cxn modelId="{CA5468D7-5721-4B23-AC41-D7A4F0179D0C}" type="presParOf" srcId="{1CD60E39-63DC-4603-A0BE-6103BD1D114A}" destId="{436C650A-8F86-4B1E-8BAB-2096224EF0BF}" srcOrd="8" destOrd="0" presId="urn:microsoft.com/office/officeart/2011/layout/CircleProcess"/>
    <dgm:cxn modelId="{71ECBC96-FA66-41DA-A452-95DF6D52FF00}" type="presParOf" srcId="{1CD60E39-63DC-4603-A0BE-6103BD1D114A}" destId="{9D28BF6D-92B6-4164-92AF-596FE9BF100F}" srcOrd="9" destOrd="0" presId="urn:microsoft.com/office/officeart/2011/layout/CircleProcess"/>
    <dgm:cxn modelId="{A6587100-DE60-402C-BD00-053B34D44533}" type="presParOf" srcId="{9D28BF6D-92B6-4164-92AF-596FE9BF100F}" destId="{07041F37-0AB3-4DDA-8A11-D6A6CD1A49F7}" srcOrd="0" destOrd="0" presId="urn:microsoft.com/office/officeart/2011/layout/CircleProcess"/>
    <dgm:cxn modelId="{F44C3568-6BA4-4980-8928-797499E1AD96}" type="presParOf" srcId="{1CD60E39-63DC-4603-A0BE-6103BD1D114A}" destId="{286BCE57-7342-4141-A5E3-6445700DEAEE}" srcOrd="10" destOrd="0" presId="urn:microsoft.com/office/officeart/2011/layout/CircleProcess"/>
    <dgm:cxn modelId="{62492860-BD4C-4528-B35A-A95C6A84A8FE}" type="presParOf" srcId="{286BCE57-7342-4141-A5E3-6445700DEAEE}" destId="{23877250-B0E4-4373-9FB5-323494FF84AD}" srcOrd="0" destOrd="0" presId="urn:microsoft.com/office/officeart/2011/layout/CircleProcess"/>
    <dgm:cxn modelId="{8D0F1F74-F980-4A55-8F78-7ADF63D23347}" type="presParOf" srcId="{1CD60E39-63DC-4603-A0BE-6103BD1D114A}" destId="{2A929FF1-A6FB-4EE1-BA89-B8D155BE1326}" srcOrd="11" destOrd="0" presId="urn:microsoft.com/office/officeart/2011/layout/Circle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CFC8F5-C27E-4538-82F3-E894E01970B6}"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63A48F8-0A39-4A31-8EF0-0FAB287CF3FF}">
      <dgm:prSet phldrT="[Text]" custT="1"/>
      <dgm:spPr/>
      <dgm:t>
        <a:bodyPr/>
        <a:lstStyle/>
        <a:p>
          <a:r>
            <a:rPr lang="en-US" sz="1200" b="1" dirty="0">
              <a:latin typeface="Tahoma" panose="020B0604030504040204" pitchFamily="34" charset="0"/>
              <a:ea typeface="Tahoma" panose="020B0604030504040204" pitchFamily="34" charset="0"/>
              <a:cs typeface="Tahoma" panose="020B0604030504040204" pitchFamily="34" charset="0"/>
            </a:rPr>
            <a:t>Best Practices:</a:t>
          </a:r>
        </a:p>
      </dgm:t>
    </dgm:pt>
    <dgm:pt modelId="{BE80C634-30FE-48DB-AF6C-05B297646CE4}" type="parTrans" cxnId="{E843636E-7DC1-4C16-89AA-1AFC91D61A82}">
      <dgm:prSet/>
      <dgm:spPr/>
      <dgm:t>
        <a:bodyPr/>
        <a:lstStyle/>
        <a:p>
          <a:endParaRPr lang="en-US"/>
        </a:p>
      </dgm:t>
    </dgm:pt>
    <dgm:pt modelId="{D0136E54-0E98-4FE9-BEEE-E5CB1F57C0EB}" type="sibTrans" cxnId="{E843636E-7DC1-4C16-89AA-1AFC91D61A82}">
      <dgm:prSet/>
      <dgm:spPr/>
      <dgm:t>
        <a:bodyPr/>
        <a:lstStyle/>
        <a:p>
          <a:endParaRPr lang="en-US"/>
        </a:p>
      </dgm:t>
    </dgm:pt>
    <dgm:pt modelId="{9614789C-214F-4683-BE11-E1B6CC9F2AF5}">
      <dgm:prSet custT="1"/>
      <dgm:spPr/>
      <dgm:t>
        <a:bodyPr/>
        <a:lstStyle/>
        <a:p>
          <a:r>
            <a:rPr lang="en-CA" sz="1200" b="1" dirty="0">
              <a:latin typeface="Tahoma" panose="020B0604030504040204" pitchFamily="34" charset="0"/>
              <a:ea typeface="Tahoma" panose="020B0604030504040204" pitchFamily="34" charset="0"/>
              <a:cs typeface="Tahoma" panose="020B0604030504040204" pitchFamily="34" charset="0"/>
            </a:rPr>
            <a:t>Use sparingly: </a:t>
          </a:r>
          <a:r>
            <a:rPr lang="en-CA" sz="1200" dirty="0">
              <a:latin typeface="Tahoma" panose="020B0604030504040204" pitchFamily="34" charset="0"/>
              <a:ea typeface="Tahoma" panose="020B0604030504040204" pitchFamily="34" charset="0"/>
              <a:cs typeface="Tahoma" panose="020B0604030504040204" pitchFamily="34" charset="0"/>
            </a:rPr>
            <a:t>Only use WHEN OTHERS when you cannot predict all possible exceptions or when you're handling them in a generic way (e.g., logging them for later debugging).</a:t>
          </a:r>
        </a:p>
      </dgm:t>
    </dgm:pt>
    <dgm:pt modelId="{B4AECE8F-5206-47D4-9E34-566173CA85A1}" type="parTrans" cxnId="{51A18D04-184D-4859-86CB-114351CB4596}">
      <dgm:prSet/>
      <dgm:spPr/>
      <dgm:t>
        <a:bodyPr/>
        <a:lstStyle/>
        <a:p>
          <a:endParaRPr lang="en-US"/>
        </a:p>
      </dgm:t>
    </dgm:pt>
    <dgm:pt modelId="{6D8FBA6A-F62F-4EC1-A06F-7FB4413AC85B}" type="sibTrans" cxnId="{51A18D04-184D-4859-86CB-114351CB4596}">
      <dgm:prSet/>
      <dgm:spPr/>
      <dgm:t>
        <a:bodyPr/>
        <a:lstStyle/>
        <a:p>
          <a:endParaRPr lang="en-US"/>
        </a:p>
      </dgm:t>
    </dgm:pt>
    <dgm:pt modelId="{847740D3-1F0A-4F7C-A842-5CE82674BD38}">
      <dgm:prSet custT="1"/>
      <dgm:spPr/>
      <dgm:t>
        <a:bodyPr/>
        <a:lstStyle/>
        <a:p>
          <a:r>
            <a:rPr lang="en-CA" sz="1200" b="1" dirty="0">
              <a:latin typeface="Tahoma" panose="020B0604030504040204" pitchFamily="34" charset="0"/>
              <a:ea typeface="Tahoma" panose="020B0604030504040204" pitchFamily="34" charset="0"/>
              <a:cs typeface="Tahoma" panose="020B0604030504040204" pitchFamily="34" charset="0"/>
            </a:rPr>
            <a:t>Log errors: </a:t>
          </a:r>
          <a:r>
            <a:rPr lang="en-CA" sz="1200" dirty="0">
              <a:latin typeface="Tahoma" panose="020B0604030504040204" pitchFamily="34" charset="0"/>
              <a:ea typeface="Tahoma" panose="020B0604030504040204" pitchFamily="34" charset="0"/>
              <a:cs typeface="Tahoma" panose="020B0604030504040204" pitchFamily="34" charset="0"/>
            </a:rPr>
            <a:t>Always try to log the error code and message, especially when using WHEN OTHERS, so that you can diagnose the issue later.</a:t>
          </a:r>
        </a:p>
      </dgm:t>
    </dgm:pt>
    <dgm:pt modelId="{0FC132EA-6FC9-4A90-8C6C-3C1C09D82FA8}" type="parTrans" cxnId="{2B5D998F-977D-4CEF-A8B7-68FEEB7ACD32}">
      <dgm:prSet/>
      <dgm:spPr/>
      <dgm:t>
        <a:bodyPr/>
        <a:lstStyle/>
        <a:p>
          <a:endParaRPr lang="en-US"/>
        </a:p>
      </dgm:t>
    </dgm:pt>
    <dgm:pt modelId="{8CBC838E-E573-4055-97E6-67C001A546F5}" type="sibTrans" cxnId="{2B5D998F-977D-4CEF-A8B7-68FEEB7ACD32}">
      <dgm:prSet/>
      <dgm:spPr/>
      <dgm:t>
        <a:bodyPr/>
        <a:lstStyle/>
        <a:p>
          <a:endParaRPr lang="en-US"/>
        </a:p>
      </dgm:t>
    </dgm:pt>
    <dgm:pt modelId="{010DA970-8AB3-4599-AF03-AFEE262454A4}">
      <dgm:prSet custT="1"/>
      <dgm:spPr/>
      <dgm:t>
        <a:bodyPr/>
        <a:lstStyle/>
        <a:p>
          <a:r>
            <a:rPr lang="en-CA" sz="1200" b="1" dirty="0">
              <a:latin typeface="Tahoma" panose="020B0604030504040204" pitchFamily="34" charset="0"/>
              <a:ea typeface="Tahoma" panose="020B0604030504040204" pitchFamily="34" charset="0"/>
              <a:cs typeface="Tahoma" panose="020B0604030504040204" pitchFamily="34" charset="0"/>
            </a:rPr>
            <a:t>Avoid silencing errors: </a:t>
          </a:r>
          <a:r>
            <a:rPr lang="en-CA" sz="1200" dirty="0">
              <a:latin typeface="Tahoma" panose="020B0604030504040204" pitchFamily="34" charset="0"/>
              <a:ea typeface="Tahoma" panose="020B0604030504040204" pitchFamily="34" charset="0"/>
              <a:cs typeface="Tahoma" panose="020B0604030504040204" pitchFamily="34" charset="0"/>
            </a:rPr>
            <a:t>Avoid using WHEN OTHERS without some form of error logging, as it could hide potential bugs.</a:t>
          </a:r>
        </a:p>
      </dgm:t>
    </dgm:pt>
    <dgm:pt modelId="{96AF8E58-9AA0-4526-8DCF-821BE9D7E747}" type="parTrans" cxnId="{37DBAAA9-78A6-405F-8EC7-1F570E52595A}">
      <dgm:prSet/>
      <dgm:spPr/>
      <dgm:t>
        <a:bodyPr/>
        <a:lstStyle/>
        <a:p>
          <a:endParaRPr lang="en-US"/>
        </a:p>
      </dgm:t>
    </dgm:pt>
    <dgm:pt modelId="{291CE757-2580-40C2-B0B6-BCB28932B781}" type="sibTrans" cxnId="{37DBAAA9-78A6-405F-8EC7-1F570E52595A}">
      <dgm:prSet/>
      <dgm:spPr/>
      <dgm:t>
        <a:bodyPr/>
        <a:lstStyle/>
        <a:p>
          <a:endParaRPr lang="en-US"/>
        </a:p>
      </dgm:t>
    </dgm:pt>
    <dgm:pt modelId="{22EFC094-2B5E-44B6-BE0D-3745C3430BB4}">
      <dgm:prSet custT="1"/>
      <dgm:spPr/>
      <dgm:t>
        <a:bodyPr/>
        <a:lstStyle/>
        <a:p>
          <a:r>
            <a:rPr lang="en-CA" sz="1200" dirty="0">
              <a:latin typeface="Tahoma" panose="020B0604030504040204" pitchFamily="34" charset="0"/>
              <a:ea typeface="Tahoma" panose="020B0604030504040204" pitchFamily="34" charset="0"/>
              <a:cs typeface="Tahoma" panose="020B0604030504040204" pitchFamily="34" charset="0"/>
            </a:rPr>
            <a:t>This is how </a:t>
          </a:r>
          <a:r>
            <a:rPr lang="en-CA" sz="1200" b="1" dirty="0">
              <a:latin typeface="Tahoma" panose="020B0604030504040204" pitchFamily="34" charset="0"/>
              <a:ea typeface="Tahoma" panose="020B0604030504040204" pitchFamily="34" charset="0"/>
              <a:cs typeface="Tahoma" panose="020B0604030504040204" pitchFamily="34" charset="0"/>
            </a:rPr>
            <a:t>WHEN OTHERS </a:t>
          </a:r>
          <a:r>
            <a:rPr lang="en-CA" sz="1200" dirty="0">
              <a:latin typeface="Tahoma" panose="020B0604030504040204" pitchFamily="34" charset="0"/>
              <a:ea typeface="Tahoma" panose="020B0604030504040204" pitchFamily="34" charset="0"/>
              <a:cs typeface="Tahoma" panose="020B0604030504040204" pitchFamily="34" charset="0"/>
            </a:rPr>
            <a:t>can serve as a catch-all for unforeseen exceptions, ensuring your PL/SQL code can handle unexpected runtime errors gracefully.</a:t>
          </a:r>
        </a:p>
      </dgm:t>
    </dgm:pt>
    <dgm:pt modelId="{7C7A830C-B4A3-4B27-B923-46E2F81704AE}" type="parTrans" cxnId="{BFEB0F77-28E7-4D75-AE8A-40539D60B7AA}">
      <dgm:prSet/>
      <dgm:spPr/>
      <dgm:t>
        <a:bodyPr/>
        <a:lstStyle/>
        <a:p>
          <a:endParaRPr lang="en-US"/>
        </a:p>
      </dgm:t>
    </dgm:pt>
    <dgm:pt modelId="{9FABD002-81B3-48D2-9F06-E643DD9F76A0}" type="sibTrans" cxnId="{BFEB0F77-28E7-4D75-AE8A-40539D60B7AA}">
      <dgm:prSet/>
      <dgm:spPr/>
      <dgm:t>
        <a:bodyPr/>
        <a:lstStyle/>
        <a:p>
          <a:endParaRPr lang="en-US"/>
        </a:p>
      </dgm:t>
    </dgm:pt>
    <dgm:pt modelId="{109457EF-F512-48A5-B01A-78300F44C2D2}" type="pres">
      <dgm:prSet presAssocID="{E4CFC8F5-C27E-4538-82F3-E894E01970B6}" presName="vert0" presStyleCnt="0">
        <dgm:presLayoutVars>
          <dgm:dir/>
          <dgm:animOne val="branch"/>
          <dgm:animLvl val="lvl"/>
        </dgm:presLayoutVars>
      </dgm:prSet>
      <dgm:spPr/>
    </dgm:pt>
    <dgm:pt modelId="{16AC0CFF-7F80-411B-AD86-43F81DF70030}" type="pres">
      <dgm:prSet presAssocID="{C63A48F8-0A39-4A31-8EF0-0FAB287CF3FF}" presName="thickLine" presStyleLbl="alignNode1" presStyleIdx="0" presStyleCnt="2"/>
      <dgm:spPr/>
    </dgm:pt>
    <dgm:pt modelId="{7D5A7C41-D84A-438B-B212-3333374D6A0E}" type="pres">
      <dgm:prSet presAssocID="{C63A48F8-0A39-4A31-8EF0-0FAB287CF3FF}" presName="horz1" presStyleCnt="0"/>
      <dgm:spPr/>
    </dgm:pt>
    <dgm:pt modelId="{463F941E-262E-472D-90EE-EEC49840DF8F}" type="pres">
      <dgm:prSet presAssocID="{C63A48F8-0A39-4A31-8EF0-0FAB287CF3FF}" presName="tx1" presStyleLbl="revTx" presStyleIdx="0" presStyleCnt="5"/>
      <dgm:spPr/>
    </dgm:pt>
    <dgm:pt modelId="{81B680E5-16AB-4CE7-959C-54A4E85ECC5C}" type="pres">
      <dgm:prSet presAssocID="{C63A48F8-0A39-4A31-8EF0-0FAB287CF3FF}" presName="vert1" presStyleCnt="0"/>
      <dgm:spPr/>
    </dgm:pt>
    <dgm:pt modelId="{11149CFC-A789-4A2E-A599-B13771CF0A04}" type="pres">
      <dgm:prSet presAssocID="{9614789C-214F-4683-BE11-E1B6CC9F2AF5}" presName="vertSpace2a" presStyleCnt="0"/>
      <dgm:spPr/>
    </dgm:pt>
    <dgm:pt modelId="{2475E3F0-0F58-4D63-8C30-E8B3C6A2C39E}" type="pres">
      <dgm:prSet presAssocID="{9614789C-214F-4683-BE11-E1B6CC9F2AF5}" presName="horz2" presStyleCnt="0"/>
      <dgm:spPr/>
    </dgm:pt>
    <dgm:pt modelId="{87187FB6-0AEB-41E0-9FCD-49ACB726144E}" type="pres">
      <dgm:prSet presAssocID="{9614789C-214F-4683-BE11-E1B6CC9F2AF5}" presName="horzSpace2" presStyleCnt="0"/>
      <dgm:spPr/>
    </dgm:pt>
    <dgm:pt modelId="{FFF15478-998E-4C4E-8DF8-C0D4D0FEB4B4}" type="pres">
      <dgm:prSet presAssocID="{9614789C-214F-4683-BE11-E1B6CC9F2AF5}" presName="tx2" presStyleLbl="revTx" presStyleIdx="1" presStyleCnt="5"/>
      <dgm:spPr/>
    </dgm:pt>
    <dgm:pt modelId="{6E7FF895-E089-4223-AE6D-12969F17427F}" type="pres">
      <dgm:prSet presAssocID="{9614789C-214F-4683-BE11-E1B6CC9F2AF5}" presName="vert2" presStyleCnt="0"/>
      <dgm:spPr/>
    </dgm:pt>
    <dgm:pt modelId="{14E7EB0F-8C84-4C49-AE62-5C4403FC2433}" type="pres">
      <dgm:prSet presAssocID="{9614789C-214F-4683-BE11-E1B6CC9F2AF5}" presName="thinLine2b" presStyleLbl="callout" presStyleIdx="0" presStyleCnt="3"/>
      <dgm:spPr/>
    </dgm:pt>
    <dgm:pt modelId="{6E49CD95-A724-489B-9BF8-1D8A3B6B8FA7}" type="pres">
      <dgm:prSet presAssocID="{9614789C-214F-4683-BE11-E1B6CC9F2AF5}" presName="vertSpace2b" presStyleCnt="0"/>
      <dgm:spPr/>
    </dgm:pt>
    <dgm:pt modelId="{B1C6F0F3-70B0-4237-B5B5-9C025E79A277}" type="pres">
      <dgm:prSet presAssocID="{847740D3-1F0A-4F7C-A842-5CE82674BD38}" presName="horz2" presStyleCnt="0"/>
      <dgm:spPr/>
    </dgm:pt>
    <dgm:pt modelId="{3FC1297F-D7C4-4FA6-8A3D-A82193C89652}" type="pres">
      <dgm:prSet presAssocID="{847740D3-1F0A-4F7C-A842-5CE82674BD38}" presName="horzSpace2" presStyleCnt="0"/>
      <dgm:spPr/>
    </dgm:pt>
    <dgm:pt modelId="{E5964CCF-B9E1-4A68-8FBC-D314353A9ED1}" type="pres">
      <dgm:prSet presAssocID="{847740D3-1F0A-4F7C-A842-5CE82674BD38}" presName="tx2" presStyleLbl="revTx" presStyleIdx="2" presStyleCnt="5"/>
      <dgm:spPr/>
    </dgm:pt>
    <dgm:pt modelId="{D45487F5-0288-4445-9A0A-0610A9004678}" type="pres">
      <dgm:prSet presAssocID="{847740D3-1F0A-4F7C-A842-5CE82674BD38}" presName="vert2" presStyleCnt="0"/>
      <dgm:spPr/>
    </dgm:pt>
    <dgm:pt modelId="{0EA95C0C-5739-4889-ABB7-D4D7A4D161A5}" type="pres">
      <dgm:prSet presAssocID="{847740D3-1F0A-4F7C-A842-5CE82674BD38}" presName="thinLine2b" presStyleLbl="callout" presStyleIdx="1" presStyleCnt="3"/>
      <dgm:spPr/>
    </dgm:pt>
    <dgm:pt modelId="{6A664071-602A-4E64-A9A6-094EEBAD7056}" type="pres">
      <dgm:prSet presAssocID="{847740D3-1F0A-4F7C-A842-5CE82674BD38}" presName="vertSpace2b" presStyleCnt="0"/>
      <dgm:spPr/>
    </dgm:pt>
    <dgm:pt modelId="{462707E6-6236-4D9F-9E6D-F4E5071E3888}" type="pres">
      <dgm:prSet presAssocID="{010DA970-8AB3-4599-AF03-AFEE262454A4}" presName="horz2" presStyleCnt="0"/>
      <dgm:spPr/>
    </dgm:pt>
    <dgm:pt modelId="{92856CA0-9E69-4604-B3ED-FC5DC2F6140D}" type="pres">
      <dgm:prSet presAssocID="{010DA970-8AB3-4599-AF03-AFEE262454A4}" presName="horzSpace2" presStyleCnt="0"/>
      <dgm:spPr/>
    </dgm:pt>
    <dgm:pt modelId="{6EB14E03-E55A-4A5F-85B1-27121D7B529A}" type="pres">
      <dgm:prSet presAssocID="{010DA970-8AB3-4599-AF03-AFEE262454A4}" presName="tx2" presStyleLbl="revTx" presStyleIdx="3" presStyleCnt="5"/>
      <dgm:spPr/>
    </dgm:pt>
    <dgm:pt modelId="{9E813451-1972-40E0-8C38-7210C7ADE7CE}" type="pres">
      <dgm:prSet presAssocID="{010DA970-8AB3-4599-AF03-AFEE262454A4}" presName="vert2" presStyleCnt="0"/>
      <dgm:spPr/>
    </dgm:pt>
    <dgm:pt modelId="{16EB301E-9935-4562-BEC2-FD1258D67C84}" type="pres">
      <dgm:prSet presAssocID="{010DA970-8AB3-4599-AF03-AFEE262454A4}" presName="thinLine2b" presStyleLbl="callout" presStyleIdx="2" presStyleCnt="3"/>
      <dgm:spPr/>
    </dgm:pt>
    <dgm:pt modelId="{0EB767CE-3E4A-4AAC-A949-8B4B4E2FFBC3}" type="pres">
      <dgm:prSet presAssocID="{010DA970-8AB3-4599-AF03-AFEE262454A4}" presName="vertSpace2b" presStyleCnt="0"/>
      <dgm:spPr/>
    </dgm:pt>
    <dgm:pt modelId="{E82DC2E1-B343-4ABE-8BD0-70EA13A52FAA}" type="pres">
      <dgm:prSet presAssocID="{22EFC094-2B5E-44B6-BE0D-3745C3430BB4}" presName="thickLine" presStyleLbl="alignNode1" presStyleIdx="1" presStyleCnt="2"/>
      <dgm:spPr/>
    </dgm:pt>
    <dgm:pt modelId="{906A7F99-45C3-49D6-84E7-5E736553A82D}" type="pres">
      <dgm:prSet presAssocID="{22EFC094-2B5E-44B6-BE0D-3745C3430BB4}" presName="horz1" presStyleCnt="0"/>
      <dgm:spPr/>
    </dgm:pt>
    <dgm:pt modelId="{5C9F4483-2290-490D-B3BB-E704942961DA}" type="pres">
      <dgm:prSet presAssocID="{22EFC094-2B5E-44B6-BE0D-3745C3430BB4}" presName="tx1" presStyleLbl="revTx" presStyleIdx="4" presStyleCnt="5" custScaleX="500000"/>
      <dgm:spPr/>
    </dgm:pt>
    <dgm:pt modelId="{35F1E1C8-3622-4E0F-899E-09A7BD7E9347}" type="pres">
      <dgm:prSet presAssocID="{22EFC094-2B5E-44B6-BE0D-3745C3430BB4}" presName="vert1" presStyleCnt="0"/>
      <dgm:spPr/>
    </dgm:pt>
  </dgm:ptLst>
  <dgm:cxnLst>
    <dgm:cxn modelId="{51A18D04-184D-4859-86CB-114351CB4596}" srcId="{C63A48F8-0A39-4A31-8EF0-0FAB287CF3FF}" destId="{9614789C-214F-4683-BE11-E1B6CC9F2AF5}" srcOrd="0" destOrd="0" parTransId="{B4AECE8F-5206-47D4-9E34-566173CA85A1}" sibTransId="{6D8FBA6A-F62F-4EC1-A06F-7FB4413AC85B}"/>
    <dgm:cxn modelId="{97605007-5D78-4E3F-A5A6-794A74E8BBF2}" type="presOf" srcId="{010DA970-8AB3-4599-AF03-AFEE262454A4}" destId="{6EB14E03-E55A-4A5F-85B1-27121D7B529A}" srcOrd="0" destOrd="0" presId="urn:microsoft.com/office/officeart/2008/layout/LinedList"/>
    <dgm:cxn modelId="{4A23136B-032D-4C1B-ABE1-D733B26AB460}" type="presOf" srcId="{C63A48F8-0A39-4A31-8EF0-0FAB287CF3FF}" destId="{463F941E-262E-472D-90EE-EEC49840DF8F}" srcOrd="0" destOrd="0" presId="urn:microsoft.com/office/officeart/2008/layout/LinedList"/>
    <dgm:cxn modelId="{E843636E-7DC1-4C16-89AA-1AFC91D61A82}" srcId="{E4CFC8F5-C27E-4538-82F3-E894E01970B6}" destId="{C63A48F8-0A39-4A31-8EF0-0FAB287CF3FF}" srcOrd="0" destOrd="0" parTransId="{BE80C634-30FE-48DB-AF6C-05B297646CE4}" sibTransId="{D0136E54-0E98-4FE9-BEEE-E5CB1F57C0EB}"/>
    <dgm:cxn modelId="{BFEB0F77-28E7-4D75-AE8A-40539D60B7AA}" srcId="{E4CFC8F5-C27E-4538-82F3-E894E01970B6}" destId="{22EFC094-2B5E-44B6-BE0D-3745C3430BB4}" srcOrd="1" destOrd="0" parTransId="{7C7A830C-B4A3-4B27-B923-46E2F81704AE}" sibTransId="{9FABD002-81B3-48D2-9F06-E643DD9F76A0}"/>
    <dgm:cxn modelId="{B0F2BB77-D1B1-4C00-BF1E-0EC93CD1933D}" type="presOf" srcId="{9614789C-214F-4683-BE11-E1B6CC9F2AF5}" destId="{FFF15478-998E-4C4E-8DF8-C0D4D0FEB4B4}" srcOrd="0" destOrd="0" presId="urn:microsoft.com/office/officeart/2008/layout/LinedList"/>
    <dgm:cxn modelId="{2B5D998F-977D-4CEF-A8B7-68FEEB7ACD32}" srcId="{C63A48F8-0A39-4A31-8EF0-0FAB287CF3FF}" destId="{847740D3-1F0A-4F7C-A842-5CE82674BD38}" srcOrd="1" destOrd="0" parTransId="{0FC132EA-6FC9-4A90-8C6C-3C1C09D82FA8}" sibTransId="{8CBC838E-E573-4055-97E6-67C001A546F5}"/>
    <dgm:cxn modelId="{37DBAAA9-78A6-405F-8EC7-1F570E52595A}" srcId="{C63A48F8-0A39-4A31-8EF0-0FAB287CF3FF}" destId="{010DA970-8AB3-4599-AF03-AFEE262454A4}" srcOrd="2" destOrd="0" parTransId="{96AF8E58-9AA0-4526-8DCF-821BE9D7E747}" sibTransId="{291CE757-2580-40C2-B0B6-BCB28932B781}"/>
    <dgm:cxn modelId="{DE0321D0-35A2-4841-A637-F2E7AEF333ED}" type="presOf" srcId="{847740D3-1F0A-4F7C-A842-5CE82674BD38}" destId="{E5964CCF-B9E1-4A68-8FBC-D314353A9ED1}" srcOrd="0" destOrd="0" presId="urn:microsoft.com/office/officeart/2008/layout/LinedList"/>
    <dgm:cxn modelId="{1A35D4DD-6F16-4D90-8D6B-8637B09701E9}" type="presOf" srcId="{22EFC094-2B5E-44B6-BE0D-3745C3430BB4}" destId="{5C9F4483-2290-490D-B3BB-E704942961DA}" srcOrd="0" destOrd="0" presId="urn:microsoft.com/office/officeart/2008/layout/LinedList"/>
    <dgm:cxn modelId="{D11F1EFC-C7EA-46C3-A583-138BFD7F8F0C}" type="presOf" srcId="{E4CFC8F5-C27E-4538-82F3-E894E01970B6}" destId="{109457EF-F512-48A5-B01A-78300F44C2D2}" srcOrd="0" destOrd="0" presId="urn:microsoft.com/office/officeart/2008/layout/LinedList"/>
    <dgm:cxn modelId="{D27612A6-4105-4A6D-AAF7-9370E5C0A789}" type="presParOf" srcId="{109457EF-F512-48A5-B01A-78300F44C2D2}" destId="{16AC0CFF-7F80-411B-AD86-43F81DF70030}" srcOrd="0" destOrd="0" presId="urn:microsoft.com/office/officeart/2008/layout/LinedList"/>
    <dgm:cxn modelId="{ECDE0DFC-CEE1-4384-B7DB-931D7FF40DBB}" type="presParOf" srcId="{109457EF-F512-48A5-B01A-78300F44C2D2}" destId="{7D5A7C41-D84A-438B-B212-3333374D6A0E}" srcOrd="1" destOrd="0" presId="urn:microsoft.com/office/officeart/2008/layout/LinedList"/>
    <dgm:cxn modelId="{4F746623-598D-462C-82BD-697D40833F6E}" type="presParOf" srcId="{7D5A7C41-D84A-438B-B212-3333374D6A0E}" destId="{463F941E-262E-472D-90EE-EEC49840DF8F}" srcOrd="0" destOrd="0" presId="urn:microsoft.com/office/officeart/2008/layout/LinedList"/>
    <dgm:cxn modelId="{F7753447-BA74-4998-B4D2-3ED23C57BBB1}" type="presParOf" srcId="{7D5A7C41-D84A-438B-B212-3333374D6A0E}" destId="{81B680E5-16AB-4CE7-959C-54A4E85ECC5C}" srcOrd="1" destOrd="0" presId="urn:microsoft.com/office/officeart/2008/layout/LinedList"/>
    <dgm:cxn modelId="{278356C8-6F90-4932-912F-43E8D64F8CB3}" type="presParOf" srcId="{81B680E5-16AB-4CE7-959C-54A4E85ECC5C}" destId="{11149CFC-A789-4A2E-A599-B13771CF0A04}" srcOrd="0" destOrd="0" presId="urn:microsoft.com/office/officeart/2008/layout/LinedList"/>
    <dgm:cxn modelId="{1EFA5F10-D137-44E2-ABF9-4E1A21B125E7}" type="presParOf" srcId="{81B680E5-16AB-4CE7-959C-54A4E85ECC5C}" destId="{2475E3F0-0F58-4D63-8C30-E8B3C6A2C39E}" srcOrd="1" destOrd="0" presId="urn:microsoft.com/office/officeart/2008/layout/LinedList"/>
    <dgm:cxn modelId="{AC265313-0BA1-4A50-B338-4FE7AB9968C9}" type="presParOf" srcId="{2475E3F0-0F58-4D63-8C30-E8B3C6A2C39E}" destId="{87187FB6-0AEB-41E0-9FCD-49ACB726144E}" srcOrd="0" destOrd="0" presId="urn:microsoft.com/office/officeart/2008/layout/LinedList"/>
    <dgm:cxn modelId="{2A798095-EA90-4D40-8314-1D4CC25D4107}" type="presParOf" srcId="{2475E3F0-0F58-4D63-8C30-E8B3C6A2C39E}" destId="{FFF15478-998E-4C4E-8DF8-C0D4D0FEB4B4}" srcOrd="1" destOrd="0" presId="urn:microsoft.com/office/officeart/2008/layout/LinedList"/>
    <dgm:cxn modelId="{F464EFF4-78FF-458C-A724-759B4FA29996}" type="presParOf" srcId="{2475E3F0-0F58-4D63-8C30-E8B3C6A2C39E}" destId="{6E7FF895-E089-4223-AE6D-12969F17427F}" srcOrd="2" destOrd="0" presId="urn:microsoft.com/office/officeart/2008/layout/LinedList"/>
    <dgm:cxn modelId="{30F550B3-48D0-4D7E-9C73-98A2BE2AF335}" type="presParOf" srcId="{81B680E5-16AB-4CE7-959C-54A4E85ECC5C}" destId="{14E7EB0F-8C84-4C49-AE62-5C4403FC2433}" srcOrd="2" destOrd="0" presId="urn:microsoft.com/office/officeart/2008/layout/LinedList"/>
    <dgm:cxn modelId="{B7DC2E9D-1420-404C-B2BD-4606B13C9419}" type="presParOf" srcId="{81B680E5-16AB-4CE7-959C-54A4E85ECC5C}" destId="{6E49CD95-A724-489B-9BF8-1D8A3B6B8FA7}" srcOrd="3" destOrd="0" presId="urn:microsoft.com/office/officeart/2008/layout/LinedList"/>
    <dgm:cxn modelId="{674F738B-9544-4051-82B1-D0277BB503F2}" type="presParOf" srcId="{81B680E5-16AB-4CE7-959C-54A4E85ECC5C}" destId="{B1C6F0F3-70B0-4237-B5B5-9C025E79A277}" srcOrd="4" destOrd="0" presId="urn:microsoft.com/office/officeart/2008/layout/LinedList"/>
    <dgm:cxn modelId="{54B6F105-CED2-4D3B-A89B-A57A508BF829}" type="presParOf" srcId="{B1C6F0F3-70B0-4237-B5B5-9C025E79A277}" destId="{3FC1297F-D7C4-4FA6-8A3D-A82193C89652}" srcOrd="0" destOrd="0" presId="urn:microsoft.com/office/officeart/2008/layout/LinedList"/>
    <dgm:cxn modelId="{68E27AE8-8A46-4A72-BADF-2BC5B1538B3F}" type="presParOf" srcId="{B1C6F0F3-70B0-4237-B5B5-9C025E79A277}" destId="{E5964CCF-B9E1-4A68-8FBC-D314353A9ED1}" srcOrd="1" destOrd="0" presId="urn:microsoft.com/office/officeart/2008/layout/LinedList"/>
    <dgm:cxn modelId="{69C69B5E-4804-4181-9624-87313C6DF1B1}" type="presParOf" srcId="{B1C6F0F3-70B0-4237-B5B5-9C025E79A277}" destId="{D45487F5-0288-4445-9A0A-0610A9004678}" srcOrd="2" destOrd="0" presId="urn:microsoft.com/office/officeart/2008/layout/LinedList"/>
    <dgm:cxn modelId="{2A164902-58D0-477F-A320-98EF4034C37D}" type="presParOf" srcId="{81B680E5-16AB-4CE7-959C-54A4E85ECC5C}" destId="{0EA95C0C-5739-4889-ABB7-D4D7A4D161A5}" srcOrd="5" destOrd="0" presId="urn:microsoft.com/office/officeart/2008/layout/LinedList"/>
    <dgm:cxn modelId="{909D6BFE-261F-469B-A2C1-34D188B889C8}" type="presParOf" srcId="{81B680E5-16AB-4CE7-959C-54A4E85ECC5C}" destId="{6A664071-602A-4E64-A9A6-094EEBAD7056}" srcOrd="6" destOrd="0" presId="urn:microsoft.com/office/officeart/2008/layout/LinedList"/>
    <dgm:cxn modelId="{FD94B1D6-5D2D-4754-8364-BC89862E7F36}" type="presParOf" srcId="{81B680E5-16AB-4CE7-959C-54A4E85ECC5C}" destId="{462707E6-6236-4D9F-9E6D-F4E5071E3888}" srcOrd="7" destOrd="0" presId="urn:microsoft.com/office/officeart/2008/layout/LinedList"/>
    <dgm:cxn modelId="{FA43F45C-52AD-40C0-9EC4-B175829AA2EB}" type="presParOf" srcId="{462707E6-6236-4D9F-9E6D-F4E5071E3888}" destId="{92856CA0-9E69-4604-B3ED-FC5DC2F6140D}" srcOrd="0" destOrd="0" presId="urn:microsoft.com/office/officeart/2008/layout/LinedList"/>
    <dgm:cxn modelId="{6A1107E0-6870-446C-9B47-35D31592C781}" type="presParOf" srcId="{462707E6-6236-4D9F-9E6D-F4E5071E3888}" destId="{6EB14E03-E55A-4A5F-85B1-27121D7B529A}" srcOrd="1" destOrd="0" presId="urn:microsoft.com/office/officeart/2008/layout/LinedList"/>
    <dgm:cxn modelId="{61B570C6-BEEB-443F-A46B-C6A5C5C55BF8}" type="presParOf" srcId="{462707E6-6236-4D9F-9E6D-F4E5071E3888}" destId="{9E813451-1972-40E0-8C38-7210C7ADE7CE}" srcOrd="2" destOrd="0" presId="urn:microsoft.com/office/officeart/2008/layout/LinedList"/>
    <dgm:cxn modelId="{301DEEC5-535B-4901-AD29-BA72DCCF9A4F}" type="presParOf" srcId="{81B680E5-16AB-4CE7-959C-54A4E85ECC5C}" destId="{16EB301E-9935-4562-BEC2-FD1258D67C84}" srcOrd="8" destOrd="0" presId="urn:microsoft.com/office/officeart/2008/layout/LinedList"/>
    <dgm:cxn modelId="{7F84B214-1903-4901-8F73-8360F129C267}" type="presParOf" srcId="{81B680E5-16AB-4CE7-959C-54A4E85ECC5C}" destId="{0EB767CE-3E4A-4AAC-A949-8B4B4E2FFBC3}" srcOrd="9" destOrd="0" presId="urn:microsoft.com/office/officeart/2008/layout/LinedList"/>
    <dgm:cxn modelId="{ACFD2BC4-26B3-4E66-AF2D-8C818640ECF8}" type="presParOf" srcId="{109457EF-F512-48A5-B01A-78300F44C2D2}" destId="{E82DC2E1-B343-4ABE-8BD0-70EA13A52FAA}" srcOrd="2" destOrd="0" presId="urn:microsoft.com/office/officeart/2008/layout/LinedList"/>
    <dgm:cxn modelId="{538AE744-A2E6-4925-A196-4F9E62E5131F}" type="presParOf" srcId="{109457EF-F512-48A5-B01A-78300F44C2D2}" destId="{906A7F99-45C3-49D6-84E7-5E736553A82D}" srcOrd="3" destOrd="0" presId="urn:microsoft.com/office/officeart/2008/layout/LinedList"/>
    <dgm:cxn modelId="{E019C518-30DF-41BE-9ABF-1215DE2EAFF2}" type="presParOf" srcId="{906A7F99-45C3-49D6-84E7-5E736553A82D}" destId="{5C9F4483-2290-490D-B3BB-E704942961DA}" srcOrd="0" destOrd="0" presId="urn:microsoft.com/office/officeart/2008/layout/LinedList"/>
    <dgm:cxn modelId="{4D5D1032-147C-451C-A8BD-8DFB2C3DCAC2}" type="presParOf" srcId="{906A7F99-45C3-49D6-84E7-5E736553A82D}" destId="{35F1E1C8-3622-4E0F-899E-09A7BD7E9347}"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80433-B4A5-412C-8D5F-79A329CEE109}">
      <dsp:nvSpPr>
        <dsp:cNvPr id="0" name=""/>
        <dsp:cNvSpPr/>
      </dsp:nvSpPr>
      <dsp:spPr>
        <a:xfrm>
          <a:off x="0" y="299561"/>
          <a:ext cx="12192002" cy="4284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FC5293-F11C-4AC8-8BA9-9FD540313967}">
      <dsp:nvSpPr>
        <dsp:cNvPr id="0" name=""/>
        <dsp:cNvSpPr/>
      </dsp:nvSpPr>
      <dsp:spPr>
        <a:xfrm>
          <a:off x="609600" y="48641"/>
          <a:ext cx="8534402"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533400">
            <a:lnSpc>
              <a:spcPct val="90000"/>
            </a:lnSpc>
            <a:spcBef>
              <a:spcPct val="0"/>
            </a:spcBef>
            <a:spcAft>
              <a:spcPct val="35000"/>
            </a:spcAft>
            <a:buFont typeface="+mj-lt"/>
            <a:buNone/>
          </a:pPr>
          <a:r>
            <a:rPr lang="en-CA" sz="1200" b="1" kern="1200" dirty="0">
              <a:latin typeface="Tahoma" panose="020B0604030504040204" pitchFamily="34" charset="0"/>
              <a:ea typeface="Tahoma" panose="020B0604030504040204" pitchFamily="34" charset="0"/>
              <a:cs typeface="Tahoma" panose="020B0604030504040204" pitchFamily="34" charset="0"/>
            </a:rPr>
            <a:t>1. Error Handling Mechanisms</a:t>
          </a:r>
          <a:r>
            <a:rPr lang="en-CA" sz="1200" kern="1200" dirty="0">
              <a:latin typeface="Tahoma" panose="020B0604030504040204" pitchFamily="34" charset="0"/>
              <a:ea typeface="Tahoma" panose="020B0604030504040204" pitchFamily="34" charset="0"/>
              <a:cs typeface="Tahoma" panose="020B0604030504040204" pitchFamily="34" charset="0"/>
            </a:rPr>
            <a:t> – Handles runtime exceptions (EXCEPTION block).</a:t>
          </a:r>
        </a:p>
      </dsp:txBody>
      <dsp:txXfrm>
        <a:off x="634098" y="73139"/>
        <a:ext cx="8485406" cy="452844"/>
      </dsp:txXfrm>
    </dsp:sp>
    <dsp:sp modelId="{2330EDB7-6E05-475B-884A-70944A03F0CB}">
      <dsp:nvSpPr>
        <dsp:cNvPr id="0" name=""/>
        <dsp:cNvSpPr/>
      </dsp:nvSpPr>
      <dsp:spPr>
        <a:xfrm>
          <a:off x="0" y="1070682"/>
          <a:ext cx="12192002" cy="4284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00E2AB-ED94-4F69-8EA3-CEB5AE373EA5}">
      <dsp:nvSpPr>
        <dsp:cNvPr id="0" name=""/>
        <dsp:cNvSpPr/>
      </dsp:nvSpPr>
      <dsp:spPr>
        <a:xfrm>
          <a:off x="609600" y="819762"/>
          <a:ext cx="8534402"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533400">
            <a:lnSpc>
              <a:spcPct val="90000"/>
            </a:lnSpc>
            <a:spcBef>
              <a:spcPct val="0"/>
            </a:spcBef>
            <a:spcAft>
              <a:spcPct val="35000"/>
            </a:spcAft>
            <a:buNone/>
          </a:pPr>
          <a:r>
            <a:rPr lang="en-CA" sz="1200" kern="1200" dirty="0">
              <a:latin typeface="Tahoma" panose="020B0604030504040204" pitchFamily="34" charset="0"/>
              <a:ea typeface="Tahoma" panose="020B0604030504040204" pitchFamily="34" charset="0"/>
              <a:cs typeface="Tahoma" panose="020B0604030504040204" pitchFamily="34" charset="0"/>
            </a:rPr>
            <a:t>2. PL/SQL provides </a:t>
          </a:r>
          <a:r>
            <a:rPr lang="en-CA" sz="1200" b="1" kern="1200" dirty="0">
              <a:latin typeface="Tahoma" panose="020B0604030504040204" pitchFamily="34" charset="0"/>
              <a:ea typeface="Tahoma" panose="020B0604030504040204" pitchFamily="34" charset="0"/>
              <a:cs typeface="Tahoma" panose="020B0604030504040204" pitchFamily="34" charset="0"/>
            </a:rPr>
            <a:t>control structures</a:t>
          </a:r>
          <a:r>
            <a:rPr lang="en-CA" sz="1200" kern="1200" dirty="0">
              <a:latin typeface="Tahoma" panose="020B0604030504040204" pitchFamily="34" charset="0"/>
              <a:ea typeface="Tahoma" panose="020B0604030504040204" pitchFamily="34" charset="0"/>
              <a:cs typeface="Tahoma" panose="020B0604030504040204" pitchFamily="34" charset="0"/>
            </a:rPr>
            <a:t> that allow developers to manage the flow of execution in a program. These include:</a:t>
          </a:r>
        </a:p>
      </dsp:txBody>
      <dsp:txXfrm>
        <a:off x="634098" y="844260"/>
        <a:ext cx="8485406" cy="452844"/>
      </dsp:txXfrm>
    </dsp:sp>
    <dsp:sp modelId="{D95DD2C0-C698-4328-898B-C52B2B78F94E}">
      <dsp:nvSpPr>
        <dsp:cNvPr id="0" name=""/>
        <dsp:cNvSpPr/>
      </dsp:nvSpPr>
      <dsp:spPr>
        <a:xfrm>
          <a:off x="0" y="1841802"/>
          <a:ext cx="12192002" cy="4284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A9CF5E-F63B-4FEE-9456-9EDDC88BE788}">
      <dsp:nvSpPr>
        <dsp:cNvPr id="0" name=""/>
        <dsp:cNvSpPr/>
      </dsp:nvSpPr>
      <dsp:spPr>
        <a:xfrm>
          <a:off x="609600" y="1590881"/>
          <a:ext cx="8534402"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533400">
            <a:lnSpc>
              <a:spcPct val="90000"/>
            </a:lnSpc>
            <a:spcBef>
              <a:spcPct val="0"/>
            </a:spcBef>
            <a:spcAft>
              <a:spcPct val="35000"/>
            </a:spcAft>
            <a:buFont typeface="+mj-lt"/>
            <a:buNone/>
          </a:pPr>
          <a:r>
            <a:rPr lang="en-CA" sz="1200" b="1" kern="1200" dirty="0">
              <a:latin typeface="Tahoma" panose="020B0604030504040204" pitchFamily="34" charset="0"/>
              <a:ea typeface="Tahoma" panose="020B0604030504040204" pitchFamily="34" charset="0"/>
              <a:cs typeface="Tahoma" panose="020B0604030504040204" pitchFamily="34" charset="0"/>
            </a:rPr>
            <a:t>A.  Conditional Statements</a:t>
          </a:r>
          <a:r>
            <a:rPr lang="en-CA" sz="1200" kern="1200" dirty="0">
              <a:latin typeface="Tahoma" panose="020B0604030504040204" pitchFamily="34" charset="0"/>
              <a:ea typeface="Tahoma" panose="020B0604030504040204" pitchFamily="34" charset="0"/>
              <a:cs typeface="Tahoma" panose="020B0604030504040204" pitchFamily="34" charset="0"/>
            </a:rPr>
            <a:t> – Used for decision-making (IF...THEN, CASE).</a:t>
          </a:r>
        </a:p>
      </dsp:txBody>
      <dsp:txXfrm>
        <a:off x="634098" y="1615379"/>
        <a:ext cx="8485406" cy="452844"/>
      </dsp:txXfrm>
    </dsp:sp>
    <dsp:sp modelId="{7DFEB199-BFA7-4A4E-8839-20725777A6E1}">
      <dsp:nvSpPr>
        <dsp:cNvPr id="0" name=""/>
        <dsp:cNvSpPr/>
      </dsp:nvSpPr>
      <dsp:spPr>
        <a:xfrm>
          <a:off x="0" y="2612921"/>
          <a:ext cx="12192002" cy="4284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B0C991-7F3D-4A6D-972D-9E7F55E2C31C}">
      <dsp:nvSpPr>
        <dsp:cNvPr id="0" name=""/>
        <dsp:cNvSpPr/>
      </dsp:nvSpPr>
      <dsp:spPr>
        <a:xfrm>
          <a:off x="609600" y="2362002"/>
          <a:ext cx="8534402"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533400">
            <a:lnSpc>
              <a:spcPct val="90000"/>
            </a:lnSpc>
            <a:spcBef>
              <a:spcPct val="0"/>
            </a:spcBef>
            <a:spcAft>
              <a:spcPct val="35000"/>
            </a:spcAft>
            <a:buFont typeface="+mj-lt"/>
            <a:buNone/>
          </a:pPr>
          <a:r>
            <a:rPr lang="en-CA" sz="1200" b="1" kern="1200" dirty="0">
              <a:latin typeface="Tahoma" panose="020B0604030504040204" pitchFamily="34" charset="0"/>
              <a:ea typeface="Tahoma" panose="020B0604030504040204" pitchFamily="34" charset="0"/>
              <a:cs typeface="Tahoma" panose="020B0604030504040204" pitchFamily="34" charset="0"/>
            </a:rPr>
            <a:t>B.  Iterative Statements</a:t>
          </a:r>
          <a:r>
            <a:rPr lang="en-CA" sz="1200" kern="1200" dirty="0">
              <a:latin typeface="Tahoma" panose="020B0604030504040204" pitchFamily="34" charset="0"/>
              <a:ea typeface="Tahoma" panose="020B0604030504040204" pitchFamily="34" charset="0"/>
              <a:cs typeface="Tahoma" panose="020B0604030504040204" pitchFamily="34" charset="0"/>
            </a:rPr>
            <a:t> – Used for looping (LOOP, WHILE, FOR).</a:t>
          </a:r>
        </a:p>
      </dsp:txBody>
      <dsp:txXfrm>
        <a:off x="634098" y="2386500"/>
        <a:ext cx="8485406" cy="452844"/>
      </dsp:txXfrm>
    </dsp:sp>
    <dsp:sp modelId="{885B0F80-C8AA-4B9F-9F4C-0CD6AFF5FF10}">
      <dsp:nvSpPr>
        <dsp:cNvPr id="0" name=""/>
        <dsp:cNvSpPr/>
      </dsp:nvSpPr>
      <dsp:spPr>
        <a:xfrm>
          <a:off x="0" y="3384042"/>
          <a:ext cx="12192002" cy="4284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E97ECC-7DD0-46F0-B615-6C80CCF08A06}">
      <dsp:nvSpPr>
        <dsp:cNvPr id="0" name=""/>
        <dsp:cNvSpPr/>
      </dsp:nvSpPr>
      <dsp:spPr>
        <a:xfrm>
          <a:off x="609600" y="3133122"/>
          <a:ext cx="8534402"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533400">
            <a:lnSpc>
              <a:spcPct val="90000"/>
            </a:lnSpc>
            <a:spcBef>
              <a:spcPct val="0"/>
            </a:spcBef>
            <a:spcAft>
              <a:spcPct val="35000"/>
            </a:spcAft>
            <a:buFont typeface="+mj-lt"/>
            <a:buNone/>
          </a:pPr>
          <a:r>
            <a:rPr lang="en-CA" sz="1200" b="1" kern="1200" dirty="0">
              <a:latin typeface="Tahoma" panose="020B0604030504040204" pitchFamily="34" charset="0"/>
              <a:ea typeface="Tahoma" panose="020B0604030504040204" pitchFamily="34" charset="0"/>
              <a:cs typeface="Tahoma" panose="020B0604030504040204" pitchFamily="34" charset="0"/>
            </a:rPr>
            <a:t>C.  Sequential Control</a:t>
          </a:r>
          <a:r>
            <a:rPr lang="en-CA" sz="1200" kern="1200" dirty="0">
              <a:latin typeface="Tahoma" panose="020B0604030504040204" pitchFamily="34" charset="0"/>
              <a:ea typeface="Tahoma" panose="020B0604030504040204" pitchFamily="34" charset="0"/>
              <a:cs typeface="Tahoma" panose="020B0604030504040204" pitchFamily="34" charset="0"/>
            </a:rPr>
            <a:t> – Controls the order of execution (GOTO, NULL).</a:t>
          </a:r>
        </a:p>
      </dsp:txBody>
      <dsp:txXfrm>
        <a:off x="634098" y="3157620"/>
        <a:ext cx="8485406"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72BB9-913B-424C-82E6-DCE9DBC84DC1}">
      <dsp:nvSpPr>
        <dsp:cNvPr id="0" name=""/>
        <dsp:cNvSpPr/>
      </dsp:nvSpPr>
      <dsp:spPr>
        <a:xfrm>
          <a:off x="0" y="289217"/>
          <a:ext cx="9173028" cy="4284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CCF852-34C6-4A8F-A228-46F7092C6F1F}">
      <dsp:nvSpPr>
        <dsp:cNvPr id="0" name=""/>
        <dsp:cNvSpPr/>
      </dsp:nvSpPr>
      <dsp:spPr>
        <a:xfrm>
          <a:off x="458651" y="38297"/>
          <a:ext cx="6421119"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2703" tIns="0" rIns="242703"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rPr>
            <a:t>Two Types of Exceptions in PL/SQL</a:t>
          </a:r>
          <a:endParaRPr lang="en-US" sz="1200" kern="1200" dirty="0"/>
        </a:p>
      </dsp:txBody>
      <dsp:txXfrm>
        <a:off x="483149" y="62795"/>
        <a:ext cx="6372123" cy="452844"/>
      </dsp:txXfrm>
    </dsp:sp>
    <dsp:sp modelId="{C6726D86-6EFB-41A7-A2D7-F4FD8F32E743}">
      <dsp:nvSpPr>
        <dsp:cNvPr id="0" name=""/>
        <dsp:cNvSpPr/>
      </dsp:nvSpPr>
      <dsp:spPr>
        <a:xfrm>
          <a:off x="0" y="1060337"/>
          <a:ext cx="9173028" cy="615825"/>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929" tIns="354076" rIns="711929" bIns="85344" numCol="1" spcCol="1270" anchor="t" anchorCtr="0">
          <a:noAutofit/>
        </a:bodyPr>
        <a:lstStyle/>
        <a:p>
          <a:pPr marL="114300" lvl="1" indent="-114300" algn="l" defTabSz="533400">
            <a:lnSpc>
              <a:spcPct val="90000"/>
            </a:lnSpc>
            <a:spcBef>
              <a:spcPct val="0"/>
            </a:spcBef>
            <a:spcAft>
              <a:spcPct val="15000"/>
            </a:spcAft>
            <a:buClrTx/>
            <a:buSzTx/>
            <a:buFontTx/>
            <a:buNone/>
          </a:pPr>
          <a:r>
            <a:rPr kumimoji="0" lang="en-US" altLang="en-US" sz="1200" b="0"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rPr>
            <a:t>These are predefined exceptions raised automatically by the system when an error occurs.</a:t>
          </a:r>
          <a:endParaRPr lang="en-US" sz="1200" kern="1200" dirty="0"/>
        </a:p>
      </dsp:txBody>
      <dsp:txXfrm>
        <a:off x="0" y="1060337"/>
        <a:ext cx="9173028" cy="615825"/>
      </dsp:txXfrm>
    </dsp:sp>
    <dsp:sp modelId="{E32149BA-8F7E-4BB7-B76D-0A1F82615955}">
      <dsp:nvSpPr>
        <dsp:cNvPr id="0" name=""/>
        <dsp:cNvSpPr/>
      </dsp:nvSpPr>
      <dsp:spPr>
        <a:xfrm>
          <a:off x="458651" y="809417"/>
          <a:ext cx="6421119"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2703" tIns="0" rIns="242703"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solidFill>
                <a:schemeClr val="tx1"/>
              </a:solidFill>
              <a:effectLst/>
              <a:latin typeface="Tahoma" panose="020B0604030504040204" pitchFamily="34" charset="0"/>
              <a:ea typeface="Tahoma" panose="020B0604030504040204" pitchFamily="34" charset="0"/>
              <a:cs typeface="Tahoma" panose="020B0604030504040204" pitchFamily="34" charset="0"/>
            </a:rPr>
            <a:t>System-defined exceptions or </a:t>
          </a:r>
          <a:r>
            <a:rPr lang="en-CA" sz="1200" b="1" i="0" kern="1200" dirty="0">
              <a:solidFill>
                <a:schemeClr val="tx1"/>
              </a:solidFill>
              <a:effectLst/>
              <a:latin typeface="Tahoma" panose="020B0604030504040204" pitchFamily="34" charset="0"/>
              <a:ea typeface="Tahoma" panose="020B0604030504040204" pitchFamily="34" charset="0"/>
              <a:cs typeface="Tahoma" panose="020B0604030504040204" pitchFamily="34" charset="0"/>
            </a:rPr>
            <a:t>Named system exceptions</a:t>
          </a:r>
          <a:endParaRPr lang="en-US" sz="1200" b="1"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dsp:txBody>
      <dsp:txXfrm>
        <a:off x="483149" y="833915"/>
        <a:ext cx="6372123" cy="452844"/>
      </dsp:txXfrm>
    </dsp:sp>
    <dsp:sp modelId="{82D54039-85EC-42DE-8EB2-F673F59674DB}">
      <dsp:nvSpPr>
        <dsp:cNvPr id="0" name=""/>
        <dsp:cNvSpPr/>
      </dsp:nvSpPr>
      <dsp:spPr>
        <a:xfrm>
          <a:off x="0" y="2018882"/>
          <a:ext cx="9173028" cy="615825"/>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929" tIns="354076" rIns="711929" bIns="85344" numCol="1" spcCol="1270" anchor="t" anchorCtr="0">
          <a:noAutofit/>
        </a:bodyPr>
        <a:lstStyle/>
        <a:p>
          <a:pPr marL="114300" lvl="1" indent="-114300" algn="l" defTabSz="533400">
            <a:lnSpc>
              <a:spcPct val="90000"/>
            </a:lnSpc>
            <a:spcBef>
              <a:spcPct val="0"/>
            </a:spcBef>
            <a:spcAft>
              <a:spcPct val="15000"/>
            </a:spcAft>
            <a:buNone/>
          </a:pPr>
          <a:r>
            <a:rPr kumimoji="0" lang="en-US" altLang="en-US" sz="1200" b="0"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rPr>
            <a:t>These are explicitly declared and raised by the programmer using the RAISE statement.</a:t>
          </a:r>
        </a:p>
      </dsp:txBody>
      <dsp:txXfrm>
        <a:off x="0" y="2018882"/>
        <a:ext cx="9173028" cy="615825"/>
      </dsp:txXfrm>
    </dsp:sp>
    <dsp:sp modelId="{AC5AD4E8-C7BE-49A2-906C-8266C3EB44CB}">
      <dsp:nvSpPr>
        <dsp:cNvPr id="0" name=""/>
        <dsp:cNvSpPr/>
      </dsp:nvSpPr>
      <dsp:spPr>
        <a:xfrm>
          <a:off x="458651" y="1767962"/>
          <a:ext cx="6421119" cy="50184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2703" tIns="0" rIns="242703" bIns="0" numCol="1" spcCol="1270" anchor="ctr" anchorCtr="0">
          <a:noAutofit/>
        </a:bodyPr>
        <a:lstStyle/>
        <a:p>
          <a:pPr marL="0" lvl="0" indent="0" algn="l" defTabSz="533400">
            <a:lnSpc>
              <a:spcPct val="90000"/>
            </a:lnSpc>
            <a:spcBef>
              <a:spcPct val="0"/>
            </a:spcBef>
            <a:spcAft>
              <a:spcPct val="35000"/>
            </a:spcAft>
            <a:buNone/>
          </a:pPr>
          <a:r>
            <a:rPr kumimoji="0" lang="en-US" altLang="en-US" sz="1200" b="1"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rPr>
            <a:t>User-defined exceptions or Unnamed System exceptions</a:t>
          </a:r>
          <a:endParaRPr kumimoji="0" lang="en-US" altLang="en-US" sz="1200" b="0"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endParaRPr>
        </a:p>
      </dsp:txBody>
      <dsp:txXfrm>
        <a:off x="483149" y="1792460"/>
        <a:ext cx="6372123" cy="4528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72BB9-913B-424C-82E6-DCE9DBC84DC1}">
      <dsp:nvSpPr>
        <dsp:cNvPr id="0" name=""/>
        <dsp:cNvSpPr/>
      </dsp:nvSpPr>
      <dsp:spPr>
        <a:xfrm>
          <a:off x="0" y="237602"/>
          <a:ext cx="7721600" cy="3780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CCF852-34C6-4A8F-A228-46F7092C6F1F}">
      <dsp:nvSpPr>
        <dsp:cNvPr id="0" name=""/>
        <dsp:cNvSpPr/>
      </dsp:nvSpPr>
      <dsp:spPr>
        <a:xfrm>
          <a:off x="386080" y="16202"/>
          <a:ext cx="5405120" cy="44280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301" tIns="0" rIns="204301"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Steps to Handle User-Defined Exceptions</a:t>
          </a:r>
          <a:endParaRPr lang="en-US" sz="1200" kern="1200" dirty="0"/>
        </a:p>
      </dsp:txBody>
      <dsp:txXfrm>
        <a:off x="407696" y="37818"/>
        <a:ext cx="5361888" cy="399568"/>
      </dsp:txXfrm>
    </dsp:sp>
    <dsp:sp modelId="{2D417569-5BB0-426B-B272-BAF986E4C5BD}">
      <dsp:nvSpPr>
        <dsp:cNvPr id="0" name=""/>
        <dsp:cNvSpPr/>
      </dsp:nvSpPr>
      <dsp:spPr>
        <a:xfrm>
          <a:off x="0" y="918002"/>
          <a:ext cx="7721600" cy="3780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D899BF-FAF0-4B78-A431-2CDBB595C721}">
      <dsp:nvSpPr>
        <dsp:cNvPr id="0" name=""/>
        <dsp:cNvSpPr/>
      </dsp:nvSpPr>
      <dsp:spPr>
        <a:xfrm>
          <a:off x="386080" y="696602"/>
          <a:ext cx="5405120" cy="44280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301" tIns="0" rIns="204301"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 Declare the exception.</a:t>
          </a:r>
        </a:p>
      </dsp:txBody>
      <dsp:txXfrm>
        <a:off x="407696" y="718218"/>
        <a:ext cx="5361888" cy="399568"/>
      </dsp:txXfrm>
    </dsp:sp>
    <dsp:sp modelId="{2F9F1B33-E296-4FC5-8ED4-5DBBB653DBB1}">
      <dsp:nvSpPr>
        <dsp:cNvPr id="0" name=""/>
        <dsp:cNvSpPr/>
      </dsp:nvSpPr>
      <dsp:spPr>
        <a:xfrm>
          <a:off x="0" y="1598402"/>
          <a:ext cx="7721600" cy="3780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EA88AA-A295-4FB8-BD21-BF8A8F0D257C}">
      <dsp:nvSpPr>
        <dsp:cNvPr id="0" name=""/>
        <dsp:cNvSpPr/>
      </dsp:nvSpPr>
      <dsp:spPr>
        <a:xfrm>
          <a:off x="386080" y="1377002"/>
          <a:ext cx="5405120" cy="44280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301" tIns="0" rIns="204301"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 Raise the exception using the RAISE statement.</a:t>
          </a:r>
        </a:p>
      </dsp:txBody>
      <dsp:txXfrm>
        <a:off x="407696" y="1398618"/>
        <a:ext cx="5361888" cy="399568"/>
      </dsp:txXfrm>
    </dsp:sp>
    <dsp:sp modelId="{E3FB6B0D-7EE9-4B0A-B76A-4F5E684105D1}">
      <dsp:nvSpPr>
        <dsp:cNvPr id="0" name=""/>
        <dsp:cNvSpPr/>
      </dsp:nvSpPr>
      <dsp:spPr>
        <a:xfrm>
          <a:off x="0" y="2278802"/>
          <a:ext cx="7721600" cy="378000"/>
        </a:xfrm>
        <a:prstGeom prst="rect">
          <a:avLst/>
        </a:prstGeom>
        <a:solidFill>
          <a:schemeClr val="accent1">
            <a:alpha val="90000"/>
            <a:tint val="4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08B9E9-D6BB-4B8A-B650-AC2154CE5153}">
      <dsp:nvSpPr>
        <dsp:cNvPr id="0" name=""/>
        <dsp:cNvSpPr/>
      </dsp:nvSpPr>
      <dsp:spPr>
        <a:xfrm>
          <a:off x="386080" y="2057402"/>
          <a:ext cx="5405120" cy="44280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301" tIns="0" rIns="204301"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 Handle the exception in the EXCEPTION block.</a:t>
          </a:r>
        </a:p>
      </dsp:txBody>
      <dsp:txXfrm>
        <a:off x="407696" y="2079018"/>
        <a:ext cx="5361888" cy="3995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8112EE-D370-4A15-B0BB-6A88CD675CC4}">
      <dsp:nvSpPr>
        <dsp:cNvPr id="0" name=""/>
        <dsp:cNvSpPr/>
      </dsp:nvSpPr>
      <dsp:spPr>
        <a:xfrm>
          <a:off x="0" y="0"/>
          <a:ext cx="1173264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AAD353-F342-49C7-A9AD-7297C006BA6A}">
      <dsp:nvSpPr>
        <dsp:cNvPr id="0" name=""/>
        <dsp:cNvSpPr/>
      </dsp:nvSpPr>
      <dsp:spPr>
        <a:xfrm>
          <a:off x="0" y="0"/>
          <a:ext cx="2346529" cy="247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Summary</a:t>
          </a:r>
          <a:endParaRPr lang="en-US" sz="1200" kern="1200" dirty="0"/>
        </a:p>
      </dsp:txBody>
      <dsp:txXfrm>
        <a:off x="0" y="0"/>
        <a:ext cx="2346529" cy="2470567"/>
      </dsp:txXfrm>
    </dsp:sp>
    <dsp:sp modelId="{A97DA956-2B9C-4CCF-B850-9ABED57A142F}">
      <dsp:nvSpPr>
        <dsp:cNvPr id="0" name=""/>
        <dsp:cNvSpPr/>
      </dsp:nvSpPr>
      <dsp:spPr>
        <a:xfrm>
          <a:off x="2522518" y="19452"/>
          <a:ext cx="9210127" cy="389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 provides </a:t>
          </a:r>
          <a:r>
            <a:rPr kumimoji="0" lang="en-US" altLang="en-US" sz="1200" b="1"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exception handling</a:t>
          </a: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deal with errors efficiently.</a:t>
          </a:r>
        </a:p>
      </dsp:txBody>
      <dsp:txXfrm>
        <a:off x="2522518" y="19452"/>
        <a:ext cx="9210127" cy="389041"/>
      </dsp:txXfrm>
    </dsp:sp>
    <dsp:sp modelId="{C1B3D6A7-860F-4610-8BBB-9632E441287E}">
      <dsp:nvSpPr>
        <dsp:cNvPr id="0" name=""/>
        <dsp:cNvSpPr/>
      </dsp:nvSpPr>
      <dsp:spPr>
        <a:xfrm>
          <a:off x="2346529" y="408494"/>
          <a:ext cx="9386116"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5FE12A-CF3C-41CF-9D99-1E760EFCBE38}">
      <dsp:nvSpPr>
        <dsp:cNvPr id="0" name=""/>
        <dsp:cNvSpPr/>
      </dsp:nvSpPr>
      <dsp:spPr>
        <a:xfrm>
          <a:off x="2522518" y="427946"/>
          <a:ext cx="9210127" cy="389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There are </a:t>
          </a:r>
          <a:r>
            <a:rPr kumimoji="0" lang="en-US" altLang="en-US" sz="1200" b="1"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system-defined exceptions</a:t>
          </a: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(predefined) and </a:t>
          </a:r>
          <a:r>
            <a:rPr kumimoji="0" lang="en-US" altLang="en-US" sz="1200" b="1"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user-defined exceptions</a:t>
          </a: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(declared by the user).</a:t>
          </a:r>
        </a:p>
      </dsp:txBody>
      <dsp:txXfrm>
        <a:off x="2522518" y="427946"/>
        <a:ext cx="9210127" cy="389041"/>
      </dsp:txXfrm>
    </dsp:sp>
    <dsp:sp modelId="{970AA877-EFC7-4DB3-A6B8-58A47636F55F}">
      <dsp:nvSpPr>
        <dsp:cNvPr id="0" name=""/>
        <dsp:cNvSpPr/>
      </dsp:nvSpPr>
      <dsp:spPr>
        <a:xfrm>
          <a:off x="2346529" y="816988"/>
          <a:ext cx="9386116"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890B2F-CF06-4ABA-A74A-DC0BFCDC6240}">
      <dsp:nvSpPr>
        <dsp:cNvPr id="0" name=""/>
        <dsp:cNvSpPr/>
      </dsp:nvSpPr>
      <dsp:spPr>
        <a:xfrm>
          <a:off x="2522518" y="836440"/>
          <a:ext cx="9210127" cy="389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0" lang="en-US" altLang="en-US" sz="1200" b="0" i="0" u="none" strike="noStrike" kern="1200" cap="none" normalizeH="0" baseline="0" dirty="0">
              <a:ln>
                <a:noFill/>
              </a:ln>
              <a:solidFill>
                <a:schemeClr val="tx1"/>
              </a:solidFill>
              <a:effectLst/>
              <a:highlight>
                <a:srgbClr val="C0C0C0"/>
              </a:highlight>
              <a:latin typeface="Tahoma" panose="020B0604030504040204" pitchFamily="34" charset="0"/>
              <a:ea typeface="Tahoma" panose="020B0604030504040204" pitchFamily="34" charset="0"/>
              <a:cs typeface="Tahoma" panose="020B0604030504040204" pitchFamily="34" charset="0"/>
            </a:rPr>
            <a:t>RAISE</a:t>
          </a: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is used to trigger user-defined exceptions.</a:t>
          </a:r>
        </a:p>
      </dsp:txBody>
      <dsp:txXfrm>
        <a:off x="2522518" y="836440"/>
        <a:ext cx="9210127" cy="389041"/>
      </dsp:txXfrm>
    </dsp:sp>
    <dsp:sp modelId="{905B09F3-14EF-4BB8-A441-62295E4E311C}">
      <dsp:nvSpPr>
        <dsp:cNvPr id="0" name=""/>
        <dsp:cNvSpPr/>
      </dsp:nvSpPr>
      <dsp:spPr>
        <a:xfrm>
          <a:off x="2346529" y="1225482"/>
          <a:ext cx="9386116"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B622E9-A434-4B87-ACA7-CB8CFB8BF4FF}">
      <dsp:nvSpPr>
        <dsp:cNvPr id="0" name=""/>
        <dsp:cNvSpPr/>
      </dsp:nvSpPr>
      <dsp:spPr>
        <a:xfrm>
          <a:off x="2522518" y="1244934"/>
          <a:ext cx="9210127" cy="389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0" lang="en-US" altLang="en-US" sz="1200" b="0" i="0" u="none" strike="noStrike" kern="1200" cap="none" normalizeH="0" baseline="0" dirty="0">
              <a:ln>
                <a:noFill/>
              </a:ln>
              <a:solidFill>
                <a:schemeClr val="tx1"/>
              </a:solidFill>
              <a:effectLst/>
              <a:highlight>
                <a:srgbClr val="C0C0C0"/>
              </a:highlight>
              <a:latin typeface="Tahoma" panose="020B0604030504040204" pitchFamily="34" charset="0"/>
              <a:ea typeface="Tahoma" panose="020B0604030504040204" pitchFamily="34" charset="0"/>
              <a:cs typeface="Tahoma" panose="020B0604030504040204" pitchFamily="34" charset="0"/>
            </a:rPr>
            <a:t>PRAGMA EXCEPTION_INIT </a:t>
          </a: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links a system error with a user-defined exception.</a:t>
          </a:r>
        </a:p>
      </dsp:txBody>
      <dsp:txXfrm>
        <a:off x="2522518" y="1244934"/>
        <a:ext cx="9210127" cy="389041"/>
      </dsp:txXfrm>
    </dsp:sp>
    <dsp:sp modelId="{3753AA17-6269-4EB2-AD71-3E3A3C8F0DAC}">
      <dsp:nvSpPr>
        <dsp:cNvPr id="0" name=""/>
        <dsp:cNvSpPr/>
      </dsp:nvSpPr>
      <dsp:spPr>
        <a:xfrm>
          <a:off x="2346529" y="1633976"/>
          <a:ext cx="9386116"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C69C53-BBA5-48AD-A059-92785164016A}">
      <dsp:nvSpPr>
        <dsp:cNvPr id="0" name=""/>
        <dsp:cNvSpPr/>
      </dsp:nvSpPr>
      <dsp:spPr>
        <a:xfrm>
          <a:off x="2522518" y="1653428"/>
          <a:ext cx="9210127" cy="389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0" lang="en-US" altLang="en-US" sz="1200" b="0" i="0" u="none" strike="noStrike" kern="1200" cap="none" normalizeH="0" baseline="0" dirty="0">
              <a:ln>
                <a:noFill/>
              </a:ln>
              <a:solidFill>
                <a:schemeClr val="tx1"/>
              </a:solidFill>
              <a:effectLst/>
              <a:highlight>
                <a:srgbClr val="C0C0C0"/>
              </a:highlight>
              <a:latin typeface="Tahoma" panose="020B0604030504040204" pitchFamily="34" charset="0"/>
              <a:ea typeface="Tahoma" panose="020B0604030504040204" pitchFamily="34" charset="0"/>
              <a:cs typeface="Tahoma" panose="020B0604030504040204" pitchFamily="34" charset="0"/>
            </a:rPr>
            <a:t>RAISE_APPLICATION_ERROR </a:t>
          </a: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allows generating custom error messages.</a:t>
          </a:r>
        </a:p>
      </dsp:txBody>
      <dsp:txXfrm>
        <a:off x="2522518" y="1653428"/>
        <a:ext cx="9210127" cy="389041"/>
      </dsp:txXfrm>
    </dsp:sp>
    <dsp:sp modelId="{79D30574-C358-4F5F-B397-359FCED626DE}">
      <dsp:nvSpPr>
        <dsp:cNvPr id="0" name=""/>
        <dsp:cNvSpPr/>
      </dsp:nvSpPr>
      <dsp:spPr>
        <a:xfrm>
          <a:off x="2346529" y="2042470"/>
          <a:ext cx="9386116"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A9175B-B6CA-4BE8-A840-260A781BB87E}">
      <dsp:nvSpPr>
        <dsp:cNvPr id="0" name=""/>
        <dsp:cNvSpPr/>
      </dsp:nvSpPr>
      <dsp:spPr>
        <a:xfrm>
          <a:off x="2522518" y="2061922"/>
          <a:ext cx="9210127" cy="389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0" lang="en-US" altLang="en-US" sz="1200" b="0" i="0" u="none" strike="noStrike" kern="1200"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With proper exception handling, PL/SQL programs become more robust and reliable.</a:t>
          </a:r>
        </a:p>
      </dsp:txBody>
      <dsp:txXfrm>
        <a:off x="2522518" y="2061922"/>
        <a:ext cx="9210127" cy="389041"/>
      </dsp:txXfrm>
    </dsp:sp>
    <dsp:sp modelId="{C722F842-4247-43E2-B131-9248F0323E1F}">
      <dsp:nvSpPr>
        <dsp:cNvPr id="0" name=""/>
        <dsp:cNvSpPr/>
      </dsp:nvSpPr>
      <dsp:spPr>
        <a:xfrm>
          <a:off x="2346529" y="2450964"/>
          <a:ext cx="9386116"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97D2CA-D3B7-4CB1-9D24-C9812B22FAA4}">
      <dsp:nvSpPr>
        <dsp:cNvPr id="0" name=""/>
        <dsp:cNvSpPr/>
      </dsp:nvSpPr>
      <dsp:spPr>
        <a:xfrm>
          <a:off x="6799474" y="846171"/>
          <a:ext cx="2034932" cy="2035036"/>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154EC-23D0-446E-A9AA-BC3106AA4E99}">
      <dsp:nvSpPr>
        <dsp:cNvPr id="0" name=""/>
        <dsp:cNvSpPr/>
      </dsp:nvSpPr>
      <dsp:spPr>
        <a:xfrm>
          <a:off x="6867537" y="914018"/>
          <a:ext cx="1899677" cy="1899343"/>
        </a:xfrm>
        <a:prstGeom prst="ellips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kumimoji="0" lang="en-US" altLang="en-US" sz="1200" b="0" i="0" u="none" strike="noStrike" kern="1200" cap="none" normalizeH="0" baseline="0">
              <a:ln/>
              <a:effectLst/>
              <a:latin typeface="Tahoma" panose="020B0604030504040204" pitchFamily="34" charset="0"/>
              <a:ea typeface="Tahoma" panose="020B0604030504040204" pitchFamily="34" charset="0"/>
              <a:cs typeface="Tahoma" panose="020B0604030504040204" pitchFamily="34" charset="0"/>
            </a:rPr>
            <a:t>It is often used in conjunction with SQLCODE and SQLERRM to log or display detailed error information.</a:t>
          </a:r>
          <a:endParaRPr kumimoji="0" lang="en-US" altLang="en-US" sz="1200" b="0"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endParaRPr>
        </a:p>
      </dsp:txBody>
      <dsp:txXfrm>
        <a:off x="7138920" y="1185404"/>
        <a:ext cx="1356912" cy="1356572"/>
      </dsp:txXfrm>
    </dsp:sp>
    <dsp:sp modelId="{9B50D729-2E26-4C0F-AD2A-8898E11A97C6}">
      <dsp:nvSpPr>
        <dsp:cNvPr id="0" name=""/>
        <dsp:cNvSpPr/>
      </dsp:nvSpPr>
      <dsp:spPr>
        <a:xfrm rot="2700000">
          <a:off x="4687735" y="846028"/>
          <a:ext cx="2034965" cy="2034965"/>
        </a:xfrm>
        <a:prstGeom prst="teardrop">
          <a:avLst>
            <a:gd name="adj" fmla="val 100000"/>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751EAC-A5DC-43EB-9E11-0DEB2A59E2CD}">
      <dsp:nvSpPr>
        <dsp:cNvPr id="0" name=""/>
        <dsp:cNvSpPr/>
      </dsp:nvSpPr>
      <dsp:spPr>
        <a:xfrm>
          <a:off x="4764541" y="914018"/>
          <a:ext cx="1899677" cy="1899343"/>
        </a:xfrm>
        <a:prstGeom prst="ellipse">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kumimoji="0" lang="en-US" altLang="en-US" sz="1200" b="0" i="0" u="none" strike="noStrike" kern="1200" cap="none" normalizeH="0" baseline="0">
              <a:ln/>
              <a:effectLst/>
              <a:latin typeface="Tahoma" panose="020B0604030504040204" pitchFamily="34" charset="0"/>
              <a:ea typeface="Tahoma" panose="020B0604030504040204" pitchFamily="34" charset="0"/>
              <a:cs typeface="Tahoma" panose="020B0604030504040204" pitchFamily="34" charset="0"/>
            </a:rPr>
            <a:t>It must be the last exception handler in the EXCEPTION block, as no further exception clauses will be evaluated once it is encountered.</a:t>
          </a:r>
          <a:endParaRPr kumimoji="0" lang="en-US" altLang="en-US" sz="1200" b="0"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endParaRPr>
        </a:p>
      </dsp:txBody>
      <dsp:txXfrm>
        <a:off x="5035924" y="1185404"/>
        <a:ext cx="1356912" cy="1356572"/>
      </dsp:txXfrm>
    </dsp:sp>
    <dsp:sp modelId="{378CA076-EFED-4B47-88F0-068E05A8D422}">
      <dsp:nvSpPr>
        <dsp:cNvPr id="0" name=""/>
        <dsp:cNvSpPr/>
      </dsp:nvSpPr>
      <dsp:spPr>
        <a:xfrm rot="2700000">
          <a:off x="2593464" y="846028"/>
          <a:ext cx="2034965" cy="2034965"/>
        </a:xfrm>
        <a:prstGeom prst="teardrop">
          <a:avLst>
            <a:gd name="adj" fmla="val 100000"/>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461C7C-77A2-41F1-A189-847BD956D11E}">
      <dsp:nvSpPr>
        <dsp:cNvPr id="0" name=""/>
        <dsp:cNvSpPr/>
      </dsp:nvSpPr>
      <dsp:spPr>
        <a:xfrm>
          <a:off x="2661545" y="914018"/>
          <a:ext cx="1899677" cy="1899343"/>
        </a:xfrm>
        <a:prstGeom prst="ellipse">
          <a:avLst/>
        </a:prstGeom>
        <a:solidFill>
          <a:schemeClr val="lt1">
            <a:alpha val="90000"/>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ClrTx/>
            <a:buSzTx/>
            <a:buFontTx/>
            <a:buNone/>
          </a:pPr>
          <a:r>
            <a:rPr kumimoji="0" lang="en-US" altLang="en-US" sz="1200" b="0" i="0" u="none" strike="noStrike" kern="1200" cap="none" normalizeH="0" baseline="0">
              <a:ln/>
              <a:effectLst/>
              <a:latin typeface="Tahoma" panose="020B0604030504040204" pitchFamily="34" charset="0"/>
              <a:ea typeface="Tahoma" panose="020B0604030504040204" pitchFamily="34" charset="0"/>
              <a:cs typeface="Tahoma" panose="020B0604030504040204" pitchFamily="34" charset="0"/>
            </a:rPr>
            <a:t>It catches all exceptions that are not handled by any specific WHEN clause.</a:t>
          </a:r>
          <a:endParaRPr lang="en-US" sz="1200" kern="1200" dirty="0">
            <a:latin typeface="Tahoma" panose="020B0604030504040204" pitchFamily="34" charset="0"/>
            <a:ea typeface="Tahoma" panose="020B0604030504040204" pitchFamily="34" charset="0"/>
            <a:cs typeface="Tahoma" panose="020B0604030504040204" pitchFamily="34" charset="0"/>
          </a:endParaRPr>
        </a:p>
      </dsp:txBody>
      <dsp:txXfrm>
        <a:off x="2932927" y="1185404"/>
        <a:ext cx="1356912" cy="1356572"/>
      </dsp:txXfrm>
    </dsp:sp>
    <dsp:sp modelId="{07041F37-0AB3-4DDA-8A11-D6A6CD1A49F7}">
      <dsp:nvSpPr>
        <dsp:cNvPr id="0" name=""/>
        <dsp:cNvSpPr/>
      </dsp:nvSpPr>
      <dsp:spPr>
        <a:xfrm rot="2700000">
          <a:off x="490468" y="846028"/>
          <a:ext cx="2034965" cy="2034965"/>
        </a:xfrm>
        <a:prstGeom prst="teardrop">
          <a:avLst>
            <a:gd name="adj" fmla="val 10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877250-B0E4-4373-9FB5-323494FF84AD}">
      <dsp:nvSpPr>
        <dsp:cNvPr id="0" name=""/>
        <dsp:cNvSpPr/>
      </dsp:nvSpPr>
      <dsp:spPr>
        <a:xfrm>
          <a:off x="558549" y="914018"/>
          <a:ext cx="1899677" cy="1899343"/>
        </a:xfrm>
        <a:prstGeom prst="ellipse">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Tahoma" panose="020B0604030504040204" pitchFamily="34" charset="0"/>
              <a:ea typeface="Tahoma" panose="020B0604030504040204" pitchFamily="34" charset="0"/>
              <a:cs typeface="Tahoma" panose="020B0604030504040204" pitchFamily="34" charset="0"/>
            </a:rPr>
            <a:t>Key Points about WHEN OTHERS:</a:t>
          </a:r>
          <a:endParaRPr lang="en-US" sz="1200" b="1" kern="1200" dirty="0">
            <a:latin typeface="Tahoma" panose="020B0604030504040204" pitchFamily="34" charset="0"/>
            <a:ea typeface="Tahoma" panose="020B0604030504040204" pitchFamily="34" charset="0"/>
            <a:cs typeface="Tahoma" panose="020B0604030504040204" pitchFamily="34" charset="0"/>
          </a:endParaRPr>
        </a:p>
      </dsp:txBody>
      <dsp:txXfrm>
        <a:off x="829931" y="1185404"/>
        <a:ext cx="1356912" cy="135657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AC0CFF-7F80-411B-AD86-43F81DF70030}">
      <dsp:nvSpPr>
        <dsp:cNvPr id="0" name=""/>
        <dsp:cNvSpPr/>
      </dsp:nvSpPr>
      <dsp:spPr>
        <a:xfrm>
          <a:off x="0" y="0"/>
          <a:ext cx="5826703"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3F941E-262E-472D-90EE-EEC49840DF8F}">
      <dsp:nvSpPr>
        <dsp:cNvPr id="0" name=""/>
        <dsp:cNvSpPr/>
      </dsp:nvSpPr>
      <dsp:spPr>
        <a:xfrm>
          <a:off x="0" y="0"/>
          <a:ext cx="1165340" cy="2464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latin typeface="Tahoma" panose="020B0604030504040204" pitchFamily="34" charset="0"/>
              <a:ea typeface="Tahoma" panose="020B0604030504040204" pitchFamily="34" charset="0"/>
              <a:cs typeface="Tahoma" panose="020B0604030504040204" pitchFamily="34" charset="0"/>
            </a:rPr>
            <a:t>Best Practices:</a:t>
          </a:r>
        </a:p>
      </dsp:txBody>
      <dsp:txXfrm>
        <a:off x="0" y="0"/>
        <a:ext cx="1165340" cy="2464410"/>
      </dsp:txXfrm>
    </dsp:sp>
    <dsp:sp modelId="{FFF15478-998E-4C4E-8DF8-C0D4D0FEB4B4}">
      <dsp:nvSpPr>
        <dsp:cNvPr id="0" name=""/>
        <dsp:cNvSpPr/>
      </dsp:nvSpPr>
      <dsp:spPr>
        <a:xfrm>
          <a:off x="1252741" y="38506"/>
          <a:ext cx="4573961" cy="770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CA" sz="1200" b="1" kern="1200" dirty="0">
              <a:latin typeface="Tahoma" panose="020B0604030504040204" pitchFamily="34" charset="0"/>
              <a:ea typeface="Tahoma" panose="020B0604030504040204" pitchFamily="34" charset="0"/>
              <a:cs typeface="Tahoma" panose="020B0604030504040204" pitchFamily="34" charset="0"/>
            </a:rPr>
            <a:t>Use sparingly: </a:t>
          </a:r>
          <a:r>
            <a:rPr lang="en-CA" sz="1200" kern="1200" dirty="0">
              <a:latin typeface="Tahoma" panose="020B0604030504040204" pitchFamily="34" charset="0"/>
              <a:ea typeface="Tahoma" panose="020B0604030504040204" pitchFamily="34" charset="0"/>
              <a:cs typeface="Tahoma" panose="020B0604030504040204" pitchFamily="34" charset="0"/>
            </a:rPr>
            <a:t>Only use WHEN OTHERS when you cannot predict all possible exceptions or when you're handling them in a generic way (e.g., logging them for later debugging).</a:t>
          </a:r>
        </a:p>
      </dsp:txBody>
      <dsp:txXfrm>
        <a:off x="1252741" y="38506"/>
        <a:ext cx="4573961" cy="770128"/>
      </dsp:txXfrm>
    </dsp:sp>
    <dsp:sp modelId="{14E7EB0F-8C84-4C49-AE62-5C4403FC2433}">
      <dsp:nvSpPr>
        <dsp:cNvPr id="0" name=""/>
        <dsp:cNvSpPr/>
      </dsp:nvSpPr>
      <dsp:spPr>
        <a:xfrm>
          <a:off x="1165340" y="808634"/>
          <a:ext cx="4661362"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964CCF-B9E1-4A68-8FBC-D314353A9ED1}">
      <dsp:nvSpPr>
        <dsp:cNvPr id="0" name=""/>
        <dsp:cNvSpPr/>
      </dsp:nvSpPr>
      <dsp:spPr>
        <a:xfrm>
          <a:off x="1252741" y="847140"/>
          <a:ext cx="4573961" cy="770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CA" sz="1200" b="1" kern="1200" dirty="0">
              <a:latin typeface="Tahoma" panose="020B0604030504040204" pitchFamily="34" charset="0"/>
              <a:ea typeface="Tahoma" panose="020B0604030504040204" pitchFamily="34" charset="0"/>
              <a:cs typeface="Tahoma" panose="020B0604030504040204" pitchFamily="34" charset="0"/>
            </a:rPr>
            <a:t>Log errors: </a:t>
          </a:r>
          <a:r>
            <a:rPr lang="en-CA" sz="1200" kern="1200" dirty="0">
              <a:latin typeface="Tahoma" panose="020B0604030504040204" pitchFamily="34" charset="0"/>
              <a:ea typeface="Tahoma" panose="020B0604030504040204" pitchFamily="34" charset="0"/>
              <a:cs typeface="Tahoma" panose="020B0604030504040204" pitchFamily="34" charset="0"/>
            </a:rPr>
            <a:t>Always try to log the error code and message, especially when using WHEN OTHERS, so that you can diagnose the issue later.</a:t>
          </a:r>
        </a:p>
      </dsp:txBody>
      <dsp:txXfrm>
        <a:off x="1252741" y="847140"/>
        <a:ext cx="4573961" cy="770128"/>
      </dsp:txXfrm>
    </dsp:sp>
    <dsp:sp modelId="{0EA95C0C-5739-4889-ABB7-D4D7A4D161A5}">
      <dsp:nvSpPr>
        <dsp:cNvPr id="0" name=""/>
        <dsp:cNvSpPr/>
      </dsp:nvSpPr>
      <dsp:spPr>
        <a:xfrm>
          <a:off x="1165340" y="1617269"/>
          <a:ext cx="4661362"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B14E03-E55A-4A5F-85B1-27121D7B529A}">
      <dsp:nvSpPr>
        <dsp:cNvPr id="0" name=""/>
        <dsp:cNvSpPr/>
      </dsp:nvSpPr>
      <dsp:spPr>
        <a:xfrm>
          <a:off x="1252741" y="1655775"/>
          <a:ext cx="4573961" cy="770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CA" sz="1200" b="1" kern="1200" dirty="0">
              <a:latin typeface="Tahoma" panose="020B0604030504040204" pitchFamily="34" charset="0"/>
              <a:ea typeface="Tahoma" panose="020B0604030504040204" pitchFamily="34" charset="0"/>
              <a:cs typeface="Tahoma" panose="020B0604030504040204" pitchFamily="34" charset="0"/>
            </a:rPr>
            <a:t>Avoid silencing errors: </a:t>
          </a:r>
          <a:r>
            <a:rPr lang="en-CA" sz="1200" kern="1200" dirty="0">
              <a:latin typeface="Tahoma" panose="020B0604030504040204" pitchFamily="34" charset="0"/>
              <a:ea typeface="Tahoma" panose="020B0604030504040204" pitchFamily="34" charset="0"/>
              <a:cs typeface="Tahoma" panose="020B0604030504040204" pitchFamily="34" charset="0"/>
            </a:rPr>
            <a:t>Avoid using WHEN OTHERS without some form of error logging, as it could hide potential bugs.</a:t>
          </a:r>
        </a:p>
      </dsp:txBody>
      <dsp:txXfrm>
        <a:off x="1252741" y="1655775"/>
        <a:ext cx="4573961" cy="770128"/>
      </dsp:txXfrm>
    </dsp:sp>
    <dsp:sp modelId="{16EB301E-9935-4562-BEC2-FD1258D67C84}">
      <dsp:nvSpPr>
        <dsp:cNvPr id="0" name=""/>
        <dsp:cNvSpPr/>
      </dsp:nvSpPr>
      <dsp:spPr>
        <a:xfrm>
          <a:off x="1165340" y="2425903"/>
          <a:ext cx="4661362"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2DC2E1-B343-4ABE-8BD0-70EA13A52FAA}">
      <dsp:nvSpPr>
        <dsp:cNvPr id="0" name=""/>
        <dsp:cNvSpPr/>
      </dsp:nvSpPr>
      <dsp:spPr>
        <a:xfrm>
          <a:off x="0" y="2464410"/>
          <a:ext cx="5826703"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9F4483-2290-490D-B3BB-E704942961DA}">
      <dsp:nvSpPr>
        <dsp:cNvPr id="0" name=""/>
        <dsp:cNvSpPr/>
      </dsp:nvSpPr>
      <dsp:spPr>
        <a:xfrm>
          <a:off x="0" y="2464410"/>
          <a:ext cx="5826703" cy="2464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CA" sz="1200" kern="1200" dirty="0">
              <a:latin typeface="Tahoma" panose="020B0604030504040204" pitchFamily="34" charset="0"/>
              <a:ea typeface="Tahoma" panose="020B0604030504040204" pitchFamily="34" charset="0"/>
              <a:cs typeface="Tahoma" panose="020B0604030504040204" pitchFamily="34" charset="0"/>
            </a:rPr>
            <a:t>This is how </a:t>
          </a:r>
          <a:r>
            <a:rPr lang="en-CA" sz="1200" b="1" kern="1200" dirty="0">
              <a:latin typeface="Tahoma" panose="020B0604030504040204" pitchFamily="34" charset="0"/>
              <a:ea typeface="Tahoma" panose="020B0604030504040204" pitchFamily="34" charset="0"/>
              <a:cs typeface="Tahoma" panose="020B0604030504040204" pitchFamily="34" charset="0"/>
            </a:rPr>
            <a:t>WHEN OTHERS </a:t>
          </a:r>
          <a:r>
            <a:rPr lang="en-CA" sz="1200" kern="1200" dirty="0">
              <a:latin typeface="Tahoma" panose="020B0604030504040204" pitchFamily="34" charset="0"/>
              <a:ea typeface="Tahoma" panose="020B0604030504040204" pitchFamily="34" charset="0"/>
              <a:cs typeface="Tahoma" panose="020B0604030504040204" pitchFamily="34" charset="0"/>
            </a:rPr>
            <a:t>can serve as a catch-all for unforeseen exceptions, ensuring your PL/SQL code can handle unexpected runtime errors gracefully.</a:t>
          </a:r>
        </a:p>
      </dsp:txBody>
      <dsp:txXfrm>
        <a:off x="0" y="2464410"/>
        <a:ext cx="5826703" cy="24644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0C9DAA-9AC1-4133-9411-A42883169824}" type="datetimeFigureOut">
              <a:rPr lang="en-US" smtClean="0"/>
              <a:t>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3CC18-1865-4129-A9A3-B2A3FC03A236}" type="slidenum">
              <a:rPr lang="en-US" smtClean="0"/>
              <a:t>‹#›</a:t>
            </a:fld>
            <a:endParaRPr lang="en-US"/>
          </a:p>
        </p:txBody>
      </p:sp>
    </p:spTree>
    <p:extLst>
      <p:ext uri="{BB962C8B-B14F-4D97-AF65-F5344CB8AC3E}">
        <p14:creationId xmlns:p14="http://schemas.microsoft.com/office/powerpoint/2010/main" val="387701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3CC18-1865-4129-A9A3-B2A3FC03A236}" type="slidenum">
              <a:rPr lang="en-US" smtClean="0"/>
              <a:t>1</a:t>
            </a:fld>
            <a:endParaRPr lang="en-US" dirty="0"/>
          </a:p>
        </p:txBody>
      </p:sp>
    </p:spTree>
    <p:extLst>
      <p:ext uri="{BB962C8B-B14F-4D97-AF65-F5344CB8AC3E}">
        <p14:creationId xmlns:p14="http://schemas.microsoft.com/office/powerpoint/2010/main" val="690590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 </a:t>
            </a:r>
            <a:r>
              <a:rPr lang="en-CA" b="1" dirty="0"/>
              <a:t>PL/SQL (Procedural Language/Structured Query Language)</a:t>
            </a:r>
            <a:r>
              <a:rPr lang="en-CA" dirty="0"/>
              <a:t>, procedures are essential for several reasons:</a:t>
            </a:r>
          </a:p>
          <a:p>
            <a:r>
              <a:rPr lang="en-CA" b="1" dirty="0"/>
              <a:t>1. Code Reusability</a:t>
            </a:r>
          </a:p>
          <a:p>
            <a:pPr>
              <a:buFont typeface="Arial" panose="020B0604020202020204" pitchFamily="34" charset="0"/>
              <a:buChar char="•"/>
            </a:pPr>
            <a:r>
              <a:rPr lang="en-CA" dirty="0"/>
              <a:t>Procedures allow you to write a block of code once and reuse it multiple times, reducing redundancy.</a:t>
            </a:r>
          </a:p>
          <a:p>
            <a:r>
              <a:rPr lang="en-CA" b="1" dirty="0"/>
              <a:t>2. Modularity</a:t>
            </a:r>
          </a:p>
          <a:p>
            <a:pPr>
              <a:buFont typeface="Arial" panose="020B0604020202020204" pitchFamily="34" charset="0"/>
              <a:buChar char="•"/>
            </a:pPr>
            <a:r>
              <a:rPr lang="en-CA" dirty="0"/>
              <a:t>Large applications can be broken into smaller, manageable pieces by using procedures, making maintenance easier.</a:t>
            </a:r>
          </a:p>
          <a:p>
            <a:r>
              <a:rPr lang="en-CA" b="1" dirty="0"/>
              <a:t>3. Performance Optimization</a:t>
            </a:r>
          </a:p>
          <a:p>
            <a:pPr>
              <a:buFont typeface="Arial" panose="020B0604020202020204" pitchFamily="34" charset="0"/>
              <a:buChar char="•"/>
            </a:pPr>
            <a:r>
              <a:rPr lang="en-CA" dirty="0"/>
              <a:t>Procedures execute as a single unit, reducing network traffic between applications and the database.</a:t>
            </a:r>
          </a:p>
          <a:p>
            <a:pPr>
              <a:buFont typeface="Arial" panose="020B0604020202020204" pitchFamily="34" charset="0"/>
              <a:buChar char="•"/>
            </a:pPr>
            <a:r>
              <a:rPr lang="en-CA" dirty="0"/>
              <a:t>They are compiled once and stored in the database, leading to faster execution.</a:t>
            </a:r>
          </a:p>
          <a:p>
            <a:r>
              <a:rPr lang="en-CA" b="1" dirty="0"/>
              <a:t>4. Security and Access Control</a:t>
            </a:r>
          </a:p>
          <a:p>
            <a:pPr>
              <a:buFont typeface="Arial" panose="020B0604020202020204" pitchFamily="34" charset="0"/>
              <a:buChar char="•"/>
            </a:pPr>
            <a:r>
              <a:rPr lang="en-CA" dirty="0"/>
              <a:t>Procedures can be granted execution privileges to users without giving direct access to the underlying tables.</a:t>
            </a:r>
          </a:p>
          <a:p>
            <a:r>
              <a:rPr lang="en-CA" b="1" dirty="0"/>
              <a:t>5. Error Handling</a:t>
            </a:r>
          </a:p>
          <a:p>
            <a:pPr>
              <a:buFont typeface="Arial" panose="020B0604020202020204" pitchFamily="34" charset="0"/>
              <a:buChar char="•"/>
            </a:pPr>
            <a:r>
              <a:rPr lang="en-CA" dirty="0"/>
              <a:t>PL/SQL provides structured exception handling within procedures to manage errors efficiently.</a:t>
            </a:r>
          </a:p>
          <a:p>
            <a:r>
              <a:rPr lang="en-CA" b="1" dirty="0"/>
              <a:t>6. Encapsulation and Abstraction</a:t>
            </a:r>
          </a:p>
          <a:p>
            <a:pPr>
              <a:buFont typeface="Arial" panose="020B0604020202020204" pitchFamily="34" charset="0"/>
              <a:buChar char="•"/>
            </a:pPr>
            <a:r>
              <a:rPr lang="en-CA" dirty="0"/>
              <a:t>Business logic can be encapsulated in procedures, keeping it separate from the application logic.</a:t>
            </a:r>
          </a:p>
          <a:p>
            <a:r>
              <a:rPr lang="en-CA" b="1" dirty="0"/>
              <a:t>7. Reduced Network Load</a:t>
            </a:r>
          </a:p>
          <a:p>
            <a:pPr>
              <a:buFont typeface="Arial" panose="020B0604020202020204" pitchFamily="34" charset="0"/>
              <a:buChar char="•"/>
            </a:pPr>
            <a:r>
              <a:rPr lang="en-CA" dirty="0"/>
              <a:t>Instead of sending multiple SQL statements over the network, a single procedure call can execute multiple operations.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33CC18-1865-4129-A9A3-B2A3FC03A23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0590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325D-290A-1342-4CAF-DE8DF41A9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E1841-A3F5-1026-B40F-4EA889F49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5FDF3-1F39-180F-CBC9-59BA09719DB8}"/>
              </a:ext>
            </a:extLst>
          </p:cNvPr>
          <p:cNvSpPr>
            <a:spLocks noGrp="1"/>
          </p:cNvSpPr>
          <p:nvPr>
            <p:ph type="body" idx="1"/>
          </p:nvPr>
        </p:nvSpPr>
        <p:spPr/>
        <p:txBody>
          <a:bodyPr/>
          <a:lstStyle/>
          <a:p>
            <a:r>
              <a:rPr lang="en-CA" b="1" dirty="0"/>
              <a:t>Why Do We Need Error Handling in PL/SQL?</a:t>
            </a:r>
          </a:p>
          <a:p>
            <a:r>
              <a:rPr lang="en-CA" dirty="0"/>
              <a:t>Error handling in </a:t>
            </a:r>
            <a:r>
              <a:rPr lang="en-CA" b="1" dirty="0"/>
              <a:t>PL/SQL</a:t>
            </a:r>
            <a:r>
              <a:rPr lang="en-CA" dirty="0"/>
              <a:t> is crucial for ensuring the smooth execution of database operations. Here’s why:</a:t>
            </a:r>
          </a:p>
          <a:p>
            <a:r>
              <a:rPr lang="en-CA" b="1" dirty="0"/>
              <a:t>1. Prevents Program Crashes</a:t>
            </a:r>
          </a:p>
          <a:p>
            <a:pPr>
              <a:buFont typeface="Arial" panose="020B0604020202020204" pitchFamily="34" charset="0"/>
              <a:buChar char="•"/>
            </a:pPr>
            <a:r>
              <a:rPr lang="en-CA" dirty="0"/>
              <a:t>Errors like </a:t>
            </a:r>
            <a:r>
              <a:rPr lang="en-CA" b="1" dirty="0"/>
              <a:t>divide by zero</a:t>
            </a:r>
            <a:r>
              <a:rPr lang="en-CA" dirty="0"/>
              <a:t>, </a:t>
            </a:r>
            <a:r>
              <a:rPr lang="en-CA" b="1" dirty="0"/>
              <a:t>NULL values</a:t>
            </a:r>
            <a:r>
              <a:rPr lang="en-CA" dirty="0"/>
              <a:t>, or </a:t>
            </a:r>
            <a:r>
              <a:rPr lang="en-CA" b="1" dirty="0"/>
              <a:t>constraint violations</a:t>
            </a:r>
            <a:r>
              <a:rPr lang="en-CA" dirty="0"/>
              <a:t> can cause a program to fail.</a:t>
            </a:r>
          </a:p>
          <a:p>
            <a:pPr>
              <a:buFont typeface="Arial" panose="020B0604020202020204" pitchFamily="34" charset="0"/>
              <a:buChar char="•"/>
            </a:pPr>
            <a:r>
              <a:rPr lang="en-CA" dirty="0"/>
              <a:t>Proper error handling ensures the program doesn’t abruptly stop but instead takes corrective actions.</a:t>
            </a:r>
          </a:p>
          <a:p>
            <a:r>
              <a:rPr lang="en-CA" b="1" dirty="0"/>
              <a:t>2. Improves Debugging &amp; Logging</a:t>
            </a:r>
          </a:p>
          <a:p>
            <a:pPr>
              <a:buFont typeface="Arial" panose="020B0604020202020204" pitchFamily="34" charset="0"/>
              <a:buChar char="•"/>
            </a:pPr>
            <a:r>
              <a:rPr lang="en-CA" dirty="0"/>
              <a:t>Capturing and logging errors helps developers identify the root cause of issues quickly.</a:t>
            </a:r>
          </a:p>
          <a:p>
            <a:pPr>
              <a:buFont typeface="Arial" panose="020B0604020202020204" pitchFamily="34" charset="0"/>
              <a:buChar char="•"/>
            </a:pPr>
            <a:r>
              <a:rPr lang="en-CA" dirty="0"/>
              <a:t>You can log errors into a table for future analysis.</a:t>
            </a:r>
          </a:p>
          <a:p>
            <a:r>
              <a:rPr lang="en-CA" b="1" dirty="0"/>
              <a:t>3. Maintains Data Integrity</a:t>
            </a:r>
          </a:p>
          <a:p>
            <a:pPr>
              <a:buFont typeface="Arial" panose="020B0604020202020204" pitchFamily="34" charset="0"/>
              <a:buChar char="•"/>
            </a:pPr>
            <a:r>
              <a:rPr lang="en-CA" dirty="0"/>
              <a:t>Errors can lead to partial updates or inconsistencies in data.</a:t>
            </a:r>
          </a:p>
          <a:p>
            <a:pPr>
              <a:buFont typeface="Arial" panose="020B0604020202020204" pitchFamily="34" charset="0"/>
              <a:buChar char="•"/>
            </a:pPr>
            <a:r>
              <a:rPr lang="en-CA" dirty="0"/>
              <a:t>Using </a:t>
            </a:r>
            <a:r>
              <a:rPr lang="en-CA" b="1" dirty="0"/>
              <a:t>ROLLBACK</a:t>
            </a:r>
            <a:r>
              <a:rPr lang="en-CA" dirty="0"/>
              <a:t> in error handling ensures that transactions are either fully completed or fully undone.</a:t>
            </a:r>
          </a:p>
          <a:p>
            <a:r>
              <a:rPr lang="en-CA" b="1" dirty="0"/>
              <a:t>4. Enhances User Experience</a:t>
            </a:r>
          </a:p>
          <a:p>
            <a:pPr>
              <a:buFont typeface="Arial" panose="020B0604020202020204" pitchFamily="34" charset="0"/>
              <a:buChar char="•"/>
            </a:pPr>
            <a:r>
              <a:rPr lang="en-CA" dirty="0"/>
              <a:t>Instead of cryptic system messages, user-friendly messages can be displayed.</a:t>
            </a:r>
          </a:p>
          <a:p>
            <a:pPr>
              <a:buFont typeface="Arial" panose="020B0604020202020204" pitchFamily="34" charset="0"/>
              <a:buChar char="•"/>
            </a:pPr>
            <a:r>
              <a:rPr lang="en-CA" dirty="0"/>
              <a:t>Example: Instead of showing </a:t>
            </a:r>
            <a:r>
              <a:rPr lang="en-CA" i="1" dirty="0"/>
              <a:t>"ORA-01403: No Data Found"</a:t>
            </a:r>
            <a:r>
              <a:rPr lang="en-CA" dirty="0"/>
              <a:t>, you can display </a:t>
            </a:r>
            <a:r>
              <a:rPr lang="en-CA" i="1" dirty="0"/>
              <a:t>"No records found for the given ID."</a:t>
            </a:r>
            <a:endParaRPr lang="en-CA" dirty="0"/>
          </a:p>
          <a:p>
            <a:r>
              <a:rPr lang="en-CA" b="1" dirty="0"/>
              <a:t>5. Allows Graceful Recovery</a:t>
            </a:r>
          </a:p>
          <a:p>
            <a:pPr>
              <a:buFont typeface="Arial" panose="020B0604020202020204" pitchFamily="34" charset="0"/>
              <a:buChar char="•"/>
            </a:pPr>
            <a:r>
              <a:rPr lang="en-CA" dirty="0"/>
              <a:t>If an error occurs, alternative actions (like retrying or executing fallback logic) can be taken instead of terminating the process.</a:t>
            </a:r>
          </a:p>
          <a:p>
            <a:endParaRPr lang="en-CA" dirty="0"/>
          </a:p>
        </p:txBody>
      </p:sp>
      <p:sp>
        <p:nvSpPr>
          <p:cNvPr id="4" name="Slide Number Placeholder 3">
            <a:extLst>
              <a:ext uri="{FF2B5EF4-FFF2-40B4-BE49-F238E27FC236}">
                <a16:creationId xmlns:a16="http://schemas.microsoft.com/office/drawing/2014/main" id="{B04EE727-65A6-204B-2CDE-573CC275DA52}"/>
              </a:ext>
            </a:extLst>
          </p:cNvPr>
          <p:cNvSpPr>
            <a:spLocks noGrp="1"/>
          </p:cNvSpPr>
          <p:nvPr>
            <p:ph type="sldNum" sz="quarter" idx="5"/>
          </p:nvPr>
        </p:nvSpPr>
        <p:spPr/>
        <p:txBody>
          <a:bodyPr/>
          <a:lstStyle/>
          <a:p>
            <a:fld id="{2E33CC18-1865-4129-A9A3-B2A3FC03A236}" type="slidenum">
              <a:rPr lang="en-US" smtClean="0"/>
              <a:t>3</a:t>
            </a:fld>
            <a:endParaRPr lang="en-US" dirty="0"/>
          </a:p>
        </p:txBody>
      </p:sp>
    </p:spTree>
    <p:extLst>
      <p:ext uri="{BB962C8B-B14F-4D97-AF65-F5344CB8AC3E}">
        <p14:creationId xmlns:p14="http://schemas.microsoft.com/office/powerpoint/2010/main" val="3324616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b="1" i="0" dirty="0">
                <a:solidFill>
                  <a:srgbClr val="4A4A4A"/>
                </a:solidFill>
                <a:effectLst/>
                <a:latin typeface="Open Sans" panose="020B0606030504020204" pitchFamily="34" charset="0"/>
              </a:rPr>
              <a:t>Named system Exceptions</a:t>
            </a:r>
            <a:endParaRPr lang="en-CA" b="0" i="0" dirty="0">
              <a:solidFill>
                <a:srgbClr val="4A4A4A"/>
              </a:solidFill>
              <a:effectLst/>
              <a:latin typeface="Open Sans" panose="020B0606030504020204" pitchFamily="34" charset="0"/>
            </a:endParaRPr>
          </a:p>
          <a:p>
            <a:pPr algn="just"/>
            <a:r>
              <a:rPr lang="en-CA" b="0" i="0" dirty="0">
                <a:solidFill>
                  <a:srgbClr val="4A4A4A"/>
                </a:solidFill>
                <a:effectLst/>
                <a:latin typeface="Open Sans" panose="020B0606030504020204" pitchFamily="34" charset="0"/>
              </a:rPr>
              <a:t>The named PL/SQL exceptions are </a:t>
            </a:r>
            <a:r>
              <a:rPr lang="en-CA" b="0" i="1" dirty="0">
                <a:solidFill>
                  <a:srgbClr val="4A4A4A"/>
                </a:solidFill>
                <a:effectLst/>
                <a:latin typeface="Open Sans" panose="020B0606030504020204" pitchFamily="34" charset="0"/>
              </a:rPr>
              <a:t>named in the standard package of PL/SQL</a:t>
            </a:r>
            <a:r>
              <a:rPr lang="en-CA" b="0" i="0" dirty="0">
                <a:solidFill>
                  <a:srgbClr val="4A4A4A"/>
                </a:solidFill>
                <a:effectLst/>
                <a:latin typeface="Open Sans" panose="020B0606030504020204" pitchFamily="34" charset="0"/>
              </a:rPr>
              <a:t>, hence the developer does not need to define the PL/SQL exceptions in their code. PL/SQL provides many </a:t>
            </a:r>
            <a:r>
              <a:rPr lang="en-CA" b="1" i="0" dirty="0">
                <a:solidFill>
                  <a:srgbClr val="4A4A4A"/>
                </a:solidFill>
                <a:effectLst/>
                <a:latin typeface="Open Sans" panose="020B0606030504020204" pitchFamily="34" charset="0"/>
              </a:rPr>
              <a:t>pre-defined named exceptions</a:t>
            </a:r>
            <a:r>
              <a:rPr lang="en-CA" b="0" i="0" dirty="0">
                <a:solidFill>
                  <a:srgbClr val="4A4A4A"/>
                </a:solidFill>
                <a:effectLst/>
                <a:latin typeface="Open Sans" panose="020B0606030504020204" pitchFamily="34" charset="0"/>
              </a:rPr>
              <a:t>, which are executed when any database rule is violated by a program. The following table lists a few of the important pre-defined exceptions −</a:t>
            </a:r>
          </a:p>
          <a:p>
            <a:endParaRPr lang="en-CA" dirty="0"/>
          </a:p>
          <a:p>
            <a:endParaRPr lang="en-CA" dirty="0"/>
          </a:p>
          <a:p>
            <a:pPr algn="just"/>
            <a:r>
              <a:rPr lang="en-CA" b="0" i="0" dirty="0">
                <a:solidFill>
                  <a:srgbClr val="4A4A4A"/>
                </a:solidFill>
                <a:effectLst/>
                <a:latin typeface="Open Sans" panose="020B0606030504020204" pitchFamily="34" charset="0"/>
              </a:rPr>
              <a:t>The </a:t>
            </a:r>
            <a:r>
              <a:rPr lang="en-CA" b="1" i="0" dirty="0">
                <a:solidFill>
                  <a:srgbClr val="4A4A4A"/>
                </a:solidFill>
                <a:effectLst/>
                <a:latin typeface="Open Sans" panose="020B0606030504020204" pitchFamily="34" charset="0"/>
              </a:rPr>
              <a:t>System-defined exceptions</a:t>
            </a:r>
            <a:r>
              <a:rPr lang="en-CA" b="0" i="0" dirty="0">
                <a:solidFill>
                  <a:srgbClr val="4A4A4A"/>
                </a:solidFill>
                <a:effectLst/>
                <a:latin typeface="Open Sans" panose="020B0606030504020204" pitchFamily="34" charset="0"/>
              </a:rPr>
              <a:t> are further divided into two categories:</a:t>
            </a:r>
          </a:p>
          <a:p>
            <a:pPr marL="171450" indent="-171450" algn="l">
              <a:buFont typeface="Wingdings" panose="05000000000000000000" pitchFamily="2" charset="2"/>
              <a:buChar char="§"/>
            </a:pPr>
            <a:r>
              <a:rPr lang="en-CA" b="0" i="0" dirty="0">
                <a:solidFill>
                  <a:srgbClr val="4A4A4A"/>
                </a:solidFill>
                <a:effectLst/>
                <a:latin typeface="Open Sans" panose="020B0606030504020204" pitchFamily="34" charset="0"/>
              </a:rPr>
              <a:t>Named system exceptions or </a:t>
            </a:r>
            <a:r>
              <a:rPr lang="en-CA" b="1" i="0" dirty="0">
                <a:solidFill>
                  <a:srgbClr val="4A4A4A"/>
                </a:solidFill>
                <a:effectLst/>
                <a:latin typeface="Open Sans" panose="020B0606030504020204" pitchFamily="34" charset="0"/>
              </a:rPr>
              <a:t>pre-defined named exceptions</a:t>
            </a:r>
            <a:endParaRPr lang="en-CA" b="0" i="0" dirty="0">
              <a:solidFill>
                <a:srgbClr val="4A4A4A"/>
              </a:solidFill>
              <a:effectLst/>
              <a:latin typeface="Open Sans" panose="020B0606030504020204" pitchFamily="34" charset="0"/>
            </a:endParaRPr>
          </a:p>
          <a:p>
            <a:pPr marL="171450" indent="-171450" algn="l">
              <a:buFont typeface="Wingdings" panose="05000000000000000000" pitchFamily="2" charset="2"/>
              <a:buChar char="§"/>
            </a:pPr>
            <a:r>
              <a:rPr lang="en-CA" b="0" i="0" dirty="0">
                <a:solidFill>
                  <a:srgbClr val="4A4A4A"/>
                </a:solidFill>
                <a:effectLst/>
                <a:latin typeface="Open Sans" panose="020B0606030504020204" pitchFamily="34" charset="0"/>
              </a:rPr>
              <a:t>Unnamed system exceptions: </a:t>
            </a:r>
            <a:r>
              <a:rPr lang="en-CA" b="1" i="0" dirty="0">
                <a:solidFill>
                  <a:srgbClr val="4A4A4A"/>
                </a:solidFill>
                <a:effectLst/>
                <a:latin typeface="Open Sans" panose="020B0606030504020204" pitchFamily="34" charset="0"/>
              </a:rPr>
              <a:t>expressed Exceptions </a:t>
            </a:r>
          </a:p>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4</a:t>
            </a:fld>
            <a:endParaRPr lang="en-US" dirty="0"/>
          </a:p>
        </p:txBody>
      </p:sp>
    </p:spTree>
    <p:extLst>
      <p:ext uri="{BB962C8B-B14F-4D97-AF65-F5344CB8AC3E}">
        <p14:creationId xmlns:p14="http://schemas.microsoft.com/office/powerpoint/2010/main" val="4027685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Commonly Used Predefined Exceptions in PL/SQL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System-defined exceptions are automatically raised when a </a:t>
            </a:r>
            <a:r>
              <a:rPr lang="en-CA" b="1" dirty="0"/>
              <a:t>predefined error occurs during execution</a:t>
            </a:r>
            <a:r>
              <a:rPr lang="en-CA" dirty="0"/>
              <a:t>. </a:t>
            </a:r>
          </a:p>
        </p:txBody>
      </p:sp>
      <p:sp>
        <p:nvSpPr>
          <p:cNvPr id="4" name="Slide Number Placeholder 3"/>
          <p:cNvSpPr>
            <a:spLocks noGrp="1"/>
          </p:cNvSpPr>
          <p:nvPr>
            <p:ph type="sldNum" sz="quarter" idx="5"/>
          </p:nvPr>
        </p:nvSpPr>
        <p:spPr/>
        <p:txBody>
          <a:bodyPr/>
          <a:lstStyle/>
          <a:p>
            <a:fld id="{2E33CC18-1865-4129-A9A3-B2A3FC03A236}" type="slidenum">
              <a:rPr lang="en-US" smtClean="0"/>
              <a:t>5</a:t>
            </a:fld>
            <a:endParaRPr lang="en-US" dirty="0"/>
          </a:p>
        </p:txBody>
      </p:sp>
    </p:spTree>
    <p:extLst>
      <p:ext uri="{BB962C8B-B14F-4D97-AF65-F5344CB8AC3E}">
        <p14:creationId xmlns:p14="http://schemas.microsoft.com/office/powerpoint/2010/main" val="3116464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853D5-CC5D-F8C2-9EB8-4CF2AA5AB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21DA0-82B7-EA18-6C57-89FEA5D19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DD89C-2E6A-C67C-A106-22307C9A6EEE}"/>
              </a:ext>
            </a:extLst>
          </p:cNvPr>
          <p:cNvSpPr>
            <a:spLocks noGrp="1"/>
          </p:cNvSpPr>
          <p:nvPr>
            <p:ph type="body" idx="1"/>
          </p:nvPr>
        </p:nvSpPr>
        <p:spPr/>
        <p:txBody>
          <a:bodyPr/>
          <a:lstStyle/>
          <a:p>
            <a:r>
              <a:rPr lang="en-CA" b="1" dirty="0"/>
              <a:t>Breakdown of the Code:</a:t>
            </a:r>
          </a:p>
          <a:p>
            <a:pPr>
              <a:buFont typeface="+mj-lt"/>
              <a:buAutoNum type="arabicPeriod"/>
            </a:pPr>
            <a:r>
              <a:rPr lang="en-CA" b="1" dirty="0"/>
              <a:t>V_NUM NUMBER := 5 / 0;</a:t>
            </a:r>
            <a:endParaRPr lang="en-CA" dirty="0"/>
          </a:p>
          <a:p>
            <a:pPr marL="742950" lvl="1" indent="-285750">
              <a:buFont typeface="+mj-lt"/>
              <a:buAutoNum type="arabicPeriod"/>
            </a:pPr>
            <a:r>
              <a:rPr lang="en-CA" dirty="0"/>
              <a:t>This </a:t>
            </a:r>
            <a:r>
              <a:rPr lang="en-CA" b="1" dirty="0"/>
              <a:t>causes a ZERO_DIVIDE exception</a:t>
            </a:r>
            <a:r>
              <a:rPr lang="en-CA" dirty="0"/>
              <a:t> because division by zero is not allowed.</a:t>
            </a:r>
          </a:p>
          <a:p>
            <a:pPr>
              <a:buFont typeface="+mj-lt"/>
              <a:buAutoNum type="arabicPeriod"/>
            </a:pPr>
            <a:r>
              <a:rPr lang="en-CA" b="1" dirty="0"/>
              <a:t>Nested Block Begins (BEGIN ... EXCEPTION ... END;)</a:t>
            </a:r>
            <a:endParaRPr lang="en-CA" dirty="0"/>
          </a:p>
          <a:p>
            <a:pPr marL="742950" lvl="1" indent="-285750">
              <a:buFont typeface="+mj-lt"/>
              <a:buAutoNum type="arabicPeriod"/>
            </a:pPr>
            <a:r>
              <a:rPr lang="en-CA" dirty="0"/>
              <a:t>Inside this block, there is no actual operation (just NULL;), but it </a:t>
            </a:r>
            <a:r>
              <a:rPr lang="en-CA" b="1" dirty="0"/>
              <a:t>does not catch the ZERO_DIVIDE error</a:t>
            </a:r>
            <a:r>
              <a:rPr lang="en-CA" dirty="0"/>
              <a:t> because the error occurs </a:t>
            </a:r>
            <a:r>
              <a:rPr lang="en-CA" b="1" dirty="0"/>
              <a:t>before</a:t>
            </a:r>
            <a:r>
              <a:rPr lang="en-CA" dirty="0"/>
              <a:t> the nested block starts executing.</a:t>
            </a:r>
          </a:p>
          <a:p>
            <a:pPr>
              <a:buFont typeface="+mj-lt"/>
              <a:buAutoNum type="arabicPeriod"/>
            </a:pPr>
            <a:r>
              <a:rPr lang="en-CA" b="1" dirty="0"/>
              <a:t>Exception Handling at the Outer Block</a:t>
            </a:r>
            <a:endParaRPr lang="en-CA" dirty="0"/>
          </a:p>
          <a:p>
            <a:pPr marL="742950" lvl="1" indent="-285750">
              <a:buFont typeface="+mj-lt"/>
              <a:buAutoNum type="arabicPeriod"/>
            </a:pPr>
            <a:r>
              <a:rPr lang="en-CA" dirty="0"/>
              <a:t>Since the inner block does not handle the exception, it is </a:t>
            </a:r>
            <a:r>
              <a:rPr lang="en-CA" b="1" dirty="0"/>
              <a:t>propagated to the outer block</a:t>
            </a:r>
            <a:r>
              <a:rPr lang="en-CA" dirty="0"/>
              <a:t>.</a:t>
            </a:r>
          </a:p>
          <a:p>
            <a:pPr marL="742950" lvl="1" indent="-285750">
              <a:buFont typeface="+mj-lt"/>
              <a:buAutoNum type="arabicPeriod"/>
            </a:pPr>
            <a:r>
              <a:rPr lang="en-CA" dirty="0"/>
              <a:t>The outer block catches ZERO_DIVIDE and prints </a:t>
            </a:r>
            <a:r>
              <a:rPr lang="en-CA" b="1" dirty="0"/>
              <a:t>Error 2</a:t>
            </a:r>
            <a:r>
              <a:rPr lang="en-CA" dirty="0"/>
              <a:t>.</a:t>
            </a:r>
          </a:p>
        </p:txBody>
      </p:sp>
      <p:sp>
        <p:nvSpPr>
          <p:cNvPr id="4" name="Slide Number Placeholder 3">
            <a:extLst>
              <a:ext uri="{FF2B5EF4-FFF2-40B4-BE49-F238E27FC236}">
                <a16:creationId xmlns:a16="http://schemas.microsoft.com/office/drawing/2014/main" id="{7DEA470A-DFA4-28E6-A03E-529D23C757E5}"/>
              </a:ext>
            </a:extLst>
          </p:cNvPr>
          <p:cNvSpPr>
            <a:spLocks noGrp="1"/>
          </p:cNvSpPr>
          <p:nvPr>
            <p:ph type="sldNum" sz="quarter" idx="5"/>
          </p:nvPr>
        </p:nvSpPr>
        <p:spPr/>
        <p:txBody>
          <a:bodyPr/>
          <a:lstStyle/>
          <a:p>
            <a:fld id="{2E33CC18-1865-4129-A9A3-B2A3FC03A236}" type="slidenum">
              <a:rPr lang="en-US" smtClean="0"/>
              <a:t>6</a:t>
            </a:fld>
            <a:endParaRPr lang="en-US" dirty="0"/>
          </a:p>
        </p:txBody>
      </p:sp>
    </p:spTree>
    <p:extLst>
      <p:ext uri="{BB962C8B-B14F-4D97-AF65-F5344CB8AC3E}">
        <p14:creationId xmlns:p14="http://schemas.microsoft.com/office/powerpoint/2010/main" val="1826281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7</a:t>
            </a:fld>
            <a:endParaRPr lang="en-US"/>
          </a:p>
        </p:txBody>
      </p:sp>
    </p:spTree>
    <p:extLst>
      <p:ext uri="{BB962C8B-B14F-4D97-AF65-F5344CB8AC3E}">
        <p14:creationId xmlns:p14="http://schemas.microsoft.com/office/powerpoint/2010/main" val="4242820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1DA8-6DA6-EF77-C2A0-0C7715221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7E441-1A6F-1A83-9AAB-AEE9F7224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89E1D-B87E-9E49-0EDF-2350F5221A27}"/>
              </a:ext>
            </a:extLst>
          </p:cNvPr>
          <p:cNvSpPr>
            <a:spLocks noGrp="1"/>
          </p:cNvSpPr>
          <p:nvPr>
            <p:ph type="body" idx="1"/>
          </p:nvPr>
        </p:nvSpPr>
        <p:spPr/>
        <p:txBody>
          <a:bodyPr/>
          <a:lstStyle/>
          <a:p>
            <a:r>
              <a:rPr lang="en-CA" b="1" dirty="0"/>
              <a:t>What is EXECUTE IMMEDIATE in PL/SQL?</a:t>
            </a:r>
          </a:p>
          <a:p>
            <a:r>
              <a:rPr lang="en-CA" dirty="0"/>
              <a:t>EXECUTE IMMEDIATE is a </a:t>
            </a:r>
            <a:r>
              <a:rPr lang="en-CA" b="1" dirty="0"/>
              <a:t>PL/SQL statement that allows you to run dynamic SQL queries at runtime</a:t>
            </a:r>
            <a:r>
              <a:rPr lang="en-CA" dirty="0"/>
              <a:t>. Unlike static SQL (which is known at compile time), </a:t>
            </a:r>
            <a:r>
              <a:rPr lang="en-CA" b="1" dirty="0"/>
              <a:t>dynamic SQL is built and executed during program execution</a:t>
            </a:r>
            <a:r>
              <a:rPr lang="en-CA" dirty="0"/>
              <a:t>.</a:t>
            </a:r>
          </a:p>
          <a:p>
            <a:endParaRPr lang="en-CA" dirty="0"/>
          </a:p>
          <a:p>
            <a:r>
              <a:rPr lang="en-CA" b="1" dirty="0"/>
              <a:t>📌 Why Use EXECUTE IMMEDIATE?</a:t>
            </a:r>
          </a:p>
          <a:p>
            <a:pPr>
              <a:buFont typeface="+mj-lt"/>
              <a:buAutoNum type="arabicPeriod"/>
            </a:pPr>
            <a:r>
              <a:rPr lang="en-CA" b="1" dirty="0"/>
              <a:t>Execute SQL Statements Dynamically</a:t>
            </a:r>
            <a:endParaRPr lang="en-CA" dirty="0"/>
          </a:p>
          <a:p>
            <a:pPr marL="742950" lvl="1" indent="-285750">
              <a:buFont typeface="+mj-lt"/>
              <a:buAutoNum type="arabicPeriod"/>
            </a:pPr>
            <a:r>
              <a:rPr lang="en-CA" dirty="0"/>
              <a:t>Useful when the SQL statement is unknown at compile time.</a:t>
            </a:r>
          </a:p>
          <a:p>
            <a:pPr marL="742950" lvl="1" indent="-285750">
              <a:buFont typeface="+mj-lt"/>
              <a:buAutoNum type="arabicPeriod"/>
            </a:pPr>
            <a:r>
              <a:rPr lang="en-CA" b="1" dirty="0"/>
              <a:t>Example: Running queries on tables that change dynamically.</a:t>
            </a:r>
          </a:p>
          <a:p>
            <a:pPr>
              <a:buFont typeface="+mj-lt"/>
              <a:buAutoNum type="arabicPeriod"/>
            </a:pPr>
            <a:r>
              <a:rPr lang="en-CA" b="1" dirty="0"/>
              <a:t>Work with Dynamic Table Names, Columns, or Conditions</a:t>
            </a:r>
            <a:endParaRPr lang="en-CA" dirty="0"/>
          </a:p>
          <a:p>
            <a:pPr marL="742950" lvl="1" indent="-285750">
              <a:buFont typeface="+mj-lt"/>
              <a:buAutoNum type="arabicPeriod"/>
            </a:pPr>
            <a:r>
              <a:rPr lang="en-CA" dirty="0"/>
              <a:t>Helps when working with user-defined inputs.</a:t>
            </a:r>
          </a:p>
          <a:p>
            <a:pPr>
              <a:buFont typeface="+mj-lt"/>
              <a:buAutoNum type="arabicPeriod"/>
            </a:pPr>
            <a:r>
              <a:rPr lang="en-CA" b="1" dirty="0"/>
              <a:t>Execute DDL (Data Definition Language) Statements</a:t>
            </a:r>
            <a:endParaRPr lang="en-CA" dirty="0"/>
          </a:p>
          <a:p>
            <a:pPr marL="742950" lvl="1" indent="-285750">
              <a:buFont typeface="+mj-lt"/>
              <a:buAutoNum type="arabicPeriod"/>
            </a:pPr>
            <a:r>
              <a:rPr lang="en-CA" dirty="0"/>
              <a:t>Commands like CREATE TABLE, DROP TABLE, or ALTER TABLE cannot be executed directly inside PL/SQL.</a:t>
            </a:r>
          </a:p>
          <a:p>
            <a:pPr marL="742950" lvl="1" indent="-285750">
              <a:buFont typeface="+mj-lt"/>
              <a:buAutoNum type="arabicPeriod"/>
            </a:pPr>
            <a:r>
              <a:rPr lang="en-CA" dirty="0"/>
              <a:t>EXECUTE IMMEDIATE allows running these commands.</a:t>
            </a:r>
          </a:p>
          <a:p>
            <a:pPr>
              <a:buFont typeface="+mj-lt"/>
              <a:buAutoNum type="arabicPeriod"/>
            </a:pPr>
            <a:r>
              <a:rPr lang="en-CA" b="1" dirty="0"/>
              <a:t>Improve Performance in Certain Cases</a:t>
            </a:r>
            <a:endParaRPr lang="en-CA" dirty="0"/>
          </a:p>
          <a:p>
            <a:pPr marL="742950" lvl="1" indent="-285750">
              <a:buFont typeface="+mj-lt"/>
              <a:buAutoNum type="arabicPeriod"/>
            </a:pPr>
            <a:r>
              <a:rPr lang="en-CA" dirty="0"/>
              <a:t>Useful for handling complex queries dynamically.</a:t>
            </a:r>
          </a:p>
          <a:p>
            <a:pPr marL="457200" lvl="1" indent="0">
              <a:buFont typeface="+mj-lt"/>
              <a:buNone/>
            </a:pPr>
            <a:endParaRPr lang="en-CA" dirty="0"/>
          </a:p>
          <a:p>
            <a:pPr marL="457200" lvl="1" indent="0">
              <a:buFont typeface="+mj-lt"/>
              <a:buNone/>
            </a:pPr>
            <a:endParaRPr lang="en-CA" dirty="0"/>
          </a:p>
          <a:p>
            <a:pPr marL="457200" lvl="1" indent="0">
              <a:buFont typeface="+mj-lt"/>
              <a:buNone/>
            </a:pPr>
            <a:r>
              <a:rPr lang="en-CA" dirty="0"/>
              <a:t>BEGIN</a:t>
            </a:r>
          </a:p>
          <a:p>
            <a:pPr marL="457200" lvl="1" indent="0">
              <a:buFont typeface="+mj-lt"/>
              <a:buNone/>
            </a:pPr>
            <a:r>
              <a:rPr lang="en-CA" dirty="0"/>
              <a:t>    EXECUTE IMMEDIATE 'SELECT COUNT(*) FROM employees';</a:t>
            </a:r>
          </a:p>
          <a:p>
            <a:pPr marL="457200" lvl="1" indent="0">
              <a:buFont typeface="+mj-lt"/>
              <a:buNone/>
            </a:pPr>
            <a:r>
              <a:rPr lang="en-CA" dirty="0"/>
              <a:t>END;</a:t>
            </a:r>
          </a:p>
          <a:p>
            <a:pPr marL="457200" lvl="1" indent="0">
              <a:buFont typeface="+mj-lt"/>
              <a:buNone/>
            </a:pPr>
            <a:endParaRPr lang="en-CA" dirty="0"/>
          </a:p>
          <a:p>
            <a:pPr marL="457200" lvl="1" indent="0">
              <a:buFont typeface="+mj-lt"/>
              <a:buNone/>
            </a:pPr>
            <a:endParaRPr lang="en-CA" dirty="0"/>
          </a:p>
          <a:p>
            <a:r>
              <a:rPr lang="en-CA" b="1" dirty="0"/>
              <a:t>Where is the User-Defined Exception?</a:t>
            </a:r>
          </a:p>
          <a:p>
            <a:pPr>
              <a:buFont typeface="+mj-lt"/>
              <a:buAutoNum type="arabicPeriod"/>
            </a:pPr>
            <a:r>
              <a:rPr lang="en-CA" b="1" dirty="0" err="1"/>
              <a:t>table_not_found</a:t>
            </a:r>
            <a:r>
              <a:rPr lang="en-CA" b="1" dirty="0"/>
              <a:t> EXCEPTION;</a:t>
            </a:r>
            <a:endParaRPr lang="en-CA" dirty="0"/>
          </a:p>
          <a:p>
            <a:pPr marL="742950" lvl="1" indent="-285750">
              <a:buFont typeface="+mj-lt"/>
              <a:buAutoNum type="arabicPeriod"/>
            </a:pPr>
            <a:r>
              <a:rPr lang="en-CA" dirty="0"/>
              <a:t>This </a:t>
            </a:r>
            <a:r>
              <a:rPr lang="en-CA" b="1" dirty="0"/>
              <a:t>declares</a:t>
            </a:r>
            <a:r>
              <a:rPr lang="en-CA" dirty="0"/>
              <a:t> a custom exception named </a:t>
            </a:r>
            <a:r>
              <a:rPr lang="en-CA" dirty="0" err="1"/>
              <a:t>table_not_found</a:t>
            </a:r>
            <a:r>
              <a:rPr lang="en-CA" dirty="0"/>
              <a:t>.</a:t>
            </a:r>
          </a:p>
          <a:p>
            <a:pPr>
              <a:buFont typeface="+mj-lt"/>
              <a:buAutoNum type="arabicPeriod"/>
            </a:pPr>
            <a:r>
              <a:rPr lang="en-CA" b="1" dirty="0"/>
              <a:t>PRAGMA EXCEPTION_INIT(</a:t>
            </a:r>
            <a:r>
              <a:rPr lang="en-CA" b="1" dirty="0" err="1"/>
              <a:t>table_not_found</a:t>
            </a:r>
            <a:r>
              <a:rPr lang="en-CA" b="1" dirty="0"/>
              <a:t>, -00942);</a:t>
            </a:r>
            <a:endParaRPr lang="en-CA" dirty="0"/>
          </a:p>
          <a:p>
            <a:pPr marL="742950" lvl="1" indent="-285750">
              <a:buFont typeface="+mj-lt"/>
              <a:buAutoNum type="arabicPeriod"/>
            </a:pPr>
            <a:r>
              <a:rPr lang="en-CA" dirty="0"/>
              <a:t>This </a:t>
            </a:r>
            <a:r>
              <a:rPr lang="en-CA" b="1" dirty="0"/>
              <a:t>associates</a:t>
            </a:r>
            <a:r>
              <a:rPr lang="en-CA" dirty="0"/>
              <a:t> the custom exception </a:t>
            </a:r>
            <a:r>
              <a:rPr lang="en-CA" dirty="0" err="1"/>
              <a:t>table_not_found</a:t>
            </a:r>
            <a:r>
              <a:rPr lang="en-CA" dirty="0"/>
              <a:t> with Oracle error code </a:t>
            </a:r>
            <a:r>
              <a:rPr lang="en-CA" b="1" dirty="0"/>
              <a:t>ORA-00942</a:t>
            </a:r>
            <a:r>
              <a:rPr lang="en-CA" dirty="0"/>
              <a:t> (Table or View does not exist).</a:t>
            </a:r>
          </a:p>
          <a:p>
            <a:pPr marL="742950" lvl="1" indent="-285750">
              <a:buFont typeface="+mj-lt"/>
              <a:buAutoNum type="arabicPeriod"/>
            </a:pPr>
            <a:r>
              <a:rPr lang="en-CA" dirty="0"/>
              <a:t>This means whenever error -00942 occurs, Oracle will </a:t>
            </a:r>
            <a:r>
              <a:rPr lang="en-CA" b="1" dirty="0"/>
              <a:t>automatically</a:t>
            </a:r>
            <a:r>
              <a:rPr lang="en-CA" dirty="0"/>
              <a:t> raise </a:t>
            </a:r>
            <a:r>
              <a:rPr lang="en-CA" dirty="0" err="1"/>
              <a:t>table_not_found</a:t>
            </a:r>
            <a:r>
              <a:rPr lang="en-CA" dirty="0"/>
              <a:t>.</a:t>
            </a:r>
          </a:p>
          <a:p>
            <a:r>
              <a:rPr lang="en-CA" b="1" dirty="0"/>
              <a:t>How it Works in the Code:</a:t>
            </a:r>
          </a:p>
          <a:p>
            <a:pPr>
              <a:buFont typeface="Arial" panose="020B0604020202020204" pitchFamily="34" charset="0"/>
              <a:buChar char="•"/>
            </a:pPr>
            <a:r>
              <a:rPr lang="en-CA" dirty="0"/>
              <a:t>The EXECUTE IMMEDIATE statement attempts to run a </a:t>
            </a:r>
            <a:r>
              <a:rPr lang="en-CA" b="1" dirty="0"/>
              <a:t>dynamic SQL query</a:t>
            </a:r>
            <a:r>
              <a:rPr lang="en-CA" dirty="0"/>
              <a:t> on a </a:t>
            </a:r>
            <a:r>
              <a:rPr lang="en-CA" b="1" dirty="0"/>
              <a:t>non-existing table</a:t>
            </a:r>
            <a:r>
              <a:rPr lang="en-CA" dirty="0"/>
              <a:t>.</a:t>
            </a:r>
          </a:p>
          <a:p>
            <a:pPr>
              <a:buFont typeface="Arial" panose="020B0604020202020204" pitchFamily="34" charset="0"/>
              <a:buChar char="•"/>
            </a:pPr>
            <a:r>
              <a:rPr lang="en-CA" dirty="0"/>
              <a:t>Oracle raises ORA-00942 (Table does not exist).</a:t>
            </a:r>
          </a:p>
          <a:p>
            <a:pPr>
              <a:buFont typeface="Arial" panose="020B0604020202020204" pitchFamily="34" charset="0"/>
              <a:buChar char="•"/>
            </a:pPr>
            <a:r>
              <a:rPr lang="en-CA" dirty="0"/>
              <a:t>Since PRAGMA EXCEPTION_INIT links </a:t>
            </a:r>
            <a:r>
              <a:rPr lang="en-CA" dirty="0" err="1"/>
              <a:t>table_not_found</a:t>
            </a:r>
            <a:r>
              <a:rPr lang="en-CA" dirty="0"/>
              <a:t> to this error, the EXCEPTION block catches it and executes:</a:t>
            </a:r>
          </a:p>
          <a:p>
            <a:r>
              <a:rPr lang="en-CA" dirty="0" err="1"/>
              <a:t>plsql</a:t>
            </a:r>
            <a:endParaRPr lang="en-CA" dirty="0"/>
          </a:p>
          <a:p>
            <a:r>
              <a:rPr lang="en-CA" dirty="0" err="1"/>
              <a:t>CopyEdit</a:t>
            </a:r>
            <a:endParaRPr lang="en-CA" dirty="0"/>
          </a:p>
          <a:p>
            <a:pPr marL="457200" lvl="1" indent="0">
              <a:buFont typeface="+mj-lt"/>
              <a:buNone/>
            </a:pPr>
            <a:endParaRPr lang="en-CA" dirty="0"/>
          </a:p>
          <a:p>
            <a:endParaRPr lang="en-CA" dirty="0"/>
          </a:p>
        </p:txBody>
      </p:sp>
      <p:sp>
        <p:nvSpPr>
          <p:cNvPr id="4" name="Slide Number Placeholder 3">
            <a:extLst>
              <a:ext uri="{FF2B5EF4-FFF2-40B4-BE49-F238E27FC236}">
                <a16:creationId xmlns:a16="http://schemas.microsoft.com/office/drawing/2014/main" id="{A345FE09-5379-1664-7D51-CEC32BF2EE67}"/>
              </a:ext>
            </a:extLst>
          </p:cNvPr>
          <p:cNvSpPr>
            <a:spLocks noGrp="1"/>
          </p:cNvSpPr>
          <p:nvPr>
            <p:ph type="sldNum" sz="quarter" idx="5"/>
          </p:nvPr>
        </p:nvSpPr>
        <p:spPr/>
        <p:txBody>
          <a:bodyPr/>
          <a:lstStyle/>
          <a:p>
            <a:fld id="{2E33CC18-1865-4129-A9A3-B2A3FC03A236}" type="slidenum">
              <a:rPr lang="en-US" smtClean="0"/>
              <a:t>8</a:t>
            </a:fld>
            <a:endParaRPr lang="en-US"/>
          </a:p>
        </p:txBody>
      </p:sp>
    </p:spTree>
    <p:extLst>
      <p:ext uri="{BB962C8B-B14F-4D97-AF65-F5344CB8AC3E}">
        <p14:creationId xmlns:p14="http://schemas.microsoft.com/office/powerpoint/2010/main" val="3592433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0B943-3485-B465-ABD6-C1EA95D2C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DF03B-82AF-17D9-360C-582DB42EBB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89EAE-0AFF-C04C-A1FF-5767A5078328}"/>
              </a:ext>
            </a:extLst>
          </p:cNvPr>
          <p:cNvSpPr>
            <a:spLocks noGrp="1"/>
          </p:cNvSpPr>
          <p:nvPr>
            <p:ph type="body" idx="1"/>
          </p:nvPr>
        </p:nvSpPr>
        <p:spPr/>
        <p:txBody>
          <a:bodyPr/>
          <a:lstStyle/>
          <a:p>
            <a:r>
              <a:rPr lang="en-CA" dirty="0"/>
              <a:t>Error -20001 is a user-defined error code raised using RAISE_APPLICATION_ERROR. This error code falls within the range of -20000 to -20999, which Oracle reserves for custom application errors.</a:t>
            </a:r>
          </a:p>
          <a:p>
            <a:endParaRPr lang="en-CA" dirty="0"/>
          </a:p>
          <a:p>
            <a:endParaRPr lang="en-CA" dirty="0"/>
          </a:p>
          <a:p>
            <a:r>
              <a:rPr lang="en-CA" dirty="0"/>
              <a:t>✔ </a:t>
            </a:r>
            <a:r>
              <a:rPr lang="en-CA" b="1" dirty="0"/>
              <a:t>What Happens?</a:t>
            </a:r>
            <a:endParaRPr lang="en-CA" dirty="0"/>
          </a:p>
          <a:p>
            <a:pPr>
              <a:buFont typeface="+mj-lt"/>
              <a:buAutoNum type="arabicPeriod"/>
            </a:pPr>
            <a:r>
              <a:rPr lang="en-CA" b="1" dirty="0"/>
              <a:t>Error is Raised:</a:t>
            </a:r>
            <a:r>
              <a:rPr lang="en-CA" dirty="0"/>
              <a:t> RAISE_APPLICATION_ERROR(-20001, 'Age cannot be negative!');</a:t>
            </a:r>
          </a:p>
          <a:p>
            <a:pPr>
              <a:buFont typeface="+mj-lt"/>
              <a:buAutoNum type="arabicPeriod"/>
            </a:pPr>
            <a:r>
              <a:rPr lang="en-CA" b="1" dirty="0"/>
              <a:t>Exception is Caught:</a:t>
            </a:r>
            <a:r>
              <a:rPr lang="en-CA" dirty="0"/>
              <a:t> The WHEN OTHERS block catches all exceptions.</a:t>
            </a:r>
          </a:p>
          <a:p>
            <a:pPr>
              <a:buFont typeface="+mj-lt"/>
              <a:buAutoNum type="arabicPeriod"/>
            </a:pPr>
            <a:r>
              <a:rPr lang="en-CA" b="1" dirty="0"/>
              <a:t>SQLERRM Displays:</a:t>
            </a:r>
            <a:r>
              <a:rPr lang="en-CA" dirty="0"/>
              <a:t> ORA-20001: Age cannot be negative!</a:t>
            </a:r>
          </a:p>
          <a:p>
            <a:r>
              <a:rPr lang="en-CA" dirty="0"/>
              <a:t>📌 </a:t>
            </a:r>
            <a:r>
              <a:rPr lang="en-CA" b="1" dirty="0"/>
              <a:t>Issue in the Code</a:t>
            </a:r>
            <a:r>
              <a:rPr lang="en-CA" dirty="0"/>
              <a:t>:</a:t>
            </a:r>
            <a:br>
              <a:rPr lang="en-CA" dirty="0"/>
            </a:br>
            <a:r>
              <a:rPr lang="en-CA" dirty="0"/>
              <a:t>The declaration of </a:t>
            </a:r>
            <a:r>
              <a:rPr lang="en-CA" dirty="0" err="1"/>
              <a:t>invalid_age</a:t>
            </a:r>
            <a:r>
              <a:rPr lang="en-CA" dirty="0"/>
              <a:t> EXCEPTION; is unnecessary because the custom error is being raised using RAISE_APPLICATION_ERROR.</a:t>
            </a:r>
          </a:p>
          <a:p>
            <a:endParaRPr lang="en-CA" dirty="0"/>
          </a:p>
          <a:p>
            <a:endParaRPr lang="en-CA" dirty="0"/>
          </a:p>
          <a:p>
            <a:r>
              <a:rPr lang="en-CA" b="1" dirty="0"/>
              <a:t>Explanation:</a:t>
            </a:r>
          </a:p>
          <a:p>
            <a:pPr marL="171450" indent="-1714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RAISE_APPLICATION_ERROR is used to generate a custom error message.</a:t>
            </a:r>
          </a:p>
          <a:p>
            <a:pPr marL="171450" indent="-1714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-20001 is an arbitrary error code within the range Oracle allows for user-defined errors.</a:t>
            </a:r>
          </a:p>
          <a:p>
            <a:pPr marL="171450" indent="-1714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The second parameter ('Age cannot be negative!') is the custom error message.</a:t>
            </a:r>
          </a:p>
          <a:p>
            <a:pPr marL="171450" indent="-171450">
              <a:buFont typeface="Wingdings" panose="05000000000000000000" pitchFamily="2" charset="2"/>
              <a:buChar char="§"/>
            </a:pPr>
            <a:endParaRPr lang="en-CA" sz="1200" dirty="0">
              <a:latin typeface="Tahoma" panose="020B0604030504040204" pitchFamily="34" charset="0"/>
              <a:ea typeface="Tahoma" panose="020B0604030504040204" pitchFamily="34" charset="0"/>
              <a:cs typeface="Tahoma" panose="020B0604030504040204" pitchFamily="34" charset="0"/>
            </a:endParaRPr>
          </a:p>
          <a:p>
            <a:pPr marL="171450" indent="-171450">
              <a:buFont typeface="Wingdings" panose="05000000000000000000" pitchFamily="2" charset="2"/>
              <a:buChar char="§"/>
            </a:pPr>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b="1" dirty="0"/>
              <a:t>What is SQLERRM in PL/SQL?</a:t>
            </a:r>
          </a:p>
          <a:p>
            <a:r>
              <a:rPr lang="en-CA" dirty="0"/>
              <a:t>SQLERRM is a </a:t>
            </a:r>
            <a:r>
              <a:rPr lang="en-CA" b="1" dirty="0"/>
              <a:t>built-in function</a:t>
            </a:r>
            <a:r>
              <a:rPr lang="en-CA" dirty="0"/>
              <a:t> in PL/SQL that </a:t>
            </a:r>
            <a:r>
              <a:rPr lang="en-CA" b="1" dirty="0"/>
              <a:t>returns the error message associated with the most recent exception</a:t>
            </a:r>
            <a:r>
              <a:rPr lang="en-CA" dirty="0"/>
              <a:t>. It is typically used in </a:t>
            </a:r>
            <a:r>
              <a:rPr lang="en-CA" b="1" dirty="0"/>
              <a:t>exception handling</a:t>
            </a:r>
            <a:r>
              <a:rPr lang="en-CA" dirty="0"/>
              <a:t> to provide details about the error that occurred.</a:t>
            </a:r>
          </a:p>
          <a:p>
            <a:pPr marL="171450" indent="-171450">
              <a:buFont typeface="Wingdings" panose="05000000000000000000" pitchFamily="2" charset="2"/>
              <a:buChar char="§"/>
            </a:pPr>
            <a:endParaRPr lang="en-CA" sz="1200" dirty="0">
              <a:latin typeface="Tahoma" panose="020B0604030504040204" pitchFamily="34" charset="0"/>
              <a:ea typeface="Tahoma" panose="020B0604030504040204" pitchFamily="34" charset="0"/>
              <a:cs typeface="Tahoma" panose="020B0604030504040204" pitchFamily="34" charset="0"/>
            </a:endParaRPr>
          </a:p>
          <a:p>
            <a:endParaRPr lang="en-CA" dirty="0"/>
          </a:p>
        </p:txBody>
      </p:sp>
      <p:sp>
        <p:nvSpPr>
          <p:cNvPr id="4" name="Slide Number Placeholder 3">
            <a:extLst>
              <a:ext uri="{FF2B5EF4-FFF2-40B4-BE49-F238E27FC236}">
                <a16:creationId xmlns:a16="http://schemas.microsoft.com/office/drawing/2014/main" id="{D8B24568-A144-B7D7-3BA4-B5CCC6F374EF}"/>
              </a:ext>
            </a:extLst>
          </p:cNvPr>
          <p:cNvSpPr>
            <a:spLocks noGrp="1"/>
          </p:cNvSpPr>
          <p:nvPr>
            <p:ph type="sldNum" sz="quarter" idx="5"/>
          </p:nvPr>
        </p:nvSpPr>
        <p:spPr/>
        <p:txBody>
          <a:bodyPr/>
          <a:lstStyle/>
          <a:p>
            <a:fld id="{2E33CC18-1865-4129-A9A3-B2A3FC03A236}" type="slidenum">
              <a:rPr lang="en-US" smtClean="0"/>
              <a:t>9</a:t>
            </a:fld>
            <a:endParaRPr lang="en-US"/>
          </a:p>
        </p:txBody>
      </p:sp>
    </p:spTree>
    <p:extLst>
      <p:ext uri="{BB962C8B-B14F-4D97-AF65-F5344CB8AC3E}">
        <p14:creationId xmlns:p14="http://schemas.microsoft.com/office/powerpoint/2010/main" val="1026924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F4F6D-5CA1-EFBF-63AD-5B5FC9632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6AE3D-E1CF-538C-ED46-1A40F26E2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39D9A-3F35-ACA3-0143-5F2B551CF0A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EBC8708-EC9B-6D16-A4BF-A8BC19328DAD}"/>
              </a:ext>
            </a:extLst>
          </p:cNvPr>
          <p:cNvSpPr>
            <a:spLocks noGrp="1"/>
          </p:cNvSpPr>
          <p:nvPr>
            <p:ph type="sldNum" sz="quarter" idx="5"/>
          </p:nvPr>
        </p:nvSpPr>
        <p:spPr/>
        <p:txBody>
          <a:bodyPr/>
          <a:lstStyle/>
          <a:p>
            <a:fld id="{2E33CC18-1865-4129-A9A3-B2A3FC03A236}" type="slidenum">
              <a:rPr lang="en-US" smtClean="0"/>
              <a:t>10</a:t>
            </a:fld>
            <a:endParaRPr lang="en-US"/>
          </a:p>
        </p:txBody>
      </p:sp>
    </p:spTree>
    <p:extLst>
      <p:ext uri="{BB962C8B-B14F-4D97-AF65-F5344CB8AC3E}">
        <p14:creationId xmlns:p14="http://schemas.microsoft.com/office/powerpoint/2010/main" val="482377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Explanation of the Script</a:t>
            </a:r>
          </a:p>
          <a:p>
            <a:r>
              <a:rPr lang="en-CA" b="1" dirty="0"/>
              <a:t>1. Creating the Table using a Procedure</a:t>
            </a:r>
          </a:p>
          <a:p>
            <a:pPr>
              <a:buFont typeface="Arial" panose="020B0604020202020204" pitchFamily="34" charset="0"/>
              <a:buChar char="•"/>
            </a:pPr>
            <a:r>
              <a:rPr lang="en-CA" dirty="0"/>
              <a:t>EXECUTE IMMEDIATE is used to create the students table dynamically.</a:t>
            </a:r>
          </a:p>
          <a:p>
            <a:pPr>
              <a:buFont typeface="Arial" panose="020B0604020202020204" pitchFamily="34" charset="0"/>
              <a:buChar char="•"/>
            </a:pPr>
            <a:r>
              <a:rPr lang="en-CA" dirty="0"/>
              <a:t>Exception handling is in place to catch errors if the table already exists.</a:t>
            </a:r>
          </a:p>
          <a:p>
            <a:pPr>
              <a:buFont typeface="Arial" panose="020B0604020202020204" pitchFamily="34" charset="0"/>
              <a:buChar char="•"/>
            </a:pPr>
            <a:endParaRPr lang="en-CA" dirty="0"/>
          </a:p>
          <a:p>
            <a:r>
              <a:rPr lang="en-CA" b="1" dirty="0"/>
              <a:t>2. Inserting Data with Exception Handling</a:t>
            </a:r>
          </a:p>
          <a:p>
            <a:pPr>
              <a:buFont typeface="Arial" panose="020B0604020202020204" pitchFamily="34" charset="0"/>
              <a:buChar char="•"/>
            </a:pPr>
            <a:r>
              <a:rPr lang="en-CA" dirty="0"/>
              <a:t>Three records are inserted.</a:t>
            </a:r>
          </a:p>
          <a:p>
            <a:pPr>
              <a:buFont typeface="Arial" panose="020B0604020202020204" pitchFamily="34" charset="0"/>
              <a:buChar char="•"/>
            </a:pPr>
            <a:r>
              <a:rPr lang="en-CA" dirty="0"/>
              <a:t>The third record causes a </a:t>
            </a:r>
            <a:r>
              <a:rPr lang="en-CA" b="1" dirty="0"/>
              <a:t>Primary Key Violation</a:t>
            </a:r>
            <a:r>
              <a:rPr lang="en-CA" dirty="0"/>
              <a:t>, which is handled using PRAGMA EXCEPTION_INIT.</a:t>
            </a:r>
          </a:p>
          <a:p>
            <a:pPr>
              <a:buFont typeface="Arial" panose="020B0604020202020204" pitchFamily="34" charset="0"/>
              <a:buChar char="•"/>
            </a:pPr>
            <a:endParaRPr lang="en-CA" dirty="0"/>
          </a:p>
          <a:p>
            <a:r>
              <a:rPr lang="en-CA" b="1" dirty="0"/>
              <a:t>3. Updating Data with Rollback</a:t>
            </a:r>
          </a:p>
          <a:p>
            <a:pPr>
              <a:buFont typeface="Arial" panose="020B0604020202020204" pitchFamily="34" charset="0"/>
              <a:buChar char="•"/>
            </a:pPr>
            <a:r>
              <a:rPr lang="en-CA" dirty="0"/>
              <a:t>The age of </a:t>
            </a:r>
            <a:r>
              <a:rPr lang="en-CA" dirty="0" err="1"/>
              <a:t>student_id</a:t>
            </a:r>
            <a:r>
              <a:rPr lang="en-CA" dirty="0"/>
              <a:t> = 2 is updated.</a:t>
            </a:r>
          </a:p>
          <a:p>
            <a:pPr>
              <a:buFont typeface="Arial" panose="020B0604020202020204" pitchFamily="34" charset="0"/>
              <a:buChar char="•"/>
            </a:pPr>
            <a:r>
              <a:rPr lang="en-CA" dirty="0"/>
              <a:t>If the age goes below 18, a </a:t>
            </a:r>
            <a:r>
              <a:rPr lang="en-CA" b="1" dirty="0"/>
              <a:t>custom error (-20002)</a:t>
            </a:r>
            <a:r>
              <a:rPr lang="en-CA" dirty="0"/>
              <a:t> is raised.</a:t>
            </a:r>
          </a:p>
          <a:p>
            <a:pPr>
              <a:buFont typeface="Arial" panose="020B0604020202020204" pitchFamily="34" charset="0"/>
              <a:buChar char="•"/>
            </a:pPr>
            <a:r>
              <a:rPr lang="en-CA" dirty="0"/>
              <a:t>ROLLBACK TO SAVEPOINT ensures that only the failed part is undone.</a:t>
            </a:r>
          </a:p>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11</a:t>
            </a:fld>
            <a:endParaRPr lang="en-US"/>
          </a:p>
        </p:txBody>
      </p:sp>
    </p:spTree>
    <p:extLst>
      <p:ext uri="{BB962C8B-B14F-4D97-AF65-F5344CB8AC3E}">
        <p14:creationId xmlns:p14="http://schemas.microsoft.com/office/powerpoint/2010/main" val="81180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EDC8C-9EA7-671D-E046-3D9F4A7FA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091C-1C3A-67E9-342A-7D185A62B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5F0D8-DEBB-A928-76A1-2903F6CE8135}"/>
              </a:ext>
            </a:extLst>
          </p:cNvPr>
          <p:cNvSpPr>
            <a:spLocks noGrp="1"/>
          </p:cNvSpPr>
          <p:nvPr>
            <p:ph type="body" idx="1"/>
          </p:nvPr>
        </p:nvSpPr>
        <p:spPr/>
        <p:txBody>
          <a:bodyPr/>
          <a:lstStyle/>
          <a:p>
            <a:r>
              <a:rPr lang="en-CA" b="1" dirty="0"/>
              <a:t>Explanation of the Script</a:t>
            </a:r>
          </a:p>
          <a:p>
            <a:r>
              <a:rPr lang="en-CA" b="1" dirty="0"/>
              <a:t>1. Creating the Table using a Procedure</a:t>
            </a:r>
          </a:p>
          <a:p>
            <a:pPr>
              <a:buFont typeface="Arial" panose="020B0604020202020204" pitchFamily="34" charset="0"/>
              <a:buChar char="•"/>
            </a:pPr>
            <a:r>
              <a:rPr lang="en-CA" dirty="0"/>
              <a:t>EXECUTE IMMEDIATE is used to create the students table dynamically.</a:t>
            </a:r>
          </a:p>
          <a:p>
            <a:pPr>
              <a:buFont typeface="Arial" panose="020B0604020202020204" pitchFamily="34" charset="0"/>
              <a:buChar char="•"/>
            </a:pPr>
            <a:r>
              <a:rPr lang="en-CA" dirty="0"/>
              <a:t>Exception handling is in place to catch errors if the table already exists.</a:t>
            </a:r>
          </a:p>
          <a:p>
            <a:r>
              <a:rPr lang="en-CA" b="1" dirty="0"/>
              <a:t>2. Inserting Data with Exception Handling</a:t>
            </a:r>
          </a:p>
          <a:p>
            <a:pPr>
              <a:buFont typeface="Arial" panose="020B0604020202020204" pitchFamily="34" charset="0"/>
              <a:buChar char="•"/>
            </a:pPr>
            <a:r>
              <a:rPr lang="en-CA" dirty="0"/>
              <a:t>Three records are inserted.</a:t>
            </a:r>
          </a:p>
          <a:p>
            <a:pPr>
              <a:buFont typeface="Arial" panose="020B0604020202020204" pitchFamily="34" charset="0"/>
              <a:buChar char="•"/>
            </a:pPr>
            <a:r>
              <a:rPr lang="en-CA" dirty="0"/>
              <a:t>The third record causes a </a:t>
            </a:r>
            <a:r>
              <a:rPr lang="en-CA" b="1" dirty="0"/>
              <a:t>Primary Key Violation</a:t>
            </a:r>
            <a:r>
              <a:rPr lang="en-CA" dirty="0"/>
              <a:t>, which is handled using PRAGMA EXCEPTION_INIT.</a:t>
            </a:r>
          </a:p>
          <a:p>
            <a:r>
              <a:rPr lang="en-CA" b="1" dirty="0"/>
              <a:t>3. Updating Data with Rollback</a:t>
            </a:r>
          </a:p>
          <a:p>
            <a:pPr>
              <a:buFont typeface="Arial" panose="020B0604020202020204" pitchFamily="34" charset="0"/>
              <a:buChar char="•"/>
            </a:pPr>
            <a:r>
              <a:rPr lang="en-CA" dirty="0"/>
              <a:t>The age of </a:t>
            </a:r>
            <a:r>
              <a:rPr lang="en-CA" dirty="0" err="1"/>
              <a:t>student_id</a:t>
            </a:r>
            <a:r>
              <a:rPr lang="en-CA" dirty="0"/>
              <a:t> = 2 is updated.</a:t>
            </a:r>
          </a:p>
          <a:p>
            <a:pPr>
              <a:buFont typeface="Arial" panose="020B0604020202020204" pitchFamily="34" charset="0"/>
              <a:buChar char="•"/>
            </a:pPr>
            <a:r>
              <a:rPr lang="en-CA" dirty="0"/>
              <a:t>If the age goes below 18, a </a:t>
            </a:r>
            <a:r>
              <a:rPr lang="en-CA" b="1" dirty="0"/>
              <a:t>custom error (-20002)</a:t>
            </a:r>
            <a:r>
              <a:rPr lang="en-CA" dirty="0"/>
              <a:t> is raised.</a:t>
            </a:r>
          </a:p>
          <a:p>
            <a:pPr>
              <a:buFont typeface="Arial" panose="020B0604020202020204" pitchFamily="34" charset="0"/>
              <a:buChar char="•"/>
            </a:pPr>
            <a:r>
              <a:rPr lang="en-CA" dirty="0"/>
              <a:t>ROLLBACK TO SAVEPOINT ensures that only the failed part is undone.</a:t>
            </a:r>
          </a:p>
        </p:txBody>
      </p:sp>
      <p:sp>
        <p:nvSpPr>
          <p:cNvPr id="4" name="Slide Number Placeholder 3">
            <a:extLst>
              <a:ext uri="{FF2B5EF4-FFF2-40B4-BE49-F238E27FC236}">
                <a16:creationId xmlns:a16="http://schemas.microsoft.com/office/drawing/2014/main" id="{3F7A6654-E05B-5DBA-9F78-082CBE8ACA87}"/>
              </a:ext>
            </a:extLst>
          </p:cNvPr>
          <p:cNvSpPr>
            <a:spLocks noGrp="1"/>
          </p:cNvSpPr>
          <p:nvPr>
            <p:ph type="sldNum" sz="quarter" idx="5"/>
          </p:nvPr>
        </p:nvSpPr>
        <p:spPr/>
        <p:txBody>
          <a:bodyPr/>
          <a:lstStyle/>
          <a:p>
            <a:fld id="{2E33CC18-1865-4129-A9A3-B2A3FC03A236}" type="slidenum">
              <a:rPr lang="en-US" smtClean="0"/>
              <a:t>12</a:t>
            </a:fld>
            <a:endParaRPr lang="en-US" dirty="0"/>
          </a:p>
        </p:txBody>
      </p:sp>
    </p:spTree>
    <p:extLst>
      <p:ext uri="{BB962C8B-B14F-4D97-AF65-F5344CB8AC3E}">
        <p14:creationId xmlns:p14="http://schemas.microsoft.com/office/powerpoint/2010/main" val="3584908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AA891-E8EE-1D3B-07CF-6CBFB0459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3322E-733A-1156-A99C-F08E13C77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B6D55-D759-8E61-642D-8BFCDE46C63F}"/>
              </a:ext>
            </a:extLst>
          </p:cNvPr>
          <p:cNvSpPr>
            <a:spLocks noGrp="1"/>
          </p:cNvSpPr>
          <p:nvPr>
            <p:ph type="body" idx="1"/>
          </p:nvPr>
        </p:nvSpPr>
        <p:spPr/>
        <p:txBody>
          <a:bodyPr/>
          <a:lstStyle/>
          <a:p>
            <a:r>
              <a:rPr lang="en-CA" sz="12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Commonly Used Predefined Exceptions in PL/SQL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System-defined exceptions are automatically raised when a </a:t>
            </a:r>
            <a:r>
              <a:rPr lang="en-CA" b="1" dirty="0"/>
              <a:t>predefined error occurs during execution</a:t>
            </a:r>
            <a:r>
              <a:rPr lang="en-CA" dirty="0"/>
              <a:t>. </a:t>
            </a:r>
          </a:p>
        </p:txBody>
      </p:sp>
      <p:sp>
        <p:nvSpPr>
          <p:cNvPr id="4" name="Slide Number Placeholder 3">
            <a:extLst>
              <a:ext uri="{FF2B5EF4-FFF2-40B4-BE49-F238E27FC236}">
                <a16:creationId xmlns:a16="http://schemas.microsoft.com/office/drawing/2014/main" id="{09125488-CF0C-04CD-B6B8-FEE8CFBD1B20}"/>
              </a:ext>
            </a:extLst>
          </p:cNvPr>
          <p:cNvSpPr>
            <a:spLocks noGrp="1"/>
          </p:cNvSpPr>
          <p:nvPr>
            <p:ph type="sldNum" sz="quarter" idx="5"/>
          </p:nvPr>
        </p:nvSpPr>
        <p:spPr/>
        <p:txBody>
          <a:bodyPr/>
          <a:lstStyle/>
          <a:p>
            <a:fld id="{2E33CC18-1865-4129-A9A3-B2A3FC03A236}" type="slidenum">
              <a:rPr lang="en-US" smtClean="0"/>
              <a:t>13</a:t>
            </a:fld>
            <a:endParaRPr lang="en-US" dirty="0"/>
          </a:p>
        </p:txBody>
      </p:sp>
    </p:spTree>
    <p:extLst>
      <p:ext uri="{BB962C8B-B14F-4D97-AF65-F5344CB8AC3E}">
        <p14:creationId xmlns:p14="http://schemas.microsoft.com/office/powerpoint/2010/main" val="1127738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B4089-3738-E784-E4A5-7778E7AC0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FD5C2-17CB-A1A0-09FC-29FB8C6F7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82DC5-F97F-D7A1-36AD-D9A7305287DE}"/>
              </a:ext>
            </a:extLst>
          </p:cNvPr>
          <p:cNvSpPr>
            <a:spLocks noGrp="1"/>
          </p:cNvSpPr>
          <p:nvPr>
            <p:ph type="body" idx="1"/>
          </p:nvPr>
        </p:nvSpPr>
        <p:spPr/>
        <p:txBody>
          <a:bodyPr/>
          <a:lstStyle/>
          <a:p>
            <a:r>
              <a:rPr lang="en-CA" b="1" dirty="0"/>
              <a:t>Modifications Done:</a:t>
            </a:r>
          </a:p>
          <a:p>
            <a:r>
              <a:rPr lang="en-CA" dirty="0"/>
              <a:t>✔ </a:t>
            </a:r>
            <a:r>
              <a:rPr lang="en-CA" b="1" dirty="0"/>
              <a:t>Parameterized </a:t>
            </a:r>
            <a:r>
              <a:rPr lang="en-CA" b="1" dirty="0" err="1"/>
              <a:t>student_id</a:t>
            </a:r>
            <a:r>
              <a:rPr lang="en-CA" b="1" dirty="0"/>
              <a:t> and </a:t>
            </a:r>
            <a:r>
              <a:rPr lang="en-CA" b="1" dirty="0" err="1"/>
              <a:t>new_age</a:t>
            </a:r>
            <a:br>
              <a:rPr lang="en-CA" dirty="0"/>
            </a:br>
            <a:r>
              <a:rPr lang="en-CA" dirty="0"/>
              <a:t>✔ </a:t>
            </a:r>
            <a:r>
              <a:rPr lang="en-CA" b="1" dirty="0"/>
              <a:t>Maintained rollback mechanism</a:t>
            </a:r>
            <a:br>
              <a:rPr lang="en-CA" dirty="0"/>
            </a:br>
            <a:r>
              <a:rPr lang="en-CA" dirty="0"/>
              <a:t>✔ </a:t>
            </a:r>
            <a:r>
              <a:rPr lang="en-CA" b="1" dirty="0"/>
              <a:t>Handles unexpected errors (WHEN OTHERS)</a:t>
            </a:r>
            <a:endParaRPr lang="en-CA" dirty="0"/>
          </a:p>
          <a:p>
            <a:endParaRPr lang="en-CA" b="1" dirty="0"/>
          </a:p>
        </p:txBody>
      </p:sp>
      <p:sp>
        <p:nvSpPr>
          <p:cNvPr id="4" name="Slide Number Placeholder 3">
            <a:extLst>
              <a:ext uri="{FF2B5EF4-FFF2-40B4-BE49-F238E27FC236}">
                <a16:creationId xmlns:a16="http://schemas.microsoft.com/office/drawing/2014/main" id="{C789773C-DA2D-ACA1-19A2-3DE437DBA05A}"/>
              </a:ext>
            </a:extLst>
          </p:cNvPr>
          <p:cNvSpPr>
            <a:spLocks noGrp="1"/>
          </p:cNvSpPr>
          <p:nvPr>
            <p:ph type="sldNum" sz="quarter" idx="5"/>
          </p:nvPr>
        </p:nvSpPr>
        <p:spPr/>
        <p:txBody>
          <a:bodyPr/>
          <a:lstStyle/>
          <a:p>
            <a:fld id="{2E33CC18-1865-4129-A9A3-B2A3FC03A236}" type="slidenum">
              <a:rPr lang="en-US" smtClean="0"/>
              <a:t>14</a:t>
            </a:fld>
            <a:endParaRPr lang="en-US"/>
          </a:p>
        </p:txBody>
      </p:sp>
    </p:spTree>
    <p:extLst>
      <p:ext uri="{BB962C8B-B14F-4D97-AF65-F5344CB8AC3E}">
        <p14:creationId xmlns:p14="http://schemas.microsoft.com/office/powerpoint/2010/main" val="3543122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07293-BF1F-E88A-728D-9EA99A884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58BF3-6B94-31B4-86EB-5F6102F9FF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54AF3-FB69-1456-7C64-70F4A9AADE24}"/>
              </a:ext>
            </a:extLst>
          </p:cNvPr>
          <p:cNvSpPr>
            <a:spLocks noGrp="1"/>
          </p:cNvSpPr>
          <p:nvPr>
            <p:ph type="body" idx="1"/>
          </p:nvPr>
        </p:nvSpPr>
        <p:spPr/>
        <p:txBody>
          <a:bodyPr/>
          <a:lstStyle/>
          <a:p>
            <a:r>
              <a:rPr lang="en-CA" b="1" dirty="0"/>
              <a:t>Key Issues and Consequences:</a:t>
            </a:r>
          </a:p>
          <a:p>
            <a:pPr>
              <a:buFont typeface="+mj-lt"/>
              <a:buAutoNum type="arabicPeriod"/>
            </a:pPr>
            <a:r>
              <a:rPr lang="en-CA" b="1" dirty="0"/>
              <a:t>Successful Execution Still Requires a Commit</a:t>
            </a:r>
            <a:endParaRPr lang="en-CA" dirty="0"/>
          </a:p>
          <a:p>
            <a:pPr marL="742950" lvl="1" indent="-285750">
              <a:buFont typeface="+mj-lt"/>
              <a:buAutoNum type="arabicPeriod"/>
            </a:pPr>
            <a:r>
              <a:rPr lang="en-CA" dirty="0"/>
              <a:t>If the procedure runs </a:t>
            </a:r>
            <a:r>
              <a:rPr lang="en-CA" b="1" dirty="0"/>
              <a:t>without errors</a:t>
            </a:r>
            <a:r>
              <a:rPr lang="en-CA" dirty="0"/>
              <a:t>, there will be </a:t>
            </a:r>
            <a:r>
              <a:rPr lang="en-CA" b="1" dirty="0"/>
              <a:t>no explicit COMMIT</a:t>
            </a:r>
            <a:r>
              <a:rPr lang="en-CA" dirty="0"/>
              <a:t> before reaching the exception block.</a:t>
            </a:r>
          </a:p>
          <a:p>
            <a:pPr marL="742950" lvl="1" indent="-285750">
              <a:buFont typeface="+mj-lt"/>
              <a:buAutoNum type="arabicPeriod"/>
            </a:pPr>
            <a:r>
              <a:rPr lang="en-CA" dirty="0"/>
              <a:t>This means </a:t>
            </a:r>
            <a:r>
              <a:rPr lang="en-CA" b="1" dirty="0"/>
              <a:t>if no exception occurs, the update is not committed</a:t>
            </a:r>
            <a:r>
              <a:rPr lang="en-CA" dirty="0"/>
              <a:t>, and the session may </a:t>
            </a:r>
            <a:r>
              <a:rPr lang="en-CA" b="1" dirty="0"/>
              <a:t>retain an open transaction</a:t>
            </a:r>
            <a:r>
              <a:rPr lang="en-CA" dirty="0"/>
              <a:t>.</a:t>
            </a:r>
          </a:p>
          <a:p>
            <a:pPr>
              <a:buFont typeface="+mj-lt"/>
              <a:buAutoNum type="arabicPeriod"/>
            </a:pPr>
            <a:r>
              <a:rPr lang="en-CA" b="1" dirty="0"/>
              <a:t>Committing After a Rollback is Risky</a:t>
            </a:r>
            <a:endParaRPr lang="en-CA" dirty="0"/>
          </a:p>
          <a:p>
            <a:pPr marL="742950" lvl="1" indent="-285750">
              <a:buFont typeface="+mj-lt"/>
              <a:buAutoNum type="arabicPeriod"/>
            </a:pPr>
            <a:r>
              <a:rPr lang="en-CA" dirty="0"/>
              <a:t>If an error occurs and you </a:t>
            </a:r>
            <a:r>
              <a:rPr lang="en-CA" b="1" dirty="0"/>
              <a:t>ROLLBACK</a:t>
            </a:r>
            <a:r>
              <a:rPr lang="en-CA" dirty="0"/>
              <a:t>, then calling COMMIT afterward </a:t>
            </a:r>
            <a:r>
              <a:rPr lang="en-CA" b="1" dirty="0"/>
              <a:t>makes no sense</a:t>
            </a:r>
            <a:r>
              <a:rPr lang="en-CA" dirty="0"/>
              <a:t> because there is </a:t>
            </a:r>
            <a:r>
              <a:rPr lang="en-CA" b="1" dirty="0"/>
              <a:t>nothing left to commit</a:t>
            </a:r>
            <a:r>
              <a:rPr lang="en-CA" dirty="0"/>
              <a:t>—the rollback has already undone all changes.</a:t>
            </a:r>
          </a:p>
          <a:p>
            <a:pPr marL="742950" lvl="1" indent="-285750">
              <a:buFont typeface="+mj-lt"/>
              <a:buAutoNum type="arabicPeriod"/>
            </a:pPr>
            <a:r>
              <a:rPr lang="en-CA" dirty="0"/>
              <a:t>This could also </a:t>
            </a:r>
            <a:r>
              <a:rPr lang="en-CA" b="1" dirty="0"/>
              <a:t>override</a:t>
            </a:r>
            <a:r>
              <a:rPr lang="en-CA" dirty="0"/>
              <a:t> the intended rollback behavior.</a:t>
            </a:r>
          </a:p>
          <a:p>
            <a:pPr>
              <a:buFont typeface="+mj-lt"/>
              <a:buAutoNum type="arabicPeriod"/>
            </a:pPr>
            <a:r>
              <a:rPr lang="en-CA" b="1" dirty="0"/>
              <a:t>Possible Data Integrity Issues</a:t>
            </a:r>
            <a:endParaRPr lang="en-CA" dirty="0"/>
          </a:p>
          <a:p>
            <a:pPr marL="742950" lvl="1" indent="-285750">
              <a:buFont typeface="+mj-lt"/>
              <a:buAutoNum type="arabicPeriod"/>
            </a:pPr>
            <a:r>
              <a:rPr lang="en-CA" dirty="0"/>
              <a:t>If an exception occurs, but the COMMIT is still executed, you might commit a </a:t>
            </a:r>
            <a:r>
              <a:rPr lang="en-CA" b="1" dirty="0"/>
              <a:t>partial transaction</a:t>
            </a:r>
            <a:r>
              <a:rPr lang="en-CA" dirty="0"/>
              <a:t> instead of rolling back properly.</a:t>
            </a:r>
          </a:p>
          <a:p>
            <a:pPr marL="742950" lvl="1" indent="-285750">
              <a:buFont typeface="+mj-lt"/>
              <a:buAutoNum type="arabicPeriod"/>
            </a:pPr>
            <a:r>
              <a:rPr lang="en-CA" dirty="0"/>
              <a:t>Example: If the update is executed but later fails due to an exception (like </a:t>
            </a:r>
            <a:r>
              <a:rPr lang="en-CA" dirty="0" err="1"/>
              <a:t>insufficient_age</a:t>
            </a:r>
            <a:r>
              <a:rPr lang="en-CA" dirty="0"/>
              <a:t>), the rollback should fully revert changes, not allow any committed state.</a:t>
            </a:r>
          </a:p>
        </p:txBody>
      </p:sp>
      <p:sp>
        <p:nvSpPr>
          <p:cNvPr id="4" name="Slide Number Placeholder 3">
            <a:extLst>
              <a:ext uri="{FF2B5EF4-FFF2-40B4-BE49-F238E27FC236}">
                <a16:creationId xmlns:a16="http://schemas.microsoft.com/office/drawing/2014/main" id="{A98E9AF4-5F3A-C688-4BCB-6DA7A7595A4E}"/>
              </a:ext>
            </a:extLst>
          </p:cNvPr>
          <p:cNvSpPr>
            <a:spLocks noGrp="1"/>
          </p:cNvSpPr>
          <p:nvPr>
            <p:ph type="sldNum" sz="quarter" idx="5"/>
          </p:nvPr>
        </p:nvSpPr>
        <p:spPr/>
        <p:txBody>
          <a:bodyPr/>
          <a:lstStyle/>
          <a:p>
            <a:fld id="{2E33CC18-1865-4129-A9A3-B2A3FC03A236}" type="slidenum">
              <a:rPr lang="en-US" smtClean="0"/>
              <a:t>15</a:t>
            </a:fld>
            <a:endParaRPr lang="en-US" dirty="0"/>
          </a:p>
        </p:txBody>
      </p:sp>
    </p:spTree>
    <p:extLst>
      <p:ext uri="{BB962C8B-B14F-4D97-AF65-F5344CB8AC3E}">
        <p14:creationId xmlns:p14="http://schemas.microsoft.com/office/powerpoint/2010/main" val="3011018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D17CE-6BED-0088-9244-2D47A7BC2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208DE-3609-0C6A-52E0-D23252D45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72FC9-200D-18FD-A3FE-D2105040A51A}"/>
              </a:ext>
            </a:extLst>
          </p:cNvPr>
          <p:cNvSpPr>
            <a:spLocks noGrp="1"/>
          </p:cNvSpPr>
          <p:nvPr>
            <p:ph type="body" idx="1"/>
          </p:nvPr>
        </p:nvSpPr>
        <p:spPr/>
        <p:txBody>
          <a:bodyPr/>
          <a:lstStyle/>
          <a:p>
            <a:r>
              <a:rPr lang="en-CA" b="1" dirty="0"/>
              <a:t>Key Issues and Consequences:</a:t>
            </a:r>
          </a:p>
          <a:p>
            <a:pPr>
              <a:buFont typeface="+mj-lt"/>
              <a:buAutoNum type="arabicPeriod"/>
            </a:pPr>
            <a:r>
              <a:rPr lang="en-CA" b="1" dirty="0"/>
              <a:t>Successful Execution Still Requires a Commit</a:t>
            </a:r>
            <a:endParaRPr lang="en-CA" dirty="0"/>
          </a:p>
          <a:p>
            <a:pPr marL="742950" lvl="1" indent="-285750">
              <a:buFont typeface="+mj-lt"/>
              <a:buAutoNum type="arabicPeriod"/>
            </a:pPr>
            <a:r>
              <a:rPr lang="en-CA" dirty="0"/>
              <a:t>If the procedure runs </a:t>
            </a:r>
            <a:r>
              <a:rPr lang="en-CA" b="1" dirty="0"/>
              <a:t>without errors</a:t>
            </a:r>
            <a:r>
              <a:rPr lang="en-CA" dirty="0"/>
              <a:t>, there will be </a:t>
            </a:r>
            <a:r>
              <a:rPr lang="en-CA" b="1" dirty="0"/>
              <a:t>no explicit COMMIT</a:t>
            </a:r>
            <a:r>
              <a:rPr lang="en-CA" dirty="0"/>
              <a:t> before reaching the exception block.</a:t>
            </a:r>
          </a:p>
          <a:p>
            <a:pPr marL="742950" lvl="1" indent="-285750">
              <a:buFont typeface="+mj-lt"/>
              <a:buAutoNum type="arabicPeriod"/>
            </a:pPr>
            <a:r>
              <a:rPr lang="en-CA" dirty="0"/>
              <a:t>This means </a:t>
            </a:r>
            <a:r>
              <a:rPr lang="en-CA" b="1" dirty="0"/>
              <a:t>if no exception occurs, the update is not committed</a:t>
            </a:r>
            <a:r>
              <a:rPr lang="en-CA" dirty="0"/>
              <a:t>, and the session may </a:t>
            </a:r>
            <a:r>
              <a:rPr lang="en-CA" b="1" dirty="0"/>
              <a:t>retain an open transaction</a:t>
            </a:r>
            <a:r>
              <a:rPr lang="en-CA" dirty="0"/>
              <a:t>.</a:t>
            </a:r>
          </a:p>
          <a:p>
            <a:pPr>
              <a:buFont typeface="+mj-lt"/>
              <a:buAutoNum type="arabicPeriod"/>
            </a:pPr>
            <a:r>
              <a:rPr lang="en-CA" b="1" dirty="0"/>
              <a:t>Committing After a Rollback is Risky</a:t>
            </a:r>
            <a:endParaRPr lang="en-CA" dirty="0"/>
          </a:p>
          <a:p>
            <a:pPr marL="742950" lvl="1" indent="-285750">
              <a:buFont typeface="+mj-lt"/>
              <a:buAutoNum type="arabicPeriod"/>
            </a:pPr>
            <a:r>
              <a:rPr lang="en-CA" dirty="0"/>
              <a:t>If an error occurs and you </a:t>
            </a:r>
            <a:r>
              <a:rPr lang="en-CA" b="1" dirty="0"/>
              <a:t>ROLLBACK</a:t>
            </a:r>
            <a:r>
              <a:rPr lang="en-CA" dirty="0"/>
              <a:t>, then calling COMMIT afterward </a:t>
            </a:r>
            <a:r>
              <a:rPr lang="en-CA" b="1" dirty="0"/>
              <a:t>makes no sense</a:t>
            </a:r>
            <a:r>
              <a:rPr lang="en-CA" dirty="0"/>
              <a:t> because there is </a:t>
            </a:r>
            <a:r>
              <a:rPr lang="en-CA" b="1" dirty="0"/>
              <a:t>nothing left to commit</a:t>
            </a:r>
            <a:r>
              <a:rPr lang="en-CA" dirty="0"/>
              <a:t>—the rollback has already undone all changes.</a:t>
            </a:r>
          </a:p>
          <a:p>
            <a:pPr marL="742950" lvl="1" indent="-285750">
              <a:buFont typeface="+mj-lt"/>
              <a:buAutoNum type="arabicPeriod"/>
            </a:pPr>
            <a:r>
              <a:rPr lang="en-CA" dirty="0"/>
              <a:t>This could also </a:t>
            </a:r>
            <a:r>
              <a:rPr lang="en-CA" b="1" dirty="0"/>
              <a:t>override</a:t>
            </a:r>
            <a:r>
              <a:rPr lang="en-CA" dirty="0"/>
              <a:t> the intended rollback behavior.</a:t>
            </a:r>
          </a:p>
          <a:p>
            <a:pPr>
              <a:buFont typeface="+mj-lt"/>
              <a:buAutoNum type="arabicPeriod"/>
            </a:pPr>
            <a:r>
              <a:rPr lang="en-CA" b="1" dirty="0"/>
              <a:t>Possible Data Integrity Issues</a:t>
            </a:r>
            <a:endParaRPr lang="en-CA" dirty="0"/>
          </a:p>
          <a:p>
            <a:pPr marL="742950" lvl="1" indent="-285750">
              <a:buFont typeface="+mj-lt"/>
              <a:buAutoNum type="arabicPeriod"/>
            </a:pPr>
            <a:r>
              <a:rPr lang="en-CA" dirty="0"/>
              <a:t>If an exception occurs, but the COMMIT is still executed, you might commit a </a:t>
            </a:r>
            <a:r>
              <a:rPr lang="en-CA" b="1" dirty="0"/>
              <a:t>partial transaction</a:t>
            </a:r>
            <a:r>
              <a:rPr lang="en-CA" dirty="0"/>
              <a:t> instead of rolling back properly.</a:t>
            </a:r>
          </a:p>
          <a:p>
            <a:pPr marL="742950" lvl="1" indent="-285750">
              <a:buFont typeface="+mj-lt"/>
              <a:buAutoNum type="arabicPeriod"/>
            </a:pPr>
            <a:r>
              <a:rPr lang="en-CA" dirty="0"/>
              <a:t>Example: If the update is executed but later fails due to an exception (like </a:t>
            </a:r>
            <a:r>
              <a:rPr lang="en-CA" dirty="0" err="1"/>
              <a:t>insufficient_age</a:t>
            </a:r>
            <a:r>
              <a:rPr lang="en-CA" dirty="0"/>
              <a:t>), the rollback should fully revert changes, not allow any committed state.</a:t>
            </a:r>
          </a:p>
        </p:txBody>
      </p:sp>
      <p:sp>
        <p:nvSpPr>
          <p:cNvPr id="4" name="Slide Number Placeholder 3">
            <a:extLst>
              <a:ext uri="{FF2B5EF4-FFF2-40B4-BE49-F238E27FC236}">
                <a16:creationId xmlns:a16="http://schemas.microsoft.com/office/drawing/2014/main" id="{E4B7E23E-2434-35EE-60D5-BFE2767EF743}"/>
              </a:ext>
            </a:extLst>
          </p:cNvPr>
          <p:cNvSpPr>
            <a:spLocks noGrp="1"/>
          </p:cNvSpPr>
          <p:nvPr>
            <p:ph type="sldNum" sz="quarter" idx="5"/>
          </p:nvPr>
        </p:nvSpPr>
        <p:spPr/>
        <p:txBody>
          <a:bodyPr/>
          <a:lstStyle/>
          <a:p>
            <a:fld id="{2E33CC18-1865-4129-A9A3-B2A3FC03A236}" type="slidenum">
              <a:rPr lang="en-US" smtClean="0"/>
              <a:t>16</a:t>
            </a:fld>
            <a:endParaRPr lang="en-US" dirty="0"/>
          </a:p>
        </p:txBody>
      </p:sp>
    </p:spTree>
    <p:extLst>
      <p:ext uri="{BB962C8B-B14F-4D97-AF65-F5344CB8AC3E}">
        <p14:creationId xmlns:p14="http://schemas.microsoft.com/office/powerpoint/2010/main" val="3742073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144F-EAAC-000C-F00E-FC54F65C2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908A3-9891-8DC4-3C19-D0EAEE54A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65064-2AB4-1C07-A311-B466A5E16242}"/>
              </a:ext>
            </a:extLst>
          </p:cNvPr>
          <p:cNvSpPr>
            <a:spLocks noGrp="1"/>
          </p:cNvSpPr>
          <p:nvPr>
            <p:ph type="body" idx="1"/>
          </p:nvPr>
        </p:nvSpPr>
        <p:spPr/>
        <p:txBody>
          <a:bodyPr/>
          <a:lstStyle/>
          <a:p>
            <a:r>
              <a:rPr lang="en-CA" b="1" dirty="0"/>
              <a:t>Final Thoughts</a:t>
            </a:r>
          </a:p>
          <a:p>
            <a:r>
              <a:rPr lang="en-CA" dirty="0"/>
              <a:t>SQLERRM is essential for handling errors dynamically and improving debugging. Would you like a more advanced example with error handling and rollback? 🚀 </a:t>
            </a:r>
          </a:p>
          <a:p>
            <a:endParaRPr lang="en-CA" dirty="0"/>
          </a:p>
          <a:p>
            <a:r>
              <a:rPr lang="en-CA" b="1" dirty="0"/>
              <a:t>What is ROLLBACK in SQL/PLSQL?</a:t>
            </a:r>
          </a:p>
          <a:p>
            <a:r>
              <a:rPr lang="en-CA" dirty="0"/>
              <a:t>ROLLBACK is a </a:t>
            </a:r>
            <a:r>
              <a:rPr lang="en-CA" b="1" dirty="0"/>
              <a:t>transaction control statement</a:t>
            </a:r>
            <a:r>
              <a:rPr lang="en-CA" dirty="0"/>
              <a:t> used to </a:t>
            </a:r>
            <a:r>
              <a:rPr lang="en-CA" b="1" dirty="0"/>
              <a:t>undo changes</a:t>
            </a:r>
            <a:r>
              <a:rPr lang="en-CA" dirty="0"/>
              <a:t> made by a transaction </a:t>
            </a:r>
            <a:r>
              <a:rPr lang="en-CA" b="1" dirty="0"/>
              <a:t>before committing them</a:t>
            </a:r>
            <a:r>
              <a:rPr lang="en-CA" dirty="0"/>
              <a:t>. It restores the database to the last committed state, ensuring that incomplete or incorrect operations do not affect the data.</a:t>
            </a:r>
          </a:p>
          <a:p>
            <a:endParaRPr lang="en-CA" dirty="0"/>
          </a:p>
        </p:txBody>
      </p:sp>
      <p:sp>
        <p:nvSpPr>
          <p:cNvPr id="4" name="Slide Number Placeholder 3">
            <a:extLst>
              <a:ext uri="{FF2B5EF4-FFF2-40B4-BE49-F238E27FC236}">
                <a16:creationId xmlns:a16="http://schemas.microsoft.com/office/drawing/2014/main" id="{88825245-8489-8229-9DF7-C3921ECDF84E}"/>
              </a:ext>
            </a:extLst>
          </p:cNvPr>
          <p:cNvSpPr>
            <a:spLocks noGrp="1"/>
          </p:cNvSpPr>
          <p:nvPr>
            <p:ph type="sldNum" sz="quarter" idx="5"/>
          </p:nvPr>
        </p:nvSpPr>
        <p:spPr/>
        <p:txBody>
          <a:bodyPr/>
          <a:lstStyle/>
          <a:p>
            <a:fld id="{2E33CC18-1865-4129-A9A3-B2A3FC03A236}" type="slidenum">
              <a:rPr lang="en-US" smtClean="0"/>
              <a:t>17</a:t>
            </a:fld>
            <a:endParaRPr lang="en-US"/>
          </a:p>
        </p:txBody>
      </p:sp>
    </p:spTree>
    <p:extLst>
      <p:ext uri="{BB962C8B-B14F-4D97-AF65-F5344CB8AC3E}">
        <p14:creationId xmlns:p14="http://schemas.microsoft.com/office/powerpoint/2010/main" val="3089629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BAAD2-761D-C891-53AC-1A145EC51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7F7F8-4E41-B7F8-DD82-B72F6F7EB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93B2F-A152-4DA2-8770-AC560AF8828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2585128-4B17-EF2E-9D55-9F5186A5BAE9}"/>
              </a:ext>
            </a:extLst>
          </p:cNvPr>
          <p:cNvSpPr>
            <a:spLocks noGrp="1"/>
          </p:cNvSpPr>
          <p:nvPr>
            <p:ph type="sldNum" sz="quarter" idx="5"/>
          </p:nvPr>
        </p:nvSpPr>
        <p:spPr/>
        <p:txBody>
          <a:bodyPr/>
          <a:lstStyle/>
          <a:p>
            <a:fld id="{2E33CC18-1865-4129-A9A3-B2A3FC03A236}" type="slidenum">
              <a:rPr lang="en-US" smtClean="0"/>
              <a:t>18</a:t>
            </a:fld>
            <a:endParaRPr lang="en-US"/>
          </a:p>
        </p:txBody>
      </p:sp>
    </p:spTree>
    <p:extLst>
      <p:ext uri="{BB962C8B-B14F-4D97-AF65-F5344CB8AC3E}">
        <p14:creationId xmlns:p14="http://schemas.microsoft.com/office/powerpoint/2010/main" val="39062441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19</a:t>
            </a:fld>
            <a:endParaRPr lang="en-US"/>
          </a:p>
        </p:txBody>
      </p:sp>
    </p:spTree>
    <p:extLst>
      <p:ext uri="{BB962C8B-B14F-4D97-AF65-F5344CB8AC3E}">
        <p14:creationId xmlns:p14="http://schemas.microsoft.com/office/powerpoint/2010/main" val="2820020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20</a:t>
            </a:fld>
            <a:endParaRPr lang="en-US"/>
          </a:p>
        </p:txBody>
      </p:sp>
    </p:spTree>
    <p:extLst>
      <p:ext uri="{BB962C8B-B14F-4D97-AF65-F5344CB8AC3E}">
        <p14:creationId xmlns:p14="http://schemas.microsoft.com/office/powerpoint/2010/main" val="1824464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21</a:t>
            </a:fld>
            <a:endParaRPr lang="en-US"/>
          </a:p>
        </p:txBody>
      </p:sp>
    </p:spTree>
    <p:extLst>
      <p:ext uri="{BB962C8B-B14F-4D97-AF65-F5344CB8AC3E}">
        <p14:creationId xmlns:p14="http://schemas.microsoft.com/office/powerpoint/2010/main" val="284683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22</a:t>
            </a:fld>
            <a:endParaRPr lang="en-US"/>
          </a:p>
        </p:txBody>
      </p:sp>
    </p:spTree>
    <p:extLst>
      <p:ext uri="{BB962C8B-B14F-4D97-AF65-F5344CB8AC3E}">
        <p14:creationId xmlns:p14="http://schemas.microsoft.com/office/powerpoint/2010/main" val="8596489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C7743-7421-06FE-81D6-F9393E5C4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3D7E7-B802-D5CD-F976-46485133E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B60614-D4BC-D244-3986-5A539565C6E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9A07813-8E2D-C461-2178-AA4030DA8712}"/>
              </a:ext>
            </a:extLst>
          </p:cNvPr>
          <p:cNvSpPr>
            <a:spLocks noGrp="1"/>
          </p:cNvSpPr>
          <p:nvPr>
            <p:ph type="sldNum" sz="quarter" idx="5"/>
          </p:nvPr>
        </p:nvSpPr>
        <p:spPr/>
        <p:txBody>
          <a:bodyPr/>
          <a:lstStyle/>
          <a:p>
            <a:fld id="{2E33CC18-1865-4129-A9A3-B2A3FC03A236}" type="slidenum">
              <a:rPr lang="en-US" smtClean="0"/>
              <a:t>23</a:t>
            </a:fld>
            <a:endParaRPr lang="en-US"/>
          </a:p>
        </p:txBody>
      </p:sp>
    </p:spTree>
    <p:extLst>
      <p:ext uri="{BB962C8B-B14F-4D97-AF65-F5344CB8AC3E}">
        <p14:creationId xmlns:p14="http://schemas.microsoft.com/office/powerpoint/2010/main" val="2931928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24</a:t>
            </a:fld>
            <a:endParaRPr lang="en-US"/>
          </a:p>
        </p:txBody>
      </p:sp>
    </p:spTree>
    <p:extLst>
      <p:ext uri="{BB962C8B-B14F-4D97-AF65-F5344CB8AC3E}">
        <p14:creationId xmlns:p14="http://schemas.microsoft.com/office/powerpoint/2010/main" val="1588951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21F4-0FC9-207C-5B0E-CEF8C0EC3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CE150-A374-2694-BC5B-1F651562A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26415-3D66-4344-2016-9E8C0526CF5C}"/>
              </a:ext>
            </a:extLst>
          </p:cNvPr>
          <p:cNvSpPr>
            <a:spLocks noGrp="1"/>
          </p:cNvSpPr>
          <p:nvPr>
            <p:ph type="body" idx="1"/>
          </p:nvPr>
        </p:nvSpPr>
        <p:spPr/>
        <p:txBody>
          <a:bodyPr/>
          <a:lstStyle/>
          <a:p>
            <a:r>
              <a:rPr lang="en-CA" b="1" dirty="0"/>
              <a:t>Explanation</a:t>
            </a:r>
          </a:p>
          <a:p>
            <a:pPr>
              <a:buFont typeface="+mj-lt"/>
              <a:buAutoNum type="arabicPeriod"/>
            </a:pPr>
            <a:r>
              <a:rPr lang="en-CA" b="1" dirty="0"/>
              <a:t>Start:</a:t>
            </a:r>
            <a:r>
              <a:rPr lang="en-CA" dirty="0"/>
              <a:t> The program begins execution.</a:t>
            </a:r>
          </a:p>
          <a:p>
            <a:pPr>
              <a:buFont typeface="+mj-lt"/>
              <a:buAutoNum type="arabicPeriod"/>
            </a:pPr>
            <a:r>
              <a:rPr lang="en-CA" b="1" dirty="0"/>
              <a:t>Evaluate Expression:</a:t>
            </a:r>
            <a:r>
              <a:rPr lang="en-CA" dirty="0"/>
              <a:t> The given value is checked against predefined cases.</a:t>
            </a:r>
          </a:p>
          <a:p>
            <a:pPr>
              <a:buFont typeface="+mj-lt"/>
              <a:buAutoNum type="arabicPeriod"/>
            </a:pPr>
            <a:r>
              <a:rPr lang="en-CA" b="1" dirty="0"/>
              <a:t>Check for Case 1:</a:t>
            </a:r>
            <a:endParaRPr lang="en-CA" dirty="0"/>
          </a:p>
          <a:p>
            <a:pPr marL="742950" lvl="1" indent="-285750">
              <a:buFont typeface="+mj-lt"/>
              <a:buAutoNum type="arabicPeriod"/>
            </a:pPr>
            <a:r>
              <a:rPr lang="en-CA" dirty="0"/>
              <a:t>If </a:t>
            </a:r>
            <a:r>
              <a:rPr lang="en-CA" b="1" dirty="0"/>
              <a:t>Case 1 matches</a:t>
            </a:r>
            <a:r>
              <a:rPr lang="en-CA" dirty="0"/>
              <a:t>, execute Expression 1, then </a:t>
            </a:r>
            <a:r>
              <a:rPr lang="en-CA" b="1" dirty="0"/>
              <a:t>end</a:t>
            </a:r>
            <a:r>
              <a:rPr lang="en-CA" dirty="0"/>
              <a:t> the program.</a:t>
            </a:r>
          </a:p>
          <a:p>
            <a:pPr marL="742950" lvl="1" indent="-285750">
              <a:buFont typeface="+mj-lt"/>
              <a:buAutoNum type="arabicPeriod"/>
            </a:pPr>
            <a:r>
              <a:rPr lang="en-CA" dirty="0"/>
              <a:t>If </a:t>
            </a:r>
            <a:r>
              <a:rPr lang="en-CA" b="1" dirty="0"/>
              <a:t>Case 1 doesn’t match</a:t>
            </a:r>
            <a:r>
              <a:rPr lang="en-CA" dirty="0"/>
              <a:t>, move to the next case.</a:t>
            </a:r>
          </a:p>
          <a:p>
            <a:pPr>
              <a:buFont typeface="+mj-lt"/>
              <a:buAutoNum type="arabicPeriod"/>
            </a:pPr>
            <a:r>
              <a:rPr lang="en-CA" b="1" dirty="0"/>
              <a:t>Check for Case 2:</a:t>
            </a:r>
            <a:endParaRPr lang="en-CA" dirty="0"/>
          </a:p>
          <a:p>
            <a:pPr marL="742950" lvl="1" indent="-285750">
              <a:buFont typeface="+mj-lt"/>
              <a:buAutoNum type="arabicPeriod"/>
            </a:pPr>
            <a:r>
              <a:rPr lang="en-CA" dirty="0"/>
              <a:t>If </a:t>
            </a:r>
            <a:r>
              <a:rPr lang="en-CA" b="1" dirty="0"/>
              <a:t>Case 2 matches</a:t>
            </a:r>
            <a:r>
              <a:rPr lang="en-CA" dirty="0"/>
              <a:t>, execute Expression 2, then </a:t>
            </a:r>
            <a:r>
              <a:rPr lang="en-CA" b="1" dirty="0"/>
              <a:t>end</a:t>
            </a:r>
            <a:r>
              <a:rPr lang="en-CA" dirty="0"/>
              <a:t> the program.</a:t>
            </a:r>
          </a:p>
          <a:p>
            <a:pPr marL="742950" lvl="1" indent="-285750">
              <a:buFont typeface="+mj-lt"/>
              <a:buAutoNum type="arabicPeriod"/>
            </a:pPr>
            <a:r>
              <a:rPr lang="en-CA" dirty="0"/>
              <a:t>If </a:t>
            </a:r>
            <a:r>
              <a:rPr lang="en-CA" b="1" dirty="0"/>
              <a:t>Case 2 doesn’t match</a:t>
            </a:r>
            <a:r>
              <a:rPr lang="en-CA" dirty="0"/>
              <a:t>, move to the next case.</a:t>
            </a:r>
          </a:p>
          <a:p>
            <a:pPr>
              <a:buFont typeface="+mj-lt"/>
              <a:buAutoNum type="arabicPeriod"/>
            </a:pPr>
            <a:r>
              <a:rPr lang="en-CA" b="1" dirty="0"/>
              <a:t>Default Block:</a:t>
            </a:r>
            <a:r>
              <a:rPr lang="en-CA" dirty="0"/>
              <a:t> If no case matches, execute the default block.</a:t>
            </a:r>
          </a:p>
          <a:p>
            <a:pPr>
              <a:buFont typeface="+mj-lt"/>
              <a:buAutoNum type="arabicPeriod"/>
            </a:pPr>
            <a:r>
              <a:rPr lang="en-CA" b="1" dirty="0"/>
              <a:t>End:</a:t>
            </a:r>
            <a:r>
              <a:rPr lang="en-CA" dirty="0"/>
              <a:t> The program terminates.</a:t>
            </a:r>
          </a:p>
          <a:p>
            <a:pPr>
              <a:buFont typeface="+mj-lt"/>
              <a:buAutoNum type="arabicPeriod"/>
            </a:pPr>
            <a:endParaRPr lang="en-CA" dirty="0"/>
          </a:p>
          <a:p>
            <a:pPr>
              <a:buFont typeface="+mj-lt"/>
              <a:buAutoNum type="arabicPeriod"/>
            </a:pPr>
            <a:endParaRPr lang="en-CA" dirty="0"/>
          </a:p>
          <a:p>
            <a:pPr algn="l" fontAlgn="base"/>
            <a:r>
              <a:rPr lang="en-CA" sz="12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Best practices for conditional statements:</a:t>
            </a:r>
            <a:endPar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628650" lvl="1" indent="-171450" fontAlgn="base">
              <a:buFont typeface="Wingdings" panose="05000000000000000000" pitchFamily="2" charset="2"/>
              <a:buChar char="§"/>
            </a:pPr>
            <a:r>
              <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Use indentation and alignment for readability.</a:t>
            </a:r>
          </a:p>
          <a:p>
            <a:pPr marL="628650" lvl="1" indent="-171450" fontAlgn="base">
              <a:buFont typeface="Wingdings" panose="05000000000000000000" pitchFamily="2" charset="2"/>
              <a:buChar char="§"/>
            </a:pPr>
            <a:r>
              <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Clarify complex conditions with parentheses.</a:t>
            </a:r>
          </a:p>
          <a:p>
            <a:pPr marL="628650" lvl="1" indent="-171450" fontAlgn="base">
              <a:buFont typeface="Wingdings" panose="05000000000000000000" pitchFamily="2" charset="2"/>
              <a:buChar char="§"/>
            </a:pPr>
            <a:r>
              <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Prefer CASE over nested IF statements for multiple alternatives.</a:t>
            </a:r>
          </a:p>
          <a:p>
            <a:pPr marL="628650" lvl="1" indent="-171450" fontAlgn="base">
              <a:buFont typeface="Wingdings" panose="05000000000000000000" pitchFamily="2" charset="2"/>
              <a:buChar char="§"/>
            </a:pPr>
            <a:r>
              <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Handle null values using NULLIF and COALESCE functions.</a:t>
            </a:r>
          </a:p>
          <a:p>
            <a:pPr marL="628650" lvl="1" indent="-171450" fontAlgn="base">
              <a:buFont typeface="Wingdings" panose="05000000000000000000" pitchFamily="2" charset="2"/>
              <a:buChar char="§"/>
            </a:pPr>
            <a:endPar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628650" lvl="1" indent="-171450" fontAlgn="base">
              <a:buFont typeface="Wingdings" panose="05000000000000000000" pitchFamily="2" charset="2"/>
              <a:buChar char="§"/>
            </a:pPr>
            <a:endPar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0"/>
            <a:r>
              <a:rPr lang="en-US" sz="3200" b="1" dirty="0">
                <a:latin typeface="Tahoma" panose="020B0604030504040204" pitchFamily="34" charset="0"/>
                <a:ea typeface="Tahoma" panose="020B0604030504040204" pitchFamily="34" charset="0"/>
                <a:cs typeface="Tahoma" panose="020B0604030504040204" pitchFamily="34" charset="0"/>
              </a:rPr>
              <a:t>Summary of Conditions</a:t>
            </a:r>
          </a:p>
          <a:p>
            <a:pPr lvl="1">
              <a:buClrTx/>
              <a:buSzTx/>
              <a:buFont typeface="Wingdings" panose="05000000000000000000" pitchFamily="2" charset="2"/>
              <a:buChar char="§"/>
            </a:pPr>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IF Statements</a:t>
            </a: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 Good for evaluating a single condition or multiple conditions using </a:t>
            </a:r>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ELSIF</a:t>
            </a: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 They are versatile and can be nested.</a:t>
            </a:r>
            <a:endParaRPr lang="en-US" sz="1200" dirty="0">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CASE Statements</a:t>
            </a: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 More concise when you have multiple conditions based on the same expression. They improve readability when checking the same variable against different values.</a:t>
            </a:r>
          </a:p>
          <a:p>
            <a:pPr lvl="0">
              <a:buClrTx/>
              <a:buSzTx/>
              <a:buFontTx/>
              <a:buNone/>
            </a:pPr>
            <a:r>
              <a:rPr kumimoji="0" lang="en-US" altLang="en-US" sz="3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Best Practices:</a:t>
            </a:r>
            <a:endParaRPr lang="en-US" sz="3200" dirty="0">
              <a:latin typeface="Tahoma" panose="020B0604030504040204" pitchFamily="34" charset="0"/>
              <a:ea typeface="Tahoma" panose="020B0604030504040204" pitchFamily="34" charset="0"/>
              <a:cs typeface="Tahoma" panose="020B0604030504040204" pitchFamily="34" charset="0"/>
            </a:endParaRPr>
          </a:p>
          <a:p>
            <a:pPr lvl="1">
              <a:buClrTx/>
              <a:buSzTx/>
              <a:buFont typeface="Wingdings" panose="05000000000000000000" pitchFamily="2" charset="2"/>
              <a:buChar char="§"/>
            </a:pP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Use </a:t>
            </a:r>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IF</a:t>
            </a: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 statements for complex conditions and scenarios where multiple conditions need to be checked.</a:t>
            </a:r>
            <a:endParaRPr lang="en-US" sz="1200" dirty="0">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Use </a:t>
            </a:r>
            <a:r>
              <a:rPr kumimoji="0" lang="en-US" altLang="en-US" sz="1200" b="1"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CASE</a:t>
            </a:r>
            <a:r>
              <a:rPr kumimoji="0" lang="en-US" altLang="en-US" sz="1200" b="0" i="0" u="none" strike="noStrike" cap="none" normalizeH="0" baseline="0" dirty="0">
                <a:ln/>
                <a:effectLst/>
                <a:latin typeface="Tahoma" panose="020B0604030504040204" pitchFamily="34" charset="0"/>
                <a:ea typeface="Tahoma" panose="020B0604030504040204" pitchFamily="34" charset="0"/>
                <a:cs typeface="Tahoma" panose="020B0604030504040204" pitchFamily="34" charset="0"/>
              </a:rPr>
              <a:t> statements when you have multiple values to compare against a single expression for better readability</a:t>
            </a:r>
            <a:endParaRPr lang="en-US" sz="1200" dirty="0">
              <a:latin typeface="Tahoma" panose="020B0604030504040204" pitchFamily="34" charset="0"/>
              <a:ea typeface="Tahoma" panose="020B0604030504040204" pitchFamily="34" charset="0"/>
              <a:cs typeface="Tahoma" panose="020B0604030504040204" pitchFamily="34" charset="0"/>
            </a:endParaRPr>
          </a:p>
          <a:p>
            <a:pPr marL="628650" lvl="1" indent="-171450" fontAlgn="base">
              <a:buFont typeface="Wingdings" panose="05000000000000000000" pitchFamily="2" charset="2"/>
              <a:buChar char="§"/>
            </a:pPr>
            <a:endParaRPr lang="en-CA" sz="12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buFont typeface="+mj-lt"/>
              <a:buAutoNum type="arabicPeriod"/>
            </a:pPr>
            <a:endParaRPr lang="en-CA" dirty="0"/>
          </a:p>
          <a:p>
            <a:endParaRPr lang="en-CA" dirty="0"/>
          </a:p>
        </p:txBody>
      </p:sp>
      <p:sp>
        <p:nvSpPr>
          <p:cNvPr id="4" name="Slide Number Placeholder 3">
            <a:extLst>
              <a:ext uri="{FF2B5EF4-FFF2-40B4-BE49-F238E27FC236}">
                <a16:creationId xmlns:a16="http://schemas.microsoft.com/office/drawing/2014/main" id="{261206A2-3324-89F9-D22A-0AECAD0AE415}"/>
              </a:ext>
            </a:extLst>
          </p:cNvPr>
          <p:cNvSpPr>
            <a:spLocks noGrp="1"/>
          </p:cNvSpPr>
          <p:nvPr>
            <p:ph type="sldNum" sz="quarter" idx="5"/>
          </p:nvPr>
        </p:nvSpPr>
        <p:spPr/>
        <p:txBody>
          <a:bodyPr/>
          <a:lstStyle/>
          <a:p>
            <a:fld id="{2E33CC18-1865-4129-A9A3-B2A3FC03A236}" type="slidenum">
              <a:rPr lang="en-US" smtClean="0"/>
              <a:t>25</a:t>
            </a:fld>
            <a:endParaRPr lang="en-US" dirty="0"/>
          </a:p>
        </p:txBody>
      </p:sp>
    </p:spTree>
    <p:extLst>
      <p:ext uri="{BB962C8B-B14F-4D97-AF65-F5344CB8AC3E}">
        <p14:creationId xmlns:p14="http://schemas.microsoft.com/office/powerpoint/2010/main" val="2312517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What’s New?</a:t>
            </a:r>
          </a:p>
          <a:p>
            <a:r>
              <a:rPr lang="en-CA" dirty="0"/>
              <a:t>✔ </a:t>
            </a:r>
            <a:r>
              <a:rPr lang="en-CA" b="1" dirty="0"/>
              <a:t>Added input validation</a:t>
            </a:r>
            <a:r>
              <a:rPr lang="en-CA" dirty="0"/>
              <a:t>: Ensures score is between </a:t>
            </a:r>
            <a:r>
              <a:rPr lang="en-CA" b="1" dirty="0"/>
              <a:t>0 and 100</a:t>
            </a:r>
            <a:r>
              <a:rPr lang="en-CA" dirty="0"/>
              <a:t>.</a:t>
            </a:r>
            <a:br>
              <a:rPr lang="en-CA" dirty="0"/>
            </a:br>
            <a:r>
              <a:rPr lang="en-CA" dirty="0"/>
              <a:t>✔ </a:t>
            </a:r>
            <a:r>
              <a:rPr lang="en-CA" b="1" dirty="0"/>
              <a:t>RAISE_APPLICATION_ERROR</a:t>
            </a:r>
            <a:r>
              <a:rPr lang="en-CA" dirty="0"/>
              <a:t>: Custom error message for invalid input.</a:t>
            </a:r>
            <a:br>
              <a:rPr lang="en-CA" dirty="0"/>
            </a:br>
            <a:r>
              <a:rPr lang="en-CA" dirty="0"/>
              <a:t>✔ </a:t>
            </a:r>
            <a:r>
              <a:rPr lang="en-CA" b="1" dirty="0"/>
              <a:t>Exception Handling:</a:t>
            </a:r>
            <a:endParaRPr lang="en-CA" dirty="0"/>
          </a:p>
          <a:p>
            <a:pPr marL="171450" indent="-171450">
              <a:buFont typeface="Wingdings" panose="05000000000000000000" pitchFamily="2" charset="2"/>
              <a:buChar char="§"/>
            </a:pPr>
            <a:r>
              <a:rPr lang="en-CA" b="1" dirty="0"/>
              <a:t>VALUE_ERROR</a:t>
            </a:r>
            <a:r>
              <a:rPr lang="en-CA" dirty="0"/>
              <a:t>: Catches invalid number conversions (e.g., if score were assigned an incompatible value).</a:t>
            </a:r>
          </a:p>
          <a:p>
            <a:pPr marL="171450" indent="-171450">
              <a:buFont typeface="Wingdings" panose="05000000000000000000" pitchFamily="2" charset="2"/>
              <a:buChar char="§"/>
            </a:pPr>
            <a:r>
              <a:rPr lang="en-CA" b="1" dirty="0"/>
              <a:t>OTHERS</a:t>
            </a:r>
            <a:r>
              <a:rPr lang="en-CA" dirty="0"/>
              <a:t>: Catches all unexpected errors and prints a message.</a:t>
            </a:r>
          </a:p>
          <a:p>
            <a:r>
              <a:rPr lang="en-CA" dirty="0"/>
              <a:t>Would you like </a:t>
            </a:r>
            <a:r>
              <a:rPr lang="en-CA" b="1" dirty="0"/>
              <a:t>logging to a table</a:t>
            </a:r>
            <a:r>
              <a:rPr lang="en-CA" dirty="0"/>
              <a:t> instead of just printing errors? 🚀</a:t>
            </a:r>
          </a:p>
        </p:txBody>
      </p:sp>
      <p:sp>
        <p:nvSpPr>
          <p:cNvPr id="4" name="Slide Number Placeholder 3"/>
          <p:cNvSpPr>
            <a:spLocks noGrp="1"/>
          </p:cNvSpPr>
          <p:nvPr>
            <p:ph type="sldNum" sz="quarter" idx="5"/>
          </p:nvPr>
        </p:nvSpPr>
        <p:spPr/>
        <p:txBody>
          <a:bodyPr/>
          <a:lstStyle/>
          <a:p>
            <a:fld id="{2E33CC18-1865-4129-A9A3-B2A3FC03A236}" type="slidenum">
              <a:rPr lang="en-US" smtClean="0"/>
              <a:t>26</a:t>
            </a:fld>
            <a:endParaRPr lang="en-US" dirty="0"/>
          </a:p>
        </p:txBody>
      </p:sp>
    </p:spTree>
    <p:extLst>
      <p:ext uri="{BB962C8B-B14F-4D97-AF65-F5344CB8AC3E}">
        <p14:creationId xmlns:p14="http://schemas.microsoft.com/office/powerpoint/2010/main" val="459125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8512-47C2-9751-0CFB-51F686B8C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69BC0-7011-399F-8865-D4C6A6FA7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41E01-37E3-CAA4-F616-7E08622119BF}"/>
              </a:ext>
            </a:extLst>
          </p:cNvPr>
          <p:cNvSpPr>
            <a:spLocks noGrp="1"/>
          </p:cNvSpPr>
          <p:nvPr>
            <p:ph type="body" idx="1"/>
          </p:nvPr>
        </p:nvSpPr>
        <p:spPr/>
        <p:txBody>
          <a:bodyPr/>
          <a:lstStyle/>
          <a:p>
            <a:r>
              <a:rPr lang="en-CA" b="1" dirty="0"/>
              <a:t>What’s New?</a:t>
            </a:r>
          </a:p>
          <a:p>
            <a:r>
              <a:rPr lang="en-CA" dirty="0"/>
              <a:t>✔ </a:t>
            </a:r>
            <a:r>
              <a:rPr lang="en-CA" b="1" dirty="0"/>
              <a:t>Added input validation</a:t>
            </a:r>
            <a:r>
              <a:rPr lang="en-CA" dirty="0"/>
              <a:t>: Ensures score is between </a:t>
            </a:r>
            <a:r>
              <a:rPr lang="en-CA" b="1" dirty="0"/>
              <a:t>0 and 100</a:t>
            </a:r>
            <a:r>
              <a:rPr lang="en-CA" dirty="0"/>
              <a:t>.</a:t>
            </a:r>
            <a:br>
              <a:rPr lang="en-CA" dirty="0"/>
            </a:br>
            <a:r>
              <a:rPr lang="en-CA" dirty="0"/>
              <a:t>✔ </a:t>
            </a:r>
            <a:r>
              <a:rPr lang="en-CA" b="1" dirty="0"/>
              <a:t>RAISE_APPLICATION_ERROR</a:t>
            </a:r>
            <a:r>
              <a:rPr lang="en-CA" dirty="0"/>
              <a:t>: Custom error message for invalid input.</a:t>
            </a:r>
            <a:br>
              <a:rPr lang="en-CA" dirty="0"/>
            </a:br>
            <a:r>
              <a:rPr lang="en-CA" dirty="0"/>
              <a:t>✔ </a:t>
            </a:r>
            <a:r>
              <a:rPr lang="en-CA" b="1" dirty="0"/>
              <a:t>Exception Handling:</a:t>
            </a:r>
            <a:endParaRPr lang="en-CA" dirty="0"/>
          </a:p>
          <a:p>
            <a:pPr marL="171450" indent="-171450">
              <a:buFont typeface="Wingdings" panose="05000000000000000000" pitchFamily="2" charset="2"/>
              <a:buChar char="§"/>
            </a:pPr>
            <a:r>
              <a:rPr lang="en-CA" b="1" dirty="0"/>
              <a:t>VALUE_ERROR</a:t>
            </a:r>
            <a:r>
              <a:rPr lang="en-CA" dirty="0"/>
              <a:t>: Catches invalid number conversions (e.g., if score were assigned an incompatible value).</a:t>
            </a:r>
          </a:p>
          <a:p>
            <a:pPr marL="171450" indent="-171450">
              <a:buFont typeface="Wingdings" panose="05000000000000000000" pitchFamily="2" charset="2"/>
              <a:buChar char="§"/>
            </a:pPr>
            <a:r>
              <a:rPr lang="en-CA" b="1" dirty="0"/>
              <a:t>OTHERS</a:t>
            </a:r>
            <a:r>
              <a:rPr lang="en-CA" dirty="0"/>
              <a:t>: Catches all unexpected errors and prints a message.</a:t>
            </a:r>
          </a:p>
          <a:p>
            <a:r>
              <a:rPr lang="en-CA" dirty="0"/>
              <a:t>Would you like </a:t>
            </a:r>
            <a:r>
              <a:rPr lang="en-CA" b="1" dirty="0"/>
              <a:t>logging to a table</a:t>
            </a:r>
            <a:r>
              <a:rPr lang="en-CA" dirty="0"/>
              <a:t> instead of just printing errors? 🚀</a:t>
            </a:r>
          </a:p>
        </p:txBody>
      </p:sp>
      <p:sp>
        <p:nvSpPr>
          <p:cNvPr id="4" name="Slide Number Placeholder 3">
            <a:extLst>
              <a:ext uri="{FF2B5EF4-FFF2-40B4-BE49-F238E27FC236}">
                <a16:creationId xmlns:a16="http://schemas.microsoft.com/office/drawing/2014/main" id="{1AFB0E68-6E33-C082-23D2-1BA7CA0D616C}"/>
              </a:ext>
            </a:extLst>
          </p:cNvPr>
          <p:cNvSpPr>
            <a:spLocks noGrp="1"/>
          </p:cNvSpPr>
          <p:nvPr>
            <p:ph type="sldNum" sz="quarter" idx="5"/>
          </p:nvPr>
        </p:nvSpPr>
        <p:spPr/>
        <p:txBody>
          <a:bodyPr/>
          <a:lstStyle/>
          <a:p>
            <a:fld id="{2E33CC18-1865-4129-A9A3-B2A3FC03A236}" type="slidenum">
              <a:rPr lang="en-US" smtClean="0"/>
              <a:t>27</a:t>
            </a:fld>
            <a:endParaRPr lang="en-US" dirty="0"/>
          </a:p>
        </p:txBody>
      </p:sp>
    </p:spTree>
    <p:extLst>
      <p:ext uri="{BB962C8B-B14F-4D97-AF65-F5344CB8AC3E}">
        <p14:creationId xmlns:p14="http://schemas.microsoft.com/office/powerpoint/2010/main" val="1049554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95120-DD63-294D-6D01-3BBAA39FC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AECBE-E5D9-4266-88C9-7B49317BF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0CFE8-F43B-0F53-B180-71E05375A528}"/>
              </a:ext>
            </a:extLst>
          </p:cNvPr>
          <p:cNvSpPr>
            <a:spLocks noGrp="1"/>
          </p:cNvSpPr>
          <p:nvPr>
            <p:ph type="body" idx="1"/>
          </p:nvPr>
        </p:nvSpPr>
        <p:spPr/>
        <p:txBody>
          <a:bodyPr/>
          <a:lstStyle/>
          <a:p>
            <a:r>
              <a:rPr lang="en-CA" b="1" dirty="0"/>
              <a:t>🔹 How It Works</a:t>
            </a:r>
          </a:p>
          <a:p>
            <a:pPr>
              <a:buFont typeface="+mj-lt"/>
              <a:buAutoNum type="arabicPeriod"/>
            </a:pPr>
            <a:r>
              <a:rPr lang="en-CA" b="1" dirty="0"/>
              <a:t>Validates </a:t>
            </a:r>
            <a:r>
              <a:rPr lang="en-CA" b="1" dirty="0" err="1"/>
              <a:t>p_emp_id</a:t>
            </a:r>
            <a:endParaRPr lang="en-CA" dirty="0"/>
          </a:p>
          <a:p>
            <a:pPr marL="742950" lvl="1" indent="-285750">
              <a:buFont typeface="+mj-lt"/>
              <a:buAutoNum type="arabicPeriod"/>
            </a:pPr>
            <a:r>
              <a:rPr lang="en-CA" dirty="0"/>
              <a:t>Checks if the employee exists before updating.</a:t>
            </a:r>
          </a:p>
          <a:p>
            <a:pPr marL="742950" lvl="1" indent="-285750">
              <a:buFont typeface="+mj-lt"/>
              <a:buAutoNum type="arabicPeriod"/>
            </a:pPr>
            <a:r>
              <a:rPr lang="en-CA" dirty="0"/>
              <a:t>Raises an error if the employee does not exist.</a:t>
            </a:r>
          </a:p>
          <a:p>
            <a:pPr>
              <a:buFont typeface="+mj-lt"/>
              <a:buAutoNum type="arabicPeriod"/>
            </a:pPr>
            <a:r>
              <a:rPr lang="en-CA" b="1" dirty="0"/>
              <a:t>Updates the bonus</a:t>
            </a:r>
            <a:endParaRPr lang="en-CA" dirty="0"/>
          </a:p>
          <a:p>
            <a:pPr marL="742950" lvl="1" indent="-285750">
              <a:buFont typeface="+mj-lt"/>
              <a:buAutoNum type="arabicPeriod"/>
            </a:pPr>
            <a:r>
              <a:rPr lang="en-CA" dirty="0"/>
              <a:t>If the employee exists, updates their </a:t>
            </a:r>
            <a:r>
              <a:rPr lang="en-CA" b="1" dirty="0"/>
              <a:t>bonus</a:t>
            </a:r>
            <a:r>
              <a:rPr lang="en-CA" dirty="0"/>
              <a:t>.</a:t>
            </a:r>
          </a:p>
          <a:p>
            <a:pPr marL="742950" lvl="1" indent="-285750">
              <a:buFont typeface="+mj-lt"/>
              <a:buAutoNum type="arabicPeriod"/>
            </a:pPr>
            <a:r>
              <a:rPr lang="en-CA" dirty="0"/>
              <a:t>Uses COMMIT to save changes.</a:t>
            </a:r>
          </a:p>
          <a:p>
            <a:pPr>
              <a:buFont typeface="+mj-lt"/>
              <a:buAutoNum type="arabicPeriod"/>
            </a:pPr>
            <a:r>
              <a:rPr lang="en-CA" b="1" dirty="0"/>
              <a:t>Exception Handling</a:t>
            </a:r>
            <a:endParaRPr lang="en-CA" dirty="0"/>
          </a:p>
          <a:p>
            <a:pPr marL="742950" lvl="1" indent="-285750">
              <a:buFont typeface="+mj-lt"/>
              <a:buAutoNum type="arabicPeriod"/>
            </a:pPr>
            <a:r>
              <a:rPr lang="en-CA" b="1" dirty="0"/>
              <a:t>NO_DATA_FOUND</a:t>
            </a:r>
            <a:r>
              <a:rPr lang="en-CA" dirty="0"/>
              <a:t> → Employee ID does not exist.</a:t>
            </a:r>
          </a:p>
          <a:p>
            <a:pPr marL="742950" lvl="1" indent="-285750">
              <a:buFont typeface="+mj-lt"/>
              <a:buAutoNum type="arabicPeriod"/>
            </a:pPr>
            <a:r>
              <a:rPr lang="en-CA" b="1" dirty="0"/>
              <a:t>VALUE_ERROR</a:t>
            </a:r>
            <a:r>
              <a:rPr lang="en-CA" dirty="0"/>
              <a:t> → Invalid data format for bonus.</a:t>
            </a:r>
          </a:p>
          <a:p>
            <a:pPr marL="742950" lvl="1" indent="-285750">
              <a:buFont typeface="+mj-lt"/>
              <a:buAutoNum type="arabicPeriod"/>
            </a:pPr>
            <a:r>
              <a:rPr lang="en-CA" b="1" dirty="0"/>
              <a:t>DUP_VAL_ON_INDEX</a:t>
            </a:r>
            <a:r>
              <a:rPr lang="en-CA" dirty="0"/>
              <a:t> → If a unique constraint is violated.</a:t>
            </a:r>
          </a:p>
          <a:p>
            <a:pPr marL="742950" lvl="1" indent="-285750">
              <a:buFont typeface="+mj-lt"/>
              <a:buAutoNum type="arabicPeriod"/>
            </a:pPr>
            <a:r>
              <a:rPr lang="en-CA" b="1" dirty="0"/>
              <a:t>OTHERS</a:t>
            </a:r>
            <a:r>
              <a:rPr lang="en-CA" dirty="0"/>
              <a:t> → Catches all unexpected errors.</a:t>
            </a:r>
          </a:p>
          <a:p>
            <a:pPr marL="742950" lvl="1" indent="-285750">
              <a:buFont typeface="+mj-lt"/>
              <a:buAutoNum type="arabicPeriod"/>
            </a:pPr>
            <a:endParaRPr lang="en-CA" dirty="0"/>
          </a:p>
          <a:p>
            <a:pPr marL="742950" lvl="1" indent="-285750">
              <a:buFont typeface="+mj-lt"/>
              <a:buAutoNum type="arabicPeriod"/>
            </a:pPr>
            <a:endParaRPr lang="en-CA" dirty="0"/>
          </a:p>
          <a:p>
            <a:r>
              <a:rPr lang="en-US" b="1" dirty="0"/>
              <a:t>✅ Why This is a Good Approach?</a:t>
            </a:r>
          </a:p>
          <a:p>
            <a:r>
              <a:rPr lang="en-US" dirty="0"/>
              <a:t>✔ </a:t>
            </a:r>
            <a:r>
              <a:rPr lang="en-US" b="1" dirty="0"/>
              <a:t>Prevents updating non-existing employees</a:t>
            </a:r>
            <a:br>
              <a:rPr lang="en-US" dirty="0"/>
            </a:br>
            <a:r>
              <a:rPr lang="en-US" dirty="0"/>
              <a:t>✔ </a:t>
            </a:r>
            <a:r>
              <a:rPr lang="en-US" b="1" dirty="0"/>
              <a:t>Uses clear, descriptive error messages</a:t>
            </a:r>
            <a:br>
              <a:rPr lang="en-US" dirty="0"/>
            </a:br>
            <a:r>
              <a:rPr lang="en-US" dirty="0"/>
              <a:t>✔ </a:t>
            </a:r>
            <a:r>
              <a:rPr lang="en-US" b="1" dirty="0"/>
              <a:t>Ensures data consistency with ROLLBACK on failure</a:t>
            </a:r>
            <a:br>
              <a:rPr lang="en-US" dirty="0"/>
            </a:br>
            <a:r>
              <a:rPr lang="en-US" dirty="0"/>
              <a:t>✔ </a:t>
            </a:r>
            <a:r>
              <a:rPr lang="en-US" b="1" dirty="0"/>
              <a:t>Handles multiple error cases explicitly</a:t>
            </a:r>
            <a:endParaRPr lang="en-US" dirty="0"/>
          </a:p>
          <a:p>
            <a:pPr marL="742950" lvl="1" indent="-285750">
              <a:buFont typeface="+mj-lt"/>
              <a:buAutoNum type="arabicPeriod"/>
            </a:pPr>
            <a:endParaRPr lang="en-CA" dirty="0"/>
          </a:p>
        </p:txBody>
      </p:sp>
      <p:sp>
        <p:nvSpPr>
          <p:cNvPr id="4" name="Slide Number Placeholder 3">
            <a:extLst>
              <a:ext uri="{FF2B5EF4-FFF2-40B4-BE49-F238E27FC236}">
                <a16:creationId xmlns:a16="http://schemas.microsoft.com/office/drawing/2014/main" id="{CB5330C7-9526-96F5-24A1-83EC8013CB54}"/>
              </a:ext>
            </a:extLst>
          </p:cNvPr>
          <p:cNvSpPr>
            <a:spLocks noGrp="1"/>
          </p:cNvSpPr>
          <p:nvPr>
            <p:ph type="sldNum" sz="quarter" idx="5"/>
          </p:nvPr>
        </p:nvSpPr>
        <p:spPr/>
        <p:txBody>
          <a:bodyPr/>
          <a:lstStyle/>
          <a:p>
            <a:fld id="{2E33CC18-1865-4129-A9A3-B2A3FC03A236}" type="slidenum">
              <a:rPr lang="en-US" smtClean="0"/>
              <a:t>28</a:t>
            </a:fld>
            <a:endParaRPr lang="en-US" dirty="0"/>
          </a:p>
        </p:txBody>
      </p:sp>
    </p:spTree>
    <p:extLst>
      <p:ext uri="{BB962C8B-B14F-4D97-AF65-F5344CB8AC3E}">
        <p14:creationId xmlns:p14="http://schemas.microsoft.com/office/powerpoint/2010/main" val="1983424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0220-1342-9717-0074-A12230ADF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912D4-A730-D3FF-B631-8D9951E0D2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61637-B6C6-B638-E92B-49BE4EE2873B}"/>
              </a:ext>
            </a:extLst>
          </p:cNvPr>
          <p:cNvSpPr>
            <a:spLocks noGrp="1"/>
          </p:cNvSpPr>
          <p:nvPr>
            <p:ph type="body" idx="1"/>
          </p:nvPr>
        </p:nvSpPr>
        <p:spPr/>
        <p:txBody>
          <a:bodyPr/>
          <a:lstStyle/>
          <a:p>
            <a:r>
              <a:rPr lang="en-CA" b="1" dirty="0"/>
              <a:t>Why Is This Better?</a:t>
            </a:r>
          </a:p>
          <a:p>
            <a:r>
              <a:rPr lang="en-CA" dirty="0"/>
              <a:t>✔ </a:t>
            </a:r>
            <a:r>
              <a:rPr lang="en-CA" b="1" dirty="0"/>
              <a:t>Prevents committing partial updates if errors occur</a:t>
            </a:r>
            <a:br>
              <a:rPr lang="en-CA" dirty="0"/>
            </a:br>
            <a:r>
              <a:rPr lang="en-CA" dirty="0"/>
              <a:t>✔ </a:t>
            </a:r>
            <a:r>
              <a:rPr lang="en-CA" b="1" dirty="0"/>
              <a:t>Improves debugging by providing meaningful error messages</a:t>
            </a:r>
            <a:br>
              <a:rPr lang="en-CA" dirty="0"/>
            </a:br>
            <a:r>
              <a:rPr lang="en-CA" dirty="0"/>
              <a:t>✔ </a:t>
            </a:r>
            <a:r>
              <a:rPr lang="en-CA" b="1" dirty="0"/>
              <a:t>Ensures data consistency with rollback in case of failures</a:t>
            </a:r>
            <a:endParaRPr lang="en-CA" dirty="0"/>
          </a:p>
          <a:p>
            <a:r>
              <a:rPr lang="en-CA" dirty="0"/>
              <a:t>Would you like to include </a:t>
            </a:r>
            <a:r>
              <a:rPr lang="en-CA" b="1" dirty="0"/>
              <a:t>logging into a table</a:t>
            </a:r>
            <a:r>
              <a:rPr lang="en-CA" dirty="0"/>
              <a:t> instead of just printing errors? 🚀</a:t>
            </a:r>
          </a:p>
          <a:p>
            <a:endParaRPr lang="en-CA" dirty="0"/>
          </a:p>
          <a:p>
            <a:endParaRPr lang="en-CA" dirty="0"/>
          </a:p>
          <a:p>
            <a:r>
              <a:rPr lang="en-CA" b="1" dirty="0"/>
              <a:t>B</a:t>
            </a:r>
          </a:p>
          <a:p>
            <a:endParaRPr lang="en-CA" b="1" dirty="0"/>
          </a:p>
          <a:p>
            <a:r>
              <a:rPr lang="en-CA" b="1" dirty="0"/>
              <a:t>Explanation:</a:t>
            </a:r>
          </a:p>
          <a:p>
            <a:pPr>
              <a:buFont typeface="Arial" panose="020B0604020202020204" pitchFamily="34" charset="0"/>
              <a:buChar char="•"/>
            </a:pPr>
            <a:r>
              <a:rPr lang="en-CA" b="1" dirty="0"/>
              <a:t>Normal Execution:</a:t>
            </a:r>
            <a:br>
              <a:rPr lang="en-CA" dirty="0"/>
            </a:br>
            <a:r>
              <a:rPr lang="en-CA" dirty="0"/>
              <a:t>The UPDATE statement modifies the salary for the specified employee. If everything runs smoothly, the transaction is committed with COMMIT;.</a:t>
            </a:r>
          </a:p>
          <a:p>
            <a:pPr>
              <a:buFont typeface="Arial" panose="020B0604020202020204" pitchFamily="34" charset="0"/>
              <a:buChar char="•"/>
            </a:pPr>
            <a:r>
              <a:rPr lang="en-CA" b="1" dirty="0"/>
              <a:t>Exception Handling:</a:t>
            </a:r>
            <a:br>
              <a:rPr lang="en-CA" dirty="0"/>
            </a:br>
            <a:r>
              <a:rPr lang="en-CA" dirty="0"/>
              <a:t>If an error occurs during the update, the EXCEPTION block catches it.</a:t>
            </a:r>
          </a:p>
          <a:p>
            <a:pPr marL="742950" lvl="1" indent="-285750">
              <a:buFont typeface="Arial" panose="020B0604020202020204" pitchFamily="34" charset="0"/>
              <a:buChar char="•"/>
            </a:pPr>
            <a:r>
              <a:rPr lang="en-CA" dirty="0"/>
              <a:t>The ROLLBACK; ensures that any changes made during this transaction are undone.</a:t>
            </a:r>
          </a:p>
          <a:p>
            <a:pPr marL="742950" lvl="1" indent="-285750">
              <a:buFont typeface="Arial" panose="020B0604020202020204" pitchFamily="34" charset="0"/>
              <a:buChar char="•"/>
            </a:pPr>
            <a:r>
              <a:rPr lang="en-CA" dirty="0"/>
              <a:t>DBMS_OUTPUT.PUT_LINE prints a descriptive error message that includes the SQL error message (SQLERRM).</a:t>
            </a:r>
          </a:p>
          <a:p>
            <a:r>
              <a:rPr lang="en-CA" dirty="0"/>
              <a:t>This structure ensures that your database remains consistent and any issues are logged appropriately.</a:t>
            </a:r>
          </a:p>
          <a:p>
            <a:endParaRPr lang="en-CA" b="1" dirty="0"/>
          </a:p>
        </p:txBody>
      </p:sp>
      <p:sp>
        <p:nvSpPr>
          <p:cNvPr id="4" name="Slide Number Placeholder 3">
            <a:extLst>
              <a:ext uri="{FF2B5EF4-FFF2-40B4-BE49-F238E27FC236}">
                <a16:creationId xmlns:a16="http://schemas.microsoft.com/office/drawing/2014/main" id="{6E94B1F2-26D7-CFE6-6054-3625F72C710C}"/>
              </a:ext>
            </a:extLst>
          </p:cNvPr>
          <p:cNvSpPr>
            <a:spLocks noGrp="1"/>
          </p:cNvSpPr>
          <p:nvPr>
            <p:ph type="sldNum" sz="quarter" idx="5"/>
          </p:nvPr>
        </p:nvSpPr>
        <p:spPr/>
        <p:txBody>
          <a:bodyPr/>
          <a:lstStyle/>
          <a:p>
            <a:fld id="{2E33CC18-1865-4129-A9A3-B2A3FC03A236}" type="slidenum">
              <a:rPr lang="en-US" smtClean="0"/>
              <a:t>29</a:t>
            </a:fld>
            <a:endParaRPr lang="en-US"/>
          </a:p>
        </p:txBody>
      </p:sp>
    </p:spTree>
    <p:extLst>
      <p:ext uri="{BB962C8B-B14F-4D97-AF65-F5344CB8AC3E}">
        <p14:creationId xmlns:p14="http://schemas.microsoft.com/office/powerpoint/2010/main" val="15721776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35C30-B836-B7E6-1083-407E0D3DD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4967D-11C2-C703-B210-BD4ABE1F8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8A68E-0E97-7E16-0D71-3D51B103686A}"/>
              </a:ext>
            </a:extLst>
          </p:cNvPr>
          <p:cNvSpPr>
            <a:spLocks noGrp="1"/>
          </p:cNvSpPr>
          <p:nvPr>
            <p:ph type="body" idx="1"/>
          </p:nvPr>
        </p:nvSpPr>
        <p:spPr/>
        <p:txBody>
          <a:bodyPr/>
          <a:lstStyle/>
          <a:p>
            <a:r>
              <a:rPr lang="en-CA" b="1" dirty="0"/>
              <a:t>What’s New?</a:t>
            </a:r>
          </a:p>
          <a:p>
            <a:r>
              <a:rPr lang="en-CA" dirty="0"/>
              <a:t>✔ </a:t>
            </a:r>
            <a:r>
              <a:rPr lang="en-CA" b="1" dirty="0"/>
              <a:t>Added input validation</a:t>
            </a:r>
            <a:r>
              <a:rPr lang="en-CA" dirty="0"/>
              <a:t>: Ensures score is between </a:t>
            </a:r>
            <a:r>
              <a:rPr lang="en-CA" b="1" dirty="0"/>
              <a:t>0 and 100</a:t>
            </a:r>
            <a:r>
              <a:rPr lang="en-CA" dirty="0"/>
              <a:t>.</a:t>
            </a:r>
            <a:br>
              <a:rPr lang="en-CA" dirty="0"/>
            </a:br>
            <a:r>
              <a:rPr lang="en-CA" dirty="0"/>
              <a:t>✔ </a:t>
            </a:r>
            <a:r>
              <a:rPr lang="en-CA" b="1" dirty="0"/>
              <a:t>RAISE_APPLICATION_ERROR</a:t>
            </a:r>
            <a:r>
              <a:rPr lang="en-CA" dirty="0"/>
              <a:t>: Custom error message for invalid input.</a:t>
            </a:r>
            <a:br>
              <a:rPr lang="en-CA" dirty="0"/>
            </a:br>
            <a:r>
              <a:rPr lang="en-CA" dirty="0"/>
              <a:t>✔ </a:t>
            </a:r>
            <a:r>
              <a:rPr lang="en-CA" b="1" dirty="0"/>
              <a:t>Exception Handling:</a:t>
            </a:r>
            <a:endParaRPr lang="en-CA" dirty="0"/>
          </a:p>
          <a:p>
            <a:pPr marL="171450" indent="-171450">
              <a:buFont typeface="Wingdings" panose="05000000000000000000" pitchFamily="2" charset="2"/>
              <a:buChar char="§"/>
            </a:pPr>
            <a:r>
              <a:rPr lang="en-CA" b="1" dirty="0"/>
              <a:t>VALUE_ERROR</a:t>
            </a:r>
            <a:r>
              <a:rPr lang="en-CA" dirty="0"/>
              <a:t>: Catches invalid number conversions (e.g., if score were assigned an incompatible value).</a:t>
            </a:r>
          </a:p>
          <a:p>
            <a:pPr marL="171450" indent="-171450">
              <a:buFont typeface="Wingdings" panose="05000000000000000000" pitchFamily="2" charset="2"/>
              <a:buChar char="§"/>
            </a:pPr>
            <a:r>
              <a:rPr lang="en-CA" b="1" dirty="0"/>
              <a:t>OTHERS</a:t>
            </a:r>
            <a:r>
              <a:rPr lang="en-CA" dirty="0"/>
              <a:t>: Catches all unexpected errors and prints a message.</a:t>
            </a:r>
          </a:p>
          <a:p>
            <a:r>
              <a:rPr lang="en-CA" dirty="0"/>
              <a:t>Would you like </a:t>
            </a:r>
            <a:r>
              <a:rPr lang="en-CA" b="1" dirty="0"/>
              <a:t>logging to a table</a:t>
            </a:r>
            <a:r>
              <a:rPr lang="en-CA" dirty="0"/>
              <a:t> instead of just printing errors? 🚀</a:t>
            </a:r>
          </a:p>
        </p:txBody>
      </p:sp>
      <p:sp>
        <p:nvSpPr>
          <p:cNvPr id="4" name="Slide Number Placeholder 3">
            <a:extLst>
              <a:ext uri="{FF2B5EF4-FFF2-40B4-BE49-F238E27FC236}">
                <a16:creationId xmlns:a16="http://schemas.microsoft.com/office/drawing/2014/main" id="{8D902F61-98A5-AC2F-7118-0D3611AFF496}"/>
              </a:ext>
            </a:extLst>
          </p:cNvPr>
          <p:cNvSpPr>
            <a:spLocks noGrp="1"/>
          </p:cNvSpPr>
          <p:nvPr>
            <p:ph type="sldNum" sz="quarter" idx="5"/>
          </p:nvPr>
        </p:nvSpPr>
        <p:spPr/>
        <p:txBody>
          <a:bodyPr/>
          <a:lstStyle/>
          <a:p>
            <a:fld id="{2E33CC18-1865-4129-A9A3-B2A3FC03A236}" type="slidenum">
              <a:rPr lang="en-US" smtClean="0"/>
              <a:t>30</a:t>
            </a:fld>
            <a:endParaRPr lang="en-US" dirty="0"/>
          </a:p>
        </p:txBody>
      </p:sp>
    </p:spTree>
    <p:extLst>
      <p:ext uri="{BB962C8B-B14F-4D97-AF65-F5344CB8AC3E}">
        <p14:creationId xmlns:p14="http://schemas.microsoft.com/office/powerpoint/2010/main" val="4159555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65CEC-3C96-239B-399B-1DAC71533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6B8E3-72A6-8A47-9842-A04173845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F8CFF-D367-7C62-721E-619C1F523A91}"/>
              </a:ext>
            </a:extLst>
          </p:cNvPr>
          <p:cNvSpPr>
            <a:spLocks noGrp="1"/>
          </p:cNvSpPr>
          <p:nvPr>
            <p:ph type="body" idx="1"/>
          </p:nvPr>
        </p:nvSpPr>
        <p:spPr/>
        <p:txBody>
          <a:bodyPr/>
          <a:lstStyle/>
          <a:p>
            <a:r>
              <a:rPr lang="en-CA" b="1" dirty="0"/>
              <a:t>"alter" a procedure means to modify an existing stored procedure in a database, while "drop" a procedure means to completely delete it from the database</a:t>
            </a:r>
            <a:r>
              <a:rPr lang="en-CA" b="1" i="0" dirty="0">
                <a:solidFill>
                  <a:srgbClr val="001D35"/>
                </a:solidFill>
                <a:effectLst/>
                <a:latin typeface="Google Sans"/>
              </a:rPr>
              <a:t>;</a:t>
            </a:r>
            <a:endParaRPr lang="en-CA" b="1" dirty="0"/>
          </a:p>
        </p:txBody>
      </p:sp>
      <p:sp>
        <p:nvSpPr>
          <p:cNvPr id="4" name="Slide Number Placeholder 3">
            <a:extLst>
              <a:ext uri="{FF2B5EF4-FFF2-40B4-BE49-F238E27FC236}">
                <a16:creationId xmlns:a16="http://schemas.microsoft.com/office/drawing/2014/main" id="{BA7A4816-502F-F14E-8B72-564F17BD8ECE}"/>
              </a:ext>
            </a:extLst>
          </p:cNvPr>
          <p:cNvSpPr>
            <a:spLocks noGrp="1"/>
          </p:cNvSpPr>
          <p:nvPr>
            <p:ph type="sldNum" sz="quarter" idx="5"/>
          </p:nvPr>
        </p:nvSpPr>
        <p:spPr/>
        <p:txBody>
          <a:bodyPr/>
          <a:lstStyle/>
          <a:p>
            <a:fld id="{2E33CC18-1865-4129-A9A3-B2A3FC03A236}" type="slidenum">
              <a:rPr lang="en-US" smtClean="0"/>
              <a:t>31</a:t>
            </a:fld>
            <a:endParaRPr lang="en-US"/>
          </a:p>
        </p:txBody>
      </p:sp>
    </p:spTree>
    <p:extLst>
      <p:ext uri="{BB962C8B-B14F-4D97-AF65-F5344CB8AC3E}">
        <p14:creationId xmlns:p14="http://schemas.microsoft.com/office/powerpoint/2010/main" val="5121881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B91C5-2236-B522-E307-AACCD8C9D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CCB65-65AA-2249-DEC2-666AD16F0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05AAF-1B3C-9706-648A-31E099C7049A}"/>
              </a:ext>
            </a:extLst>
          </p:cNvPr>
          <p:cNvSpPr>
            <a:spLocks noGrp="1"/>
          </p:cNvSpPr>
          <p:nvPr>
            <p:ph type="body" idx="1"/>
          </p:nvPr>
        </p:nvSpPr>
        <p:spPr/>
        <p:txBody>
          <a:bodyPr/>
          <a:lstStyle/>
          <a:p>
            <a:r>
              <a:rPr lang="en-CA" b="1" dirty="0"/>
              <a:t>"alter" a procedure means to modify an existing stored procedure in a database, while "drop" a procedure means to completely delete it from the database</a:t>
            </a:r>
            <a:r>
              <a:rPr lang="en-CA" b="1" i="0" dirty="0">
                <a:solidFill>
                  <a:srgbClr val="001D35"/>
                </a:solidFill>
                <a:effectLst/>
                <a:latin typeface="Google Sans"/>
              </a:rPr>
              <a:t>;</a:t>
            </a:r>
            <a:endParaRPr lang="en-CA" b="1" dirty="0"/>
          </a:p>
        </p:txBody>
      </p:sp>
      <p:sp>
        <p:nvSpPr>
          <p:cNvPr id="4" name="Slide Number Placeholder 3">
            <a:extLst>
              <a:ext uri="{FF2B5EF4-FFF2-40B4-BE49-F238E27FC236}">
                <a16:creationId xmlns:a16="http://schemas.microsoft.com/office/drawing/2014/main" id="{2B3004E2-80EE-161B-B570-B53D137CC840}"/>
              </a:ext>
            </a:extLst>
          </p:cNvPr>
          <p:cNvSpPr>
            <a:spLocks noGrp="1"/>
          </p:cNvSpPr>
          <p:nvPr>
            <p:ph type="sldNum" sz="quarter" idx="5"/>
          </p:nvPr>
        </p:nvSpPr>
        <p:spPr/>
        <p:txBody>
          <a:bodyPr/>
          <a:lstStyle/>
          <a:p>
            <a:fld id="{2E33CC18-1865-4129-A9A3-B2A3FC03A236}" type="slidenum">
              <a:rPr lang="en-US" smtClean="0"/>
              <a:t>32</a:t>
            </a:fld>
            <a:endParaRPr lang="en-US"/>
          </a:p>
        </p:txBody>
      </p:sp>
    </p:spTree>
    <p:extLst>
      <p:ext uri="{BB962C8B-B14F-4D97-AF65-F5344CB8AC3E}">
        <p14:creationId xmlns:p14="http://schemas.microsoft.com/office/powerpoint/2010/main" val="380002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 Explanation of Changes:</a:t>
            </a:r>
          </a:p>
          <a:p>
            <a:pPr>
              <a:buFont typeface="+mj-lt"/>
              <a:buAutoNum type="arabicPeriod"/>
            </a:pPr>
            <a:r>
              <a:rPr lang="en-CA" b="1" dirty="0"/>
              <a:t>Handling Invalid Grades:</a:t>
            </a:r>
            <a:endParaRPr lang="en-CA" dirty="0"/>
          </a:p>
          <a:p>
            <a:pPr marL="742950" lvl="1" indent="-285750">
              <a:buFont typeface="+mj-lt"/>
              <a:buAutoNum type="arabicPeriod"/>
            </a:pPr>
            <a:r>
              <a:rPr lang="en-CA" dirty="0"/>
              <a:t>If the grade does not match 'A', 'B', 'C', 'D', or 'F', the program </a:t>
            </a:r>
            <a:r>
              <a:rPr lang="en-CA" b="1" dirty="0"/>
              <a:t>raises an application error (-20001)</a:t>
            </a:r>
            <a:r>
              <a:rPr lang="en-CA" dirty="0"/>
              <a:t>.</a:t>
            </a:r>
          </a:p>
          <a:p>
            <a:pPr>
              <a:buFont typeface="+mj-lt"/>
              <a:buAutoNum type="arabicPeriod"/>
            </a:pPr>
            <a:r>
              <a:rPr lang="en-CA" b="1" dirty="0"/>
              <a:t>Exception Handling (EXCEPTION Block):</a:t>
            </a:r>
            <a:endParaRPr lang="en-CA" dirty="0"/>
          </a:p>
          <a:p>
            <a:pPr marL="742950" lvl="1" indent="-285750">
              <a:buFont typeface="+mj-lt"/>
              <a:buAutoNum type="arabicPeriod"/>
            </a:pPr>
            <a:r>
              <a:rPr lang="en-CA" dirty="0"/>
              <a:t>If any </a:t>
            </a:r>
            <a:r>
              <a:rPr lang="en-CA" b="1" dirty="0"/>
              <a:t>unexpected errors</a:t>
            </a:r>
            <a:r>
              <a:rPr lang="en-CA" dirty="0"/>
              <a:t> occur, they are </a:t>
            </a:r>
            <a:r>
              <a:rPr lang="en-CA" b="1" dirty="0"/>
              <a:t>caught</a:t>
            </a:r>
            <a:r>
              <a:rPr lang="en-CA" dirty="0"/>
              <a:t> using WHEN OTHERS THEN.</a:t>
            </a:r>
          </a:p>
          <a:p>
            <a:pPr marL="742950" lvl="1" indent="-285750">
              <a:buFont typeface="+mj-lt"/>
              <a:buAutoNum type="arabicPeriod"/>
            </a:pPr>
            <a:r>
              <a:rPr lang="en-CA" dirty="0"/>
              <a:t>The error message is </a:t>
            </a:r>
            <a:r>
              <a:rPr lang="en-CA" b="1" dirty="0"/>
              <a:t>displayed using SQLERRM</a:t>
            </a:r>
            <a:r>
              <a:rPr lang="en-CA" dirty="0"/>
              <a:t>, which provides details about the error.</a:t>
            </a:r>
          </a:p>
          <a:p>
            <a:endParaRPr lang="en-CA" dirty="0"/>
          </a:p>
          <a:p>
            <a:endParaRPr lang="en-CA" dirty="0"/>
          </a:p>
          <a:p>
            <a:r>
              <a:rPr lang="en-CA" b="1" dirty="0"/>
              <a:t>📝 Sample Inputs &amp; Expected Outputs</a:t>
            </a:r>
          </a:p>
          <a:p>
            <a:r>
              <a:rPr lang="en-CA" dirty="0" err="1"/>
              <a:t>gradeExpected</a:t>
            </a:r>
            <a:r>
              <a:rPr lang="en-CA" dirty="0"/>
              <a:t> </a:t>
            </a:r>
            <a:r>
              <a:rPr lang="en-CA" dirty="0" err="1"/>
              <a:t>Output'A'Message</a:t>
            </a:r>
            <a:r>
              <a:rPr lang="en-CA" dirty="0"/>
              <a:t>: Excellent work!'</a:t>
            </a:r>
            <a:r>
              <a:rPr lang="en-CA" dirty="0" err="1"/>
              <a:t>B'Message</a:t>
            </a:r>
            <a:r>
              <a:rPr lang="en-CA" dirty="0"/>
              <a:t>: Good job!'</a:t>
            </a:r>
            <a:r>
              <a:rPr lang="en-CA" dirty="0" err="1"/>
              <a:t>F'Message</a:t>
            </a:r>
            <a:r>
              <a:rPr lang="en-CA" dirty="0"/>
              <a:t>: Failed. Please try again.'</a:t>
            </a:r>
            <a:r>
              <a:rPr lang="en-CA" dirty="0" err="1"/>
              <a:t>X'Error</a:t>
            </a:r>
            <a:r>
              <a:rPr lang="en-CA" dirty="0"/>
              <a:t> occurred: ORA-20001: Invalid grade entered.</a:t>
            </a:r>
            <a:r>
              <a:rPr lang="en-CA" b="1" dirty="0"/>
              <a:t>🔹 </a:t>
            </a:r>
          </a:p>
          <a:p>
            <a:endParaRPr lang="en-CA" b="1" dirty="0"/>
          </a:p>
          <a:p>
            <a:r>
              <a:rPr lang="en-CA" b="1" dirty="0"/>
              <a:t>Questions for Further Learning</a:t>
            </a:r>
          </a:p>
          <a:p>
            <a:pPr>
              <a:buFont typeface="+mj-lt"/>
              <a:buAutoNum type="arabicPeriod"/>
            </a:pPr>
            <a:r>
              <a:rPr lang="en-CA" dirty="0"/>
              <a:t>Why is RAISE_APPLICATION_ERROR useful instead of just assigning a message?</a:t>
            </a:r>
          </a:p>
          <a:p>
            <a:pPr>
              <a:buFont typeface="+mj-lt"/>
              <a:buAutoNum type="arabicPeriod"/>
            </a:pPr>
            <a:r>
              <a:rPr lang="en-CA" dirty="0"/>
              <a:t>How can you modify this procedure to </a:t>
            </a:r>
            <a:r>
              <a:rPr lang="en-CA" b="1" dirty="0"/>
              <a:t>log errors</a:t>
            </a:r>
            <a:r>
              <a:rPr lang="en-CA" dirty="0"/>
              <a:t> into an error-tracking table instead of just printing them?</a:t>
            </a:r>
          </a:p>
          <a:p>
            <a:pPr>
              <a:buFont typeface="+mj-lt"/>
              <a:buAutoNum type="arabicPeriod"/>
            </a:pPr>
            <a:r>
              <a:rPr lang="en-CA" dirty="0"/>
              <a:t>How would you modify this if grade were stored in a database column instead of a variable?</a:t>
            </a:r>
          </a:p>
          <a:p>
            <a:r>
              <a:rPr lang="en-CA" dirty="0"/>
              <a:t>Let me know if you need any modifications! 🚀</a:t>
            </a:r>
          </a:p>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33</a:t>
            </a:fld>
            <a:endParaRPr lang="en-US"/>
          </a:p>
        </p:txBody>
      </p:sp>
    </p:spTree>
    <p:extLst>
      <p:ext uri="{BB962C8B-B14F-4D97-AF65-F5344CB8AC3E}">
        <p14:creationId xmlns:p14="http://schemas.microsoft.com/office/powerpoint/2010/main" val="33782495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A409-A112-2C51-4A2D-482AEC8C0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B7265-00A7-B9C9-4ED3-46B079C3E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CA48F-FC41-5AFB-3526-E53E7281BFF5}"/>
              </a:ext>
            </a:extLst>
          </p:cNvPr>
          <p:cNvSpPr>
            <a:spLocks noGrp="1"/>
          </p:cNvSpPr>
          <p:nvPr>
            <p:ph type="body" idx="1"/>
          </p:nvPr>
        </p:nvSpPr>
        <p:spPr/>
        <p:txBody>
          <a:bodyPr/>
          <a:lstStyle/>
          <a:p>
            <a:r>
              <a:rPr lang="en-CA" b="1" dirty="0"/>
              <a:t>💡 Explanation of Changes:</a:t>
            </a:r>
          </a:p>
          <a:p>
            <a:pPr>
              <a:buFont typeface="+mj-lt"/>
              <a:buAutoNum type="arabicPeriod"/>
            </a:pPr>
            <a:r>
              <a:rPr lang="en-CA" b="1" dirty="0"/>
              <a:t>Handling Invalid Grades:</a:t>
            </a:r>
            <a:endParaRPr lang="en-CA" dirty="0"/>
          </a:p>
          <a:p>
            <a:pPr marL="742950" lvl="1" indent="-285750">
              <a:buFont typeface="+mj-lt"/>
              <a:buAutoNum type="arabicPeriod"/>
            </a:pPr>
            <a:r>
              <a:rPr lang="en-CA" dirty="0"/>
              <a:t>If the grade does not match 'A', 'B', 'C', 'D', or 'F', the program </a:t>
            </a:r>
            <a:r>
              <a:rPr lang="en-CA" b="1" dirty="0"/>
              <a:t>raises an application error (-20001)</a:t>
            </a:r>
            <a:r>
              <a:rPr lang="en-CA" dirty="0"/>
              <a:t>.</a:t>
            </a:r>
          </a:p>
          <a:p>
            <a:pPr>
              <a:buFont typeface="+mj-lt"/>
              <a:buAutoNum type="arabicPeriod"/>
            </a:pPr>
            <a:r>
              <a:rPr lang="en-CA" b="1" dirty="0"/>
              <a:t>Exception Handling (EXCEPTION Block):</a:t>
            </a:r>
            <a:endParaRPr lang="en-CA" dirty="0"/>
          </a:p>
          <a:p>
            <a:pPr marL="742950" lvl="1" indent="-285750">
              <a:buFont typeface="+mj-lt"/>
              <a:buAutoNum type="arabicPeriod"/>
            </a:pPr>
            <a:r>
              <a:rPr lang="en-CA" dirty="0"/>
              <a:t>If any </a:t>
            </a:r>
            <a:r>
              <a:rPr lang="en-CA" b="1" dirty="0"/>
              <a:t>unexpected errors</a:t>
            </a:r>
            <a:r>
              <a:rPr lang="en-CA" dirty="0"/>
              <a:t> occur, they are </a:t>
            </a:r>
            <a:r>
              <a:rPr lang="en-CA" b="1" dirty="0"/>
              <a:t>caught</a:t>
            </a:r>
            <a:r>
              <a:rPr lang="en-CA" dirty="0"/>
              <a:t> using WHEN OTHERS THEN.</a:t>
            </a:r>
          </a:p>
          <a:p>
            <a:pPr marL="742950" lvl="1" indent="-285750">
              <a:buFont typeface="+mj-lt"/>
              <a:buAutoNum type="arabicPeriod"/>
            </a:pPr>
            <a:r>
              <a:rPr lang="en-CA" dirty="0"/>
              <a:t>The error message is </a:t>
            </a:r>
            <a:r>
              <a:rPr lang="en-CA" b="1" dirty="0"/>
              <a:t>displayed using SQLERRM</a:t>
            </a:r>
            <a:r>
              <a:rPr lang="en-CA" dirty="0"/>
              <a:t>, which provides details about the error.</a:t>
            </a:r>
          </a:p>
          <a:p>
            <a:endParaRPr lang="en-CA" dirty="0"/>
          </a:p>
          <a:p>
            <a:endParaRPr lang="en-CA" dirty="0"/>
          </a:p>
          <a:p>
            <a:r>
              <a:rPr lang="en-CA" b="1" dirty="0"/>
              <a:t>📝 Sample Inputs &amp; Expected Outputs</a:t>
            </a:r>
          </a:p>
          <a:p>
            <a:r>
              <a:rPr lang="en-CA" dirty="0" err="1"/>
              <a:t>gradeExpected</a:t>
            </a:r>
            <a:r>
              <a:rPr lang="en-CA" dirty="0"/>
              <a:t> </a:t>
            </a:r>
            <a:r>
              <a:rPr lang="en-CA" dirty="0" err="1"/>
              <a:t>Output'A'Message</a:t>
            </a:r>
            <a:r>
              <a:rPr lang="en-CA" dirty="0"/>
              <a:t>: Excellent work!'</a:t>
            </a:r>
            <a:r>
              <a:rPr lang="en-CA" dirty="0" err="1"/>
              <a:t>B'Message</a:t>
            </a:r>
            <a:r>
              <a:rPr lang="en-CA" dirty="0"/>
              <a:t>: Good job!'</a:t>
            </a:r>
            <a:r>
              <a:rPr lang="en-CA" dirty="0" err="1"/>
              <a:t>F'Message</a:t>
            </a:r>
            <a:r>
              <a:rPr lang="en-CA" dirty="0"/>
              <a:t>: Failed. Please try again.'</a:t>
            </a:r>
            <a:r>
              <a:rPr lang="en-CA" dirty="0" err="1"/>
              <a:t>X'Error</a:t>
            </a:r>
            <a:r>
              <a:rPr lang="en-CA" dirty="0"/>
              <a:t> occurred: ORA-20001: Invalid grade entered.</a:t>
            </a:r>
            <a:r>
              <a:rPr lang="en-CA" b="1" dirty="0"/>
              <a:t>🔹 </a:t>
            </a:r>
          </a:p>
          <a:p>
            <a:endParaRPr lang="en-CA" b="1" dirty="0"/>
          </a:p>
          <a:p>
            <a:r>
              <a:rPr lang="en-CA" b="1" dirty="0"/>
              <a:t>Questions for Further Learning</a:t>
            </a:r>
          </a:p>
          <a:p>
            <a:pPr>
              <a:buFont typeface="+mj-lt"/>
              <a:buAutoNum type="arabicPeriod"/>
            </a:pPr>
            <a:r>
              <a:rPr lang="en-CA" dirty="0"/>
              <a:t>Why is RAISE_APPLICATION_ERROR useful instead of just assigning a message?</a:t>
            </a:r>
          </a:p>
          <a:p>
            <a:pPr>
              <a:buFont typeface="+mj-lt"/>
              <a:buAutoNum type="arabicPeriod"/>
            </a:pPr>
            <a:r>
              <a:rPr lang="en-CA" dirty="0"/>
              <a:t>How can you modify this procedure to </a:t>
            </a:r>
            <a:r>
              <a:rPr lang="en-CA" b="1" dirty="0"/>
              <a:t>log errors</a:t>
            </a:r>
            <a:r>
              <a:rPr lang="en-CA" dirty="0"/>
              <a:t> into an error-tracking table instead of just printing them?</a:t>
            </a:r>
          </a:p>
          <a:p>
            <a:pPr>
              <a:buFont typeface="+mj-lt"/>
              <a:buAutoNum type="arabicPeriod"/>
            </a:pPr>
            <a:r>
              <a:rPr lang="en-CA" dirty="0"/>
              <a:t>How would you modify this if grade were stored in a database column instead of a variable?</a:t>
            </a:r>
          </a:p>
          <a:p>
            <a:r>
              <a:rPr lang="en-CA" dirty="0"/>
              <a:t>Let me know if you need any modifications! 🚀</a:t>
            </a:r>
          </a:p>
          <a:p>
            <a:endParaRPr lang="en-CA" dirty="0"/>
          </a:p>
        </p:txBody>
      </p:sp>
      <p:sp>
        <p:nvSpPr>
          <p:cNvPr id="4" name="Slide Number Placeholder 3">
            <a:extLst>
              <a:ext uri="{FF2B5EF4-FFF2-40B4-BE49-F238E27FC236}">
                <a16:creationId xmlns:a16="http://schemas.microsoft.com/office/drawing/2014/main" id="{5FF5F587-7A85-911F-6AAC-454E69A4F912}"/>
              </a:ext>
            </a:extLst>
          </p:cNvPr>
          <p:cNvSpPr>
            <a:spLocks noGrp="1"/>
          </p:cNvSpPr>
          <p:nvPr>
            <p:ph type="sldNum" sz="quarter" idx="5"/>
          </p:nvPr>
        </p:nvSpPr>
        <p:spPr/>
        <p:txBody>
          <a:bodyPr/>
          <a:lstStyle/>
          <a:p>
            <a:fld id="{2E33CC18-1865-4129-A9A3-B2A3FC03A236}" type="slidenum">
              <a:rPr lang="en-US" smtClean="0"/>
              <a:t>34</a:t>
            </a:fld>
            <a:endParaRPr lang="en-US"/>
          </a:p>
        </p:txBody>
      </p:sp>
    </p:spTree>
    <p:extLst>
      <p:ext uri="{BB962C8B-B14F-4D97-AF65-F5344CB8AC3E}">
        <p14:creationId xmlns:p14="http://schemas.microsoft.com/office/powerpoint/2010/main" val="41663807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2F7E-E71B-7EBF-B6F3-0283E8890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269C7-D018-7DDA-7C85-39EA1F67C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83D04-B41F-1676-D39F-93F43F479864}"/>
              </a:ext>
            </a:extLst>
          </p:cNvPr>
          <p:cNvSpPr>
            <a:spLocks noGrp="1"/>
          </p:cNvSpPr>
          <p:nvPr>
            <p:ph type="body" idx="1"/>
          </p:nvPr>
        </p:nvSpPr>
        <p:spPr/>
        <p:txBody>
          <a:bodyPr/>
          <a:lstStyle/>
          <a:p>
            <a:endParaRPr lang="en-CA" dirty="0"/>
          </a:p>
          <a:p>
            <a:r>
              <a:rPr lang="en-CA" dirty="0"/>
              <a:t>In PL/SQL, the </a:t>
            </a:r>
            <a:r>
              <a:rPr lang="en-CA" b="1" dirty="0"/>
              <a:t>NULLIF</a:t>
            </a:r>
            <a:r>
              <a:rPr lang="en-CA" dirty="0"/>
              <a:t> and </a:t>
            </a:r>
            <a:r>
              <a:rPr lang="en-CA" b="1" dirty="0"/>
              <a:t>COALESCE</a:t>
            </a:r>
            <a:r>
              <a:rPr lang="en-CA" dirty="0"/>
              <a:t> functions are useful when dealing with NULL values in a query or logic block. </a:t>
            </a:r>
          </a:p>
          <a:p>
            <a:endParaRPr lang="en-CA" dirty="0"/>
          </a:p>
        </p:txBody>
      </p:sp>
      <p:sp>
        <p:nvSpPr>
          <p:cNvPr id="4" name="Slide Number Placeholder 3">
            <a:extLst>
              <a:ext uri="{FF2B5EF4-FFF2-40B4-BE49-F238E27FC236}">
                <a16:creationId xmlns:a16="http://schemas.microsoft.com/office/drawing/2014/main" id="{5D5C0981-9F10-54D1-6C9F-28AF0FEB92AB}"/>
              </a:ext>
            </a:extLst>
          </p:cNvPr>
          <p:cNvSpPr>
            <a:spLocks noGrp="1"/>
          </p:cNvSpPr>
          <p:nvPr>
            <p:ph type="sldNum" sz="quarter" idx="5"/>
          </p:nvPr>
        </p:nvSpPr>
        <p:spPr/>
        <p:txBody>
          <a:bodyPr/>
          <a:lstStyle/>
          <a:p>
            <a:fld id="{2E33CC18-1865-4129-A9A3-B2A3FC03A236}" type="slidenum">
              <a:rPr lang="en-US" smtClean="0"/>
              <a:t>35</a:t>
            </a:fld>
            <a:endParaRPr lang="en-US"/>
          </a:p>
        </p:txBody>
      </p:sp>
    </p:spTree>
    <p:extLst>
      <p:ext uri="{BB962C8B-B14F-4D97-AF65-F5344CB8AC3E}">
        <p14:creationId xmlns:p14="http://schemas.microsoft.com/office/powerpoint/2010/main" val="2609429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BCAC7-E66A-C8FC-7239-94C963F90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A5D15-290B-BFAE-7AF1-0FAA1CDC6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65D48-0666-7F01-3CA5-D261BA45E11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46D5E67-70CE-950C-9A75-0682BF6560BE}"/>
              </a:ext>
            </a:extLst>
          </p:cNvPr>
          <p:cNvSpPr>
            <a:spLocks noGrp="1"/>
          </p:cNvSpPr>
          <p:nvPr>
            <p:ph type="sldNum" sz="quarter" idx="5"/>
          </p:nvPr>
        </p:nvSpPr>
        <p:spPr/>
        <p:txBody>
          <a:bodyPr/>
          <a:lstStyle/>
          <a:p>
            <a:fld id="{2E33CC18-1865-4129-A9A3-B2A3FC03A236}" type="slidenum">
              <a:rPr lang="en-US" smtClean="0"/>
              <a:t>36</a:t>
            </a:fld>
            <a:endParaRPr lang="en-US"/>
          </a:p>
        </p:txBody>
      </p:sp>
    </p:spTree>
    <p:extLst>
      <p:ext uri="{BB962C8B-B14F-4D97-AF65-F5344CB8AC3E}">
        <p14:creationId xmlns:p14="http://schemas.microsoft.com/office/powerpoint/2010/main" val="42899502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B2DA3-25CB-D2BE-721D-4A26B0FEE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F194E-EACC-F350-2334-E7913504C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9E3A5-2A95-CE9F-E48F-B7CD5EF3FB73}"/>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7F6D288-BB8D-9458-1C22-39D9455A3AF1}"/>
              </a:ext>
            </a:extLst>
          </p:cNvPr>
          <p:cNvSpPr>
            <a:spLocks noGrp="1"/>
          </p:cNvSpPr>
          <p:nvPr>
            <p:ph type="sldNum" sz="quarter" idx="5"/>
          </p:nvPr>
        </p:nvSpPr>
        <p:spPr/>
        <p:txBody>
          <a:bodyPr/>
          <a:lstStyle/>
          <a:p>
            <a:fld id="{2E33CC18-1865-4129-A9A3-B2A3FC03A236}" type="slidenum">
              <a:rPr lang="en-US" smtClean="0"/>
              <a:t>37</a:t>
            </a:fld>
            <a:endParaRPr lang="en-US"/>
          </a:p>
        </p:txBody>
      </p:sp>
    </p:spTree>
    <p:extLst>
      <p:ext uri="{BB962C8B-B14F-4D97-AF65-F5344CB8AC3E}">
        <p14:creationId xmlns:p14="http://schemas.microsoft.com/office/powerpoint/2010/main" val="12605909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54E6-DE55-E248-957A-1F0C34DC6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8AB0D-56CC-A577-DBE6-F4D5688FE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5D880-C918-E2A9-4346-9ADF94ADC16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2834D26-468A-7A89-4949-0DBA935BF7A8}"/>
              </a:ext>
            </a:extLst>
          </p:cNvPr>
          <p:cNvSpPr>
            <a:spLocks noGrp="1"/>
          </p:cNvSpPr>
          <p:nvPr>
            <p:ph type="sldNum" sz="quarter" idx="5"/>
          </p:nvPr>
        </p:nvSpPr>
        <p:spPr/>
        <p:txBody>
          <a:bodyPr/>
          <a:lstStyle/>
          <a:p>
            <a:fld id="{2E33CC18-1865-4129-A9A3-B2A3FC03A236}" type="slidenum">
              <a:rPr lang="en-US" smtClean="0"/>
              <a:t>38</a:t>
            </a:fld>
            <a:endParaRPr lang="en-US"/>
          </a:p>
        </p:txBody>
      </p:sp>
    </p:spTree>
    <p:extLst>
      <p:ext uri="{BB962C8B-B14F-4D97-AF65-F5344CB8AC3E}">
        <p14:creationId xmlns:p14="http://schemas.microsoft.com/office/powerpoint/2010/main" val="19874420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39</a:t>
            </a:fld>
            <a:endParaRPr lang="en-US"/>
          </a:p>
        </p:txBody>
      </p:sp>
    </p:spTree>
    <p:extLst>
      <p:ext uri="{BB962C8B-B14F-4D97-AF65-F5344CB8AC3E}">
        <p14:creationId xmlns:p14="http://schemas.microsoft.com/office/powerpoint/2010/main" val="31539116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E33CC18-1865-4129-A9A3-B2A3FC03A236}" type="slidenum">
              <a:rPr lang="en-US" smtClean="0"/>
              <a:t>40</a:t>
            </a:fld>
            <a:endParaRPr lang="en-US"/>
          </a:p>
        </p:txBody>
      </p:sp>
    </p:spTree>
    <p:extLst>
      <p:ext uri="{BB962C8B-B14F-4D97-AF65-F5344CB8AC3E}">
        <p14:creationId xmlns:p14="http://schemas.microsoft.com/office/powerpoint/2010/main" val="20106609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3CC18-1865-4129-A9A3-B2A3FC03A236}" type="slidenum">
              <a:rPr lang="en-US" smtClean="0"/>
              <a:t>41</a:t>
            </a:fld>
            <a:endParaRPr lang="en-US"/>
          </a:p>
        </p:txBody>
      </p:sp>
    </p:spTree>
    <p:extLst>
      <p:ext uri="{BB962C8B-B14F-4D97-AF65-F5344CB8AC3E}">
        <p14:creationId xmlns:p14="http://schemas.microsoft.com/office/powerpoint/2010/main" val="355475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ECDA-FF17-ECB1-FBA5-9666796B41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8715E5-7848-258E-BBAB-86B26659EF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89FA3F-C431-3A67-F93F-73802CA0F3EF}"/>
              </a:ext>
            </a:extLst>
          </p:cNvPr>
          <p:cNvSpPr>
            <a:spLocks noGrp="1"/>
          </p:cNvSpPr>
          <p:nvPr>
            <p:ph type="dt" sz="half" idx="10"/>
          </p:nvPr>
        </p:nvSpPr>
        <p:spPr/>
        <p:txBody>
          <a:bodyPr/>
          <a:lstStyle/>
          <a:p>
            <a:fld id="{422044C1-27E8-41FD-B04E-88F3BCFD76BA}" type="datetime1">
              <a:rPr lang="en-US" smtClean="0"/>
              <a:t>2/27/2025</a:t>
            </a:fld>
            <a:endParaRPr lang="en-US"/>
          </a:p>
        </p:txBody>
      </p:sp>
      <p:sp>
        <p:nvSpPr>
          <p:cNvPr id="5" name="Footer Placeholder 4">
            <a:extLst>
              <a:ext uri="{FF2B5EF4-FFF2-40B4-BE49-F238E27FC236}">
                <a16:creationId xmlns:a16="http://schemas.microsoft.com/office/drawing/2014/main" id="{D51E88A1-4770-B80C-8302-94ADDFBB63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4CC53-C1BF-8636-1415-FCEA8518847D}"/>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1664042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EE109-B349-376C-1F26-A6DACE5ECD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A73377-6E4B-2CE6-3297-BA6CFD957F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17009-2343-E76C-5961-515878729D97}"/>
              </a:ext>
            </a:extLst>
          </p:cNvPr>
          <p:cNvSpPr>
            <a:spLocks noGrp="1"/>
          </p:cNvSpPr>
          <p:nvPr>
            <p:ph type="dt" sz="half" idx="10"/>
          </p:nvPr>
        </p:nvSpPr>
        <p:spPr/>
        <p:txBody>
          <a:bodyPr/>
          <a:lstStyle/>
          <a:p>
            <a:fld id="{9B887C0E-EAD4-4F37-91AF-73ABF8903121}" type="datetime1">
              <a:rPr lang="en-US" smtClean="0"/>
              <a:t>2/27/2025</a:t>
            </a:fld>
            <a:endParaRPr lang="en-US"/>
          </a:p>
        </p:txBody>
      </p:sp>
      <p:sp>
        <p:nvSpPr>
          <p:cNvPr id="5" name="Footer Placeholder 4">
            <a:extLst>
              <a:ext uri="{FF2B5EF4-FFF2-40B4-BE49-F238E27FC236}">
                <a16:creationId xmlns:a16="http://schemas.microsoft.com/office/drawing/2014/main" id="{7037F7D8-7B02-1AA0-7778-0B0865830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C13DF9-DC52-56CE-E832-11281EA0A2FF}"/>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2494722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62B1-3DF9-30D9-9A0B-8BA889F58B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6CBC20-4EB2-4BAB-BE2F-33F41FCFE4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487C24-B3CC-2EEA-3775-2FD9CEC403B9}"/>
              </a:ext>
            </a:extLst>
          </p:cNvPr>
          <p:cNvSpPr>
            <a:spLocks noGrp="1"/>
          </p:cNvSpPr>
          <p:nvPr>
            <p:ph type="dt" sz="half" idx="10"/>
          </p:nvPr>
        </p:nvSpPr>
        <p:spPr/>
        <p:txBody>
          <a:bodyPr/>
          <a:lstStyle/>
          <a:p>
            <a:fld id="{482BF950-D35A-4BE8-94ED-BF026044FC90}" type="datetime1">
              <a:rPr lang="en-US" smtClean="0"/>
              <a:t>2/27/2025</a:t>
            </a:fld>
            <a:endParaRPr lang="en-US"/>
          </a:p>
        </p:txBody>
      </p:sp>
      <p:sp>
        <p:nvSpPr>
          <p:cNvPr id="5" name="Footer Placeholder 4">
            <a:extLst>
              <a:ext uri="{FF2B5EF4-FFF2-40B4-BE49-F238E27FC236}">
                <a16:creationId xmlns:a16="http://schemas.microsoft.com/office/drawing/2014/main" id="{725E1D49-E96F-98E1-6C15-4341B63F0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DD83F-4957-4872-818B-853496ED1886}"/>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527515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63344-98B9-E0E1-DF30-73E40BAA86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0E0D83-5347-0523-0158-2076B43B88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F32908-E277-003D-7E37-E6C194DA06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547872-4195-63D1-0B2F-BB0792D0320F}"/>
              </a:ext>
            </a:extLst>
          </p:cNvPr>
          <p:cNvSpPr>
            <a:spLocks noGrp="1"/>
          </p:cNvSpPr>
          <p:nvPr>
            <p:ph type="dt" sz="half" idx="10"/>
          </p:nvPr>
        </p:nvSpPr>
        <p:spPr/>
        <p:txBody>
          <a:bodyPr/>
          <a:lstStyle/>
          <a:p>
            <a:fld id="{A59F6EB9-2507-4191-BC93-40D879305752}" type="datetime1">
              <a:rPr lang="en-US" smtClean="0"/>
              <a:t>2/27/2025</a:t>
            </a:fld>
            <a:endParaRPr lang="en-US"/>
          </a:p>
        </p:txBody>
      </p:sp>
      <p:sp>
        <p:nvSpPr>
          <p:cNvPr id="6" name="Footer Placeholder 5">
            <a:extLst>
              <a:ext uri="{FF2B5EF4-FFF2-40B4-BE49-F238E27FC236}">
                <a16:creationId xmlns:a16="http://schemas.microsoft.com/office/drawing/2014/main" id="{DDC40B63-3FC9-A522-F7B0-0901715A29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E50383-31BD-1131-5A3D-13FB2BD6628A}"/>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3228624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26004-DB03-3E62-D6FC-33FDFF6922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EC163-8771-49DC-8308-60301DAABB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02DDF-1FE1-3123-8369-EA48197DAC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083FDD-2F3A-A83F-A916-5259B909F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4BE5C9-F3CF-9339-ED17-EF63C63296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7B369C-8102-5503-9AC3-504DFEF795F3}"/>
              </a:ext>
            </a:extLst>
          </p:cNvPr>
          <p:cNvSpPr>
            <a:spLocks noGrp="1"/>
          </p:cNvSpPr>
          <p:nvPr>
            <p:ph type="dt" sz="half" idx="10"/>
          </p:nvPr>
        </p:nvSpPr>
        <p:spPr/>
        <p:txBody>
          <a:bodyPr/>
          <a:lstStyle/>
          <a:p>
            <a:fld id="{1843CCED-245A-4B21-9DC5-C664B2303FE8}" type="datetime1">
              <a:rPr lang="en-US" smtClean="0"/>
              <a:t>2/27/2025</a:t>
            </a:fld>
            <a:endParaRPr lang="en-US"/>
          </a:p>
        </p:txBody>
      </p:sp>
      <p:sp>
        <p:nvSpPr>
          <p:cNvPr id="8" name="Footer Placeholder 7">
            <a:extLst>
              <a:ext uri="{FF2B5EF4-FFF2-40B4-BE49-F238E27FC236}">
                <a16:creationId xmlns:a16="http://schemas.microsoft.com/office/drawing/2014/main" id="{E389BAD8-CBF7-E32F-6D09-6ECB0C90E6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5B440E-E156-3356-16E1-0E1C7999F9DF}"/>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3566157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C53A-A9CD-80F7-DFA8-E995FA77E8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8D49C7-2DCA-F3A1-1AF0-26061F8F05C8}"/>
              </a:ext>
            </a:extLst>
          </p:cNvPr>
          <p:cNvSpPr>
            <a:spLocks noGrp="1"/>
          </p:cNvSpPr>
          <p:nvPr>
            <p:ph type="dt" sz="half" idx="10"/>
          </p:nvPr>
        </p:nvSpPr>
        <p:spPr/>
        <p:txBody>
          <a:bodyPr/>
          <a:lstStyle/>
          <a:p>
            <a:fld id="{B417BE95-63F7-4299-BCD1-6075EC709D45}" type="datetime1">
              <a:rPr lang="en-US" smtClean="0"/>
              <a:t>2/27/2025</a:t>
            </a:fld>
            <a:endParaRPr lang="en-US"/>
          </a:p>
        </p:txBody>
      </p:sp>
      <p:sp>
        <p:nvSpPr>
          <p:cNvPr id="4" name="Footer Placeholder 3">
            <a:extLst>
              <a:ext uri="{FF2B5EF4-FFF2-40B4-BE49-F238E27FC236}">
                <a16:creationId xmlns:a16="http://schemas.microsoft.com/office/drawing/2014/main" id="{D4FB1DC5-3F9C-8A54-58FD-3E1B3DD0AD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545786-3FBD-A488-05E2-13B75D6FBD99}"/>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1439250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7E0B19-2033-D578-CF5E-22F2C14C7E74}"/>
              </a:ext>
            </a:extLst>
          </p:cNvPr>
          <p:cNvSpPr>
            <a:spLocks noGrp="1"/>
          </p:cNvSpPr>
          <p:nvPr>
            <p:ph type="dt" sz="half" idx="10"/>
          </p:nvPr>
        </p:nvSpPr>
        <p:spPr/>
        <p:txBody>
          <a:bodyPr/>
          <a:lstStyle/>
          <a:p>
            <a:fld id="{963C4DB7-E0A5-4346-926C-288B8BF7677C}" type="datetime1">
              <a:rPr lang="en-US" smtClean="0"/>
              <a:t>2/27/2025</a:t>
            </a:fld>
            <a:endParaRPr lang="en-US"/>
          </a:p>
        </p:txBody>
      </p:sp>
      <p:sp>
        <p:nvSpPr>
          <p:cNvPr id="3" name="Footer Placeholder 2">
            <a:extLst>
              <a:ext uri="{FF2B5EF4-FFF2-40B4-BE49-F238E27FC236}">
                <a16:creationId xmlns:a16="http://schemas.microsoft.com/office/drawing/2014/main" id="{5926CD7B-6357-6E5E-60C6-553E73EAEA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F1536F-6894-AF92-26FD-9068E949EE3F}"/>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172608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B9CA4-4D94-68C5-0537-86F3E25991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E1589E-9D12-0D64-5595-EEDB257B3C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A1B718-2394-74F3-64E5-ECE67846B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DBEB3-B719-F73E-3DC0-4084366C38B4}"/>
              </a:ext>
            </a:extLst>
          </p:cNvPr>
          <p:cNvSpPr>
            <a:spLocks noGrp="1"/>
          </p:cNvSpPr>
          <p:nvPr>
            <p:ph type="dt" sz="half" idx="10"/>
          </p:nvPr>
        </p:nvSpPr>
        <p:spPr/>
        <p:txBody>
          <a:bodyPr/>
          <a:lstStyle/>
          <a:p>
            <a:fld id="{FFBA892A-B904-435B-9751-66929E2F4B75}" type="datetime1">
              <a:rPr lang="en-US" smtClean="0"/>
              <a:t>2/27/2025</a:t>
            </a:fld>
            <a:endParaRPr lang="en-US"/>
          </a:p>
        </p:txBody>
      </p:sp>
      <p:sp>
        <p:nvSpPr>
          <p:cNvPr id="6" name="Footer Placeholder 5">
            <a:extLst>
              <a:ext uri="{FF2B5EF4-FFF2-40B4-BE49-F238E27FC236}">
                <a16:creationId xmlns:a16="http://schemas.microsoft.com/office/drawing/2014/main" id="{030D3715-30E2-073D-0207-57B07E76BC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1BE4B1-0C23-640F-C832-5B2A9AAEA86B}"/>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1028451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CA484-8EEB-931F-80EF-B795F8BEC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0D0565-8355-EA79-4376-D322E4EE66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FFF908-A31C-3716-3DC6-13F7AB4B91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FCFBE2-D0ED-9D36-3CA2-5D5FE8289706}"/>
              </a:ext>
            </a:extLst>
          </p:cNvPr>
          <p:cNvSpPr>
            <a:spLocks noGrp="1"/>
          </p:cNvSpPr>
          <p:nvPr>
            <p:ph type="dt" sz="half" idx="10"/>
          </p:nvPr>
        </p:nvSpPr>
        <p:spPr/>
        <p:txBody>
          <a:bodyPr/>
          <a:lstStyle/>
          <a:p>
            <a:fld id="{F89BC0C4-F7E7-49A1-B3F8-A02BDB15BE75}" type="datetime1">
              <a:rPr lang="en-US" smtClean="0"/>
              <a:t>2/27/2025</a:t>
            </a:fld>
            <a:endParaRPr lang="en-US"/>
          </a:p>
        </p:txBody>
      </p:sp>
      <p:sp>
        <p:nvSpPr>
          <p:cNvPr id="6" name="Footer Placeholder 5">
            <a:extLst>
              <a:ext uri="{FF2B5EF4-FFF2-40B4-BE49-F238E27FC236}">
                <a16:creationId xmlns:a16="http://schemas.microsoft.com/office/drawing/2014/main" id="{5FE5788E-FB25-8636-EDFE-459548537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234C31-6099-580C-92C9-9548643C934C}"/>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3330098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3C13-8756-AC10-BD8F-1ECA6C4543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1A2A08-50B7-046D-E3DD-3AB216D8B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DC8FD7-8767-0BA4-1C3B-4DB3B021ADA6}"/>
              </a:ext>
            </a:extLst>
          </p:cNvPr>
          <p:cNvSpPr>
            <a:spLocks noGrp="1"/>
          </p:cNvSpPr>
          <p:nvPr>
            <p:ph type="dt" sz="half" idx="10"/>
          </p:nvPr>
        </p:nvSpPr>
        <p:spPr/>
        <p:txBody>
          <a:bodyPr/>
          <a:lstStyle/>
          <a:p>
            <a:fld id="{C976F4D8-8893-47B9-965D-0AD3004E690C}" type="datetime1">
              <a:rPr lang="en-US" smtClean="0"/>
              <a:t>2/27/2025</a:t>
            </a:fld>
            <a:endParaRPr lang="en-US"/>
          </a:p>
        </p:txBody>
      </p:sp>
      <p:sp>
        <p:nvSpPr>
          <p:cNvPr id="5" name="Footer Placeholder 4">
            <a:extLst>
              <a:ext uri="{FF2B5EF4-FFF2-40B4-BE49-F238E27FC236}">
                <a16:creationId xmlns:a16="http://schemas.microsoft.com/office/drawing/2014/main" id="{2E1642B9-E42E-D8A7-C8C3-1C3C2110D5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595354-D74A-29DB-1025-9E310C9A6772}"/>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28394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0FAD1A-452B-FA9C-E30E-57892C6E78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830FD3-89BA-194F-AD93-1AC11B59C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6992EE-B479-D176-1ADC-CD3E76039C4D}"/>
              </a:ext>
            </a:extLst>
          </p:cNvPr>
          <p:cNvSpPr>
            <a:spLocks noGrp="1"/>
          </p:cNvSpPr>
          <p:nvPr>
            <p:ph type="dt" sz="half" idx="10"/>
          </p:nvPr>
        </p:nvSpPr>
        <p:spPr/>
        <p:txBody>
          <a:bodyPr/>
          <a:lstStyle/>
          <a:p>
            <a:fld id="{6C16A2EA-DDAE-4616-9496-A9D9368486AF}" type="datetime1">
              <a:rPr lang="en-US" smtClean="0"/>
              <a:t>2/27/2025</a:t>
            </a:fld>
            <a:endParaRPr lang="en-US"/>
          </a:p>
        </p:txBody>
      </p:sp>
      <p:sp>
        <p:nvSpPr>
          <p:cNvPr id="5" name="Footer Placeholder 4">
            <a:extLst>
              <a:ext uri="{FF2B5EF4-FFF2-40B4-BE49-F238E27FC236}">
                <a16:creationId xmlns:a16="http://schemas.microsoft.com/office/drawing/2014/main" id="{B1D93990-094C-107C-6250-EA411C540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9475BD-04C2-A87E-74A9-379D23DE5606}"/>
              </a:ext>
            </a:extLst>
          </p:cNvPr>
          <p:cNvSpPr>
            <a:spLocks noGrp="1"/>
          </p:cNvSpPr>
          <p:nvPr>
            <p:ph type="sldNum" sz="quarter" idx="12"/>
          </p:nvPr>
        </p:nvSpPr>
        <p:spPr/>
        <p:txBody>
          <a:bodyPr/>
          <a:lstStyle/>
          <a:p>
            <a:fld id="{62BC31D5-3DB6-4CC7-B4BC-04D916B4976B}" type="slidenum">
              <a:rPr lang="en-US" smtClean="0"/>
              <a:t>‹#›</a:t>
            </a:fld>
            <a:endParaRPr lang="en-US"/>
          </a:p>
        </p:txBody>
      </p:sp>
    </p:spTree>
    <p:extLst>
      <p:ext uri="{BB962C8B-B14F-4D97-AF65-F5344CB8AC3E}">
        <p14:creationId xmlns:p14="http://schemas.microsoft.com/office/powerpoint/2010/main" val="496825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E69BAE-835B-97D0-0CC1-FEAB975FE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EE7EE4-C17A-2703-10C7-BEBF224B9C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1691C9-A7AB-FEB5-B536-8EA69EBEDF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88C8B7-4C8B-4ED8-9943-A3F863652E89}" type="datetime1">
              <a:rPr lang="en-US" smtClean="0"/>
              <a:t>2/27/2025</a:t>
            </a:fld>
            <a:endParaRPr lang="en-US"/>
          </a:p>
        </p:txBody>
      </p:sp>
      <p:sp>
        <p:nvSpPr>
          <p:cNvPr id="5" name="Footer Placeholder 4">
            <a:extLst>
              <a:ext uri="{FF2B5EF4-FFF2-40B4-BE49-F238E27FC236}">
                <a16:creationId xmlns:a16="http://schemas.microsoft.com/office/drawing/2014/main" id="{E84470FE-D3F2-9C56-E54B-513A9EC1FB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142DED-6AA0-2F65-03C1-0D980BEAF1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BC31D5-3DB6-4CC7-B4BC-04D916B4976B}" type="slidenum">
              <a:rPr lang="en-US" smtClean="0"/>
              <a:t>‹#›</a:t>
            </a:fld>
            <a:endParaRPr lang="en-US"/>
          </a:p>
        </p:txBody>
      </p:sp>
    </p:spTree>
    <p:extLst>
      <p:ext uri="{BB962C8B-B14F-4D97-AF65-F5344CB8AC3E}">
        <p14:creationId xmlns:p14="http://schemas.microsoft.com/office/powerpoint/2010/main" val="1040925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hyperlink" Target="https://www.linkedin.com/in/ericmaniraguha/" TargetMode="External"/><Relationship Id="rId4" Type="http://schemas.openxmlformats.org/officeDocument/2006/relationships/hyperlink" Target="mailto:ericmaniraguha2024@gmail.com"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thetechplatform.com/post/what-is-pl-sq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www.oracleplsqltr.com/2021/12/15/pl-sql-exception-handling-in-all-details/" TargetMode="Externa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www.edureka.co/blog/case-in-sql"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png"/><Relationship Id="rId7" Type="http://schemas.openxmlformats.org/officeDocument/2006/relationships/diagramColors" Target="../diagrams/colors5.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png"/><Relationship Id="rId7" Type="http://schemas.openxmlformats.org/officeDocument/2006/relationships/diagramColors" Target="../diagrams/colors6.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hyperlink" Target="https://www.geeksforgeeks.org/plsql-loops/" TargetMode="Externa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419725" y="348865"/>
            <a:ext cx="10995895" cy="877729"/>
          </a:xfrm>
        </p:spPr>
        <p:txBody>
          <a:bodyPr vert="horz" lIns="91440" tIns="45720" rIns="91440" bIns="45720" rtlCol="0" anchor="ctr">
            <a:normAutofit fontScale="90000"/>
          </a:bodyPr>
          <a:lstStyle/>
          <a:p>
            <a:r>
              <a:rPr lang="en-US"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Database development with PL/SQL INSY 831</a:t>
            </a:r>
            <a:r>
              <a:rPr lang="en-US" sz="4000" b="1" dirty="0">
                <a:solidFill>
                  <a:srgbClr val="FFFFFF"/>
                </a:solidFill>
                <a:latin typeface="Tahoma" panose="020B0604030504040204" pitchFamily="34" charset="0"/>
                <a:ea typeface="Tahoma" panose="020B0604030504040204" pitchFamily="34" charset="0"/>
                <a:cs typeface="Tahoma" panose="020B0604030504040204" pitchFamily="34" charset="0"/>
              </a:rPr>
              <a:t>1</a:t>
            </a:r>
            <a:endParaRPr lang="en-US" sz="4000" b="1" kern="1200"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pic>
        <p:nvPicPr>
          <p:cNvPr id="1026" name="Picture 2" descr="Adventist University of Central Africa">
            <a:extLst>
              <a:ext uri="{FF2B5EF4-FFF2-40B4-BE49-F238E27FC236}">
                <a16:creationId xmlns:a16="http://schemas.microsoft.com/office/drawing/2014/main" id="{9916E481-4DEE-8DB3-3A46-E31A4E540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008" y="1627586"/>
            <a:ext cx="4781550" cy="11049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9FC9EA0-7531-9024-993A-A0E5AA3BD7A1}"/>
              </a:ext>
            </a:extLst>
          </p:cNvPr>
          <p:cNvSpPr txBox="1"/>
          <p:nvPr/>
        </p:nvSpPr>
        <p:spPr>
          <a:xfrm>
            <a:off x="8610599" y="5870965"/>
            <a:ext cx="3253959" cy="523220"/>
          </a:xfrm>
          <a:prstGeom prst="rect">
            <a:avLst/>
          </a:prstGeom>
          <a:noFill/>
        </p:spPr>
        <p:txBody>
          <a:bodyPr wrap="square">
            <a:sp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February 2025</a:t>
            </a:r>
            <a:endParaRPr lang="en-CA" sz="2800" dirty="0">
              <a:latin typeface="Tahoma" panose="020B0604030504040204" pitchFamily="34" charset="0"/>
              <a:ea typeface="Tahoma" panose="020B0604030504040204" pitchFamily="34" charset="0"/>
              <a:cs typeface="Tahoma" panose="020B0604030504040204" pitchFamily="34" charset="0"/>
            </a:endParaRPr>
          </a:p>
        </p:txBody>
      </p:sp>
      <p:sp>
        <p:nvSpPr>
          <p:cNvPr id="11" name="Slide Number Placeholder 10">
            <a:extLst>
              <a:ext uri="{FF2B5EF4-FFF2-40B4-BE49-F238E27FC236}">
                <a16:creationId xmlns:a16="http://schemas.microsoft.com/office/drawing/2014/main" id="{85583B1D-4FA6-C7CF-0BCE-1940C4B4ADE7}"/>
              </a:ext>
            </a:extLst>
          </p:cNvPr>
          <p:cNvSpPr>
            <a:spLocks noGrp="1"/>
          </p:cNvSpPr>
          <p:nvPr>
            <p:ph type="sldNum" sz="quarter" idx="12"/>
          </p:nvPr>
        </p:nvSpPr>
        <p:spPr/>
        <p:txBody>
          <a:bodyPr/>
          <a:lstStyle/>
          <a:p>
            <a:fld id="{62BC31D5-3DB6-4CC7-B4BC-04D916B4976B}" type="slidenum">
              <a:rPr lang="en-US" smtClean="0"/>
              <a:t>1</a:t>
            </a:fld>
            <a:endParaRPr lang="en-US" dirty="0"/>
          </a:p>
        </p:txBody>
      </p:sp>
      <p:sp>
        <p:nvSpPr>
          <p:cNvPr id="4" name="TextBox 3">
            <a:extLst>
              <a:ext uri="{FF2B5EF4-FFF2-40B4-BE49-F238E27FC236}">
                <a16:creationId xmlns:a16="http://schemas.microsoft.com/office/drawing/2014/main" id="{B9351F3B-E7E9-9B2F-2B7E-7C019D490EED}"/>
              </a:ext>
            </a:extLst>
          </p:cNvPr>
          <p:cNvSpPr txBox="1"/>
          <p:nvPr/>
        </p:nvSpPr>
        <p:spPr>
          <a:xfrm>
            <a:off x="419725" y="5130150"/>
            <a:ext cx="4931764" cy="163121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latin typeface="Tahoma" panose="020B0604030504040204" pitchFamily="34" charset="0"/>
                <a:ea typeface="Tahoma" panose="020B0604030504040204" pitchFamily="34" charset="0"/>
                <a:cs typeface="Tahoma" panose="020B0604030504040204" pitchFamily="34" charset="0"/>
              </a:rPr>
              <a:t>6h00 pm – 8h50 pm</a:t>
            </a:r>
          </a:p>
          <a:p>
            <a:pPr marL="1714500" lvl="3" indent="-342900">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rPr>
              <a:t>Monday A -G209 </a:t>
            </a:r>
          </a:p>
          <a:p>
            <a:pPr marL="1714500" lvl="3" indent="-342900">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rPr>
              <a:t>Tuesday B-G209</a:t>
            </a:r>
          </a:p>
          <a:p>
            <a:pPr marL="1714500" lvl="3" indent="-342900">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rPr>
              <a:t>Wednesday E-G209</a:t>
            </a:r>
          </a:p>
          <a:p>
            <a:pPr marL="1714500" lvl="3" indent="-342900">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rPr>
              <a:t>Thursday F-G308</a:t>
            </a:r>
          </a:p>
        </p:txBody>
      </p:sp>
      <p:sp>
        <p:nvSpPr>
          <p:cNvPr id="5" name="TextBox 7">
            <a:extLst>
              <a:ext uri="{FF2B5EF4-FFF2-40B4-BE49-F238E27FC236}">
                <a16:creationId xmlns:a16="http://schemas.microsoft.com/office/drawing/2014/main" id="{C4A291C4-BB7F-1B68-2F65-38D80281EE4D}"/>
              </a:ext>
            </a:extLst>
          </p:cNvPr>
          <p:cNvSpPr txBox="1"/>
          <p:nvPr/>
        </p:nvSpPr>
        <p:spPr>
          <a:xfrm>
            <a:off x="162765" y="2644170"/>
            <a:ext cx="11866470" cy="126188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latin typeface="Tahoma" panose="020B0604030504040204" pitchFamily="34" charset="0"/>
                <a:ea typeface="Tahoma" panose="020B0604030504040204" pitchFamily="34" charset="0"/>
                <a:cs typeface="Tahoma" panose="020B0604030504040204" pitchFamily="34" charset="0"/>
              </a:rPr>
              <a:t>Instructor:</a:t>
            </a:r>
          </a:p>
          <a:p>
            <a:pPr marL="914400" lvl="1" indent="-457200">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rPr>
              <a:t>Eric Maniraguha | </a:t>
            </a:r>
            <a:r>
              <a:rPr lang="en-US" sz="2000" dirty="0">
                <a:latin typeface="Tahoma" panose="020B0604030504040204" pitchFamily="34" charset="0"/>
                <a:ea typeface="Tahoma" panose="020B0604030504040204" pitchFamily="34" charset="0"/>
                <a:cs typeface="Tahoma" panose="020B0604030504040204" pitchFamily="34" charset="0"/>
                <a:hlinkClick r:id="rId4"/>
              </a:rPr>
              <a:t>ericmaniraguha2024@gmail.com</a:t>
            </a:r>
            <a:r>
              <a:rPr lang="en-US" sz="2000" dirty="0">
                <a:latin typeface="Tahoma" panose="020B0604030504040204" pitchFamily="34" charset="0"/>
                <a:ea typeface="Tahoma" panose="020B0604030504040204" pitchFamily="34" charset="0"/>
                <a:cs typeface="Tahoma" panose="020B0604030504040204" pitchFamily="34" charset="0"/>
              </a:rPr>
              <a:t> | </a:t>
            </a:r>
            <a:r>
              <a:rPr lang="en-US" sz="2000" dirty="0">
                <a:latin typeface="Tahoma" panose="020B0604030504040204" pitchFamily="34" charset="0"/>
                <a:ea typeface="Tahoma" panose="020B0604030504040204" pitchFamily="34" charset="0"/>
                <a:cs typeface="Tahoma" panose="020B0604030504040204" pitchFamily="34" charset="0"/>
                <a:hlinkClick r:id="rId5"/>
              </a:rPr>
              <a:t>LinkedIn Profile </a:t>
            </a:r>
            <a:endParaRPr lang="en-US" sz="2000" dirty="0">
              <a:latin typeface="Tahoma" panose="020B0604030504040204" pitchFamily="34" charset="0"/>
              <a:ea typeface="Tahoma" panose="020B0604030504040204" pitchFamily="34" charset="0"/>
              <a:cs typeface="Tahoma" panose="020B0604030504040204" pitchFamily="34" charset="0"/>
            </a:endParaRPr>
          </a:p>
          <a:p>
            <a:endParaRPr lang="en-US" sz="2800"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2" descr="Setting Up PL/SQL on Linux Ubuntu/WSL - DEV Community">
            <a:extLst>
              <a:ext uri="{FF2B5EF4-FFF2-40B4-BE49-F238E27FC236}">
                <a16:creationId xmlns:a16="http://schemas.microsoft.com/office/drawing/2014/main" id="{B0D4EAA0-7DE2-0C93-E665-0F0C8664D0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29800" y="3429000"/>
            <a:ext cx="2251113" cy="1266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0075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419725" y="348865"/>
            <a:ext cx="10995895" cy="877729"/>
          </a:xfrm>
        </p:spPr>
        <p:txBody>
          <a:bodyPr vert="horz" lIns="91440" tIns="45720" rIns="91440" bIns="45720" rtlCol="0" anchor="ctr">
            <a:normAutofit/>
          </a:bodyPr>
          <a:lstStyle/>
          <a:p>
            <a:r>
              <a:rPr lang="en-US"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Database development with PL/SQL</a:t>
            </a:r>
            <a:endPar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11" name="Slide Number Placeholder 10">
            <a:extLst>
              <a:ext uri="{FF2B5EF4-FFF2-40B4-BE49-F238E27FC236}">
                <a16:creationId xmlns:a16="http://schemas.microsoft.com/office/drawing/2014/main" id="{85583B1D-4FA6-C7CF-0BCE-1940C4B4AD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BC31D5-3DB6-4CC7-B4BC-04D916B4976B}"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83DBA7A9-06E5-AFB3-DB84-48EAF223F975}"/>
              </a:ext>
            </a:extLst>
          </p:cNvPr>
          <p:cNvSpPr txBox="1"/>
          <p:nvPr/>
        </p:nvSpPr>
        <p:spPr>
          <a:xfrm>
            <a:off x="419725" y="1788309"/>
            <a:ext cx="609887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800" b="1" i="0" u="none" strike="noStrike" kern="1200" cap="none" spc="0" normalizeH="0" baseline="0" noProof="0" dirty="0">
                <a:ln>
                  <a:noFill/>
                </a:ln>
                <a:solidFill>
                  <a:srgbClr val="0F0F0F"/>
                </a:solidFill>
                <a:effectLst/>
                <a:highlight>
                  <a:srgbClr val="FFFFFF"/>
                </a:highlight>
                <a:uLnTx/>
                <a:uFillTx/>
                <a:latin typeface="Tahoma" panose="020B0604030504040204" pitchFamily="34" charset="0"/>
                <a:ea typeface="Tahoma" panose="020B0604030504040204" pitchFamily="34" charset="0"/>
                <a:cs typeface="Tahoma" panose="020B0604030504040204" pitchFamily="34" charset="0"/>
              </a:rPr>
              <a:t>Reference reading</a:t>
            </a:r>
          </a:p>
        </p:txBody>
      </p:sp>
      <p:sp>
        <p:nvSpPr>
          <p:cNvPr id="9" name="TextBox 8">
            <a:extLst>
              <a:ext uri="{FF2B5EF4-FFF2-40B4-BE49-F238E27FC236}">
                <a16:creationId xmlns:a16="http://schemas.microsoft.com/office/drawing/2014/main" id="{D5301566-2D55-A6CA-4EFF-B1CDB72BFABA}"/>
              </a:ext>
            </a:extLst>
          </p:cNvPr>
          <p:cNvSpPr txBox="1"/>
          <p:nvPr/>
        </p:nvSpPr>
        <p:spPr>
          <a:xfrm>
            <a:off x="566468" y="2410583"/>
            <a:ext cx="11059064" cy="923330"/>
          </a:xfrm>
          <a:prstGeom prst="rect">
            <a:avLst/>
          </a:prstGeom>
          <a:noFill/>
        </p:spPr>
        <p:txBody>
          <a:bodyPr wrap="square">
            <a:spAutoFit/>
          </a:bodyPr>
          <a:lstStyle/>
          <a:p>
            <a:pPr marL="285750" indent="-285750">
              <a:buFont typeface="Wingdings" panose="05000000000000000000" pitchFamily="2" charset="2"/>
              <a:buChar char="§"/>
              <a:defRPr/>
            </a:pPr>
            <a:r>
              <a:rPr lang="en-CA" b="1" i="0" dirty="0">
                <a:solidFill>
                  <a:schemeClr val="accent1">
                    <a:lumMod val="75000"/>
                  </a:schemeClr>
                </a:solidFill>
                <a:effectLst/>
                <a:latin typeface="Tahoma" panose="020B0604030504040204" pitchFamily="34" charset="0"/>
                <a:ea typeface="Tahoma" panose="020B0604030504040204" pitchFamily="34" charset="0"/>
                <a:cs typeface="Tahoma" panose="020B0604030504040204" pitchFamily="34" charset="0"/>
                <a:hlinkClick r:id="rId3"/>
              </a:rPr>
              <a:t>What is PL/SQL? Explained</a:t>
            </a:r>
            <a:endParaRPr lang="en-CA" b="1" i="0" dirty="0">
              <a:solidFill>
                <a:schemeClr val="accent1">
                  <a:lumMod val="75000"/>
                </a:schemeClr>
              </a:solidFill>
              <a:effectLst/>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
              <a:defRPr/>
            </a:pPr>
            <a:r>
              <a:rPr lang="en-CA" b="1" i="0" dirty="0">
                <a:solidFill>
                  <a:srgbClr val="383838"/>
                </a:solidFill>
                <a:effectLst/>
                <a:latin typeface="Tahoma" panose="020B0604030504040204" pitchFamily="34" charset="0"/>
                <a:ea typeface="Tahoma" panose="020B0604030504040204" pitchFamily="34" charset="0"/>
                <a:cs typeface="Tahoma" panose="020B0604030504040204" pitchFamily="34" charset="0"/>
                <a:hlinkClick r:id="rId4"/>
              </a:rPr>
              <a:t>PL/SQL Exception Handling in All Details</a:t>
            </a:r>
            <a:endParaRPr lang="en-CA" b="1" i="0" dirty="0">
              <a:solidFill>
                <a:srgbClr val="383838"/>
              </a:solidFill>
              <a:effectLst/>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
              <a:defRPr/>
            </a:pPr>
            <a:endParaRPr lang="en-US" b="1" i="0" dirty="0">
              <a:solidFill>
                <a:schemeClr val="accent1">
                  <a:lumMod val="75000"/>
                </a:schemeClr>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6795E5FB-EC7C-688D-D4C1-31EE1AA764F2}"/>
              </a:ext>
            </a:extLst>
          </p:cNvPr>
          <p:cNvSpPr txBox="1"/>
          <p:nvPr/>
        </p:nvSpPr>
        <p:spPr>
          <a:xfrm>
            <a:off x="362212" y="6015692"/>
            <a:ext cx="1170596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Lecture 05 – </a:t>
            </a:r>
            <a:r>
              <a:rPr kumimoji="0" lang="en-CA" sz="2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Error Handling &amp; Control Structures</a:t>
            </a:r>
            <a:endParaRPr kumimoji="0" lang="en-CA" sz="2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C3198308-B4ED-0FE4-36FB-C918138588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Tree>
    <p:extLst>
      <p:ext uri="{BB962C8B-B14F-4D97-AF65-F5344CB8AC3E}">
        <p14:creationId xmlns:p14="http://schemas.microsoft.com/office/powerpoint/2010/main" val="113479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0941CB-C944-A056-4FEC-A748CA178C32}"/>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0A766B6E-91EF-62AC-4CCA-A9F42B62C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3BC0C0BB-70B3-0E1D-9E59-20F242F3B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C0EC5AD2-DD98-A709-EFC5-58E5CA60F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3AA561D1-E809-BB1C-90E4-1F15113A36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C2DD4C91-9882-AA6F-6605-29B713A7B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722672D0-B3B1-94EB-429C-0F1DB2B83DD9}"/>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Error Handling in PL/SQL  &amp; Control Structures</a:t>
            </a:r>
          </a:p>
        </p:txBody>
      </p:sp>
      <p:sp>
        <p:nvSpPr>
          <p:cNvPr id="5" name="Slide Number Placeholder 4">
            <a:extLst>
              <a:ext uri="{FF2B5EF4-FFF2-40B4-BE49-F238E27FC236}">
                <a16:creationId xmlns:a16="http://schemas.microsoft.com/office/drawing/2014/main" id="{584F5A9C-D23E-35F1-7E7F-42B2866676B7}"/>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D0B6CB91-FDD4-32D3-C8E5-C9CF91303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graphicFrame>
        <p:nvGraphicFramePr>
          <p:cNvPr id="10" name="Diagram 9">
            <a:extLst>
              <a:ext uri="{FF2B5EF4-FFF2-40B4-BE49-F238E27FC236}">
                <a16:creationId xmlns:a16="http://schemas.microsoft.com/office/drawing/2014/main" id="{5711BC11-D534-3865-24DA-DA4A8A62E0F1}"/>
              </a:ext>
            </a:extLst>
          </p:cNvPr>
          <p:cNvGraphicFramePr/>
          <p:nvPr>
            <p:extLst>
              <p:ext uri="{D42A27DB-BD31-4B8C-83A1-F6EECF244321}">
                <p14:modId xmlns:p14="http://schemas.microsoft.com/office/powerpoint/2010/main" val="4096959390"/>
              </p:ext>
            </p:extLst>
          </p:nvPr>
        </p:nvGraphicFramePr>
        <p:xfrm>
          <a:off x="-4" y="2510971"/>
          <a:ext cx="12192003" cy="38610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3967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Exception Handling in PL/SQL</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4</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806" y="6406198"/>
            <a:ext cx="885288" cy="451802"/>
          </a:xfrm>
          <a:prstGeom prst="rect">
            <a:avLst/>
          </a:prstGeom>
        </p:spPr>
      </p:pic>
      <p:sp>
        <p:nvSpPr>
          <p:cNvPr id="2" name="Rectangle 1">
            <a:extLst>
              <a:ext uri="{FF2B5EF4-FFF2-40B4-BE49-F238E27FC236}">
                <a16:creationId xmlns:a16="http://schemas.microsoft.com/office/drawing/2014/main" id="{B9394E79-EE5C-1776-8B8D-43007DA8BB67}"/>
              </a:ext>
            </a:extLst>
          </p:cNvPr>
          <p:cNvSpPr>
            <a:spLocks noChangeArrowheads="1"/>
          </p:cNvSpPr>
          <p:nvPr/>
        </p:nvSpPr>
        <p:spPr bwMode="auto">
          <a:xfrm>
            <a:off x="43132" y="1604543"/>
            <a:ext cx="1210924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Introduction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An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exception</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is an error that disrupts the normal flow of program execution. PL/SQL provides exception handling mechanisms to identify, catch, and manage errors, allowing programmers to debug and resolve issues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Diagram 5">
            <a:extLst>
              <a:ext uri="{FF2B5EF4-FFF2-40B4-BE49-F238E27FC236}">
                <a16:creationId xmlns:a16="http://schemas.microsoft.com/office/drawing/2014/main" id="{46285110-D87E-B41F-9017-569EAF0CB6C9}"/>
              </a:ext>
            </a:extLst>
          </p:cNvPr>
          <p:cNvGraphicFramePr/>
          <p:nvPr>
            <p:extLst>
              <p:ext uri="{D42A27DB-BD31-4B8C-83A1-F6EECF244321}">
                <p14:modId xmlns:p14="http://schemas.microsoft.com/office/powerpoint/2010/main" val="1841480612"/>
              </p:ext>
            </p:extLst>
          </p:nvPr>
        </p:nvGraphicFramePr>
        <p:xfrm>
          <a:off x="232230" y="2588492"/>
          <a:ext cx="9173028" cy="26730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descr="A person sitting at a desk with a computer&#10;&#10;AI-generated content may be incorrect.">
            <a:extLst>
              <a:ext uri="{FF2B5EF4-FFF2-40B4-BE49-F238E27FC236}">
                <a16:creationId xmlns:a16="http://schemas.microsoft.com/office/drawing/2014/main" id="{069A10DD-19D4-0781-D446-EC1B813152D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405259" y="3973487"/>
            <a:ext cx="2859470" cy="2847302"/>
          </a:xfrm>
          <a:prstGeom prst="rect">
            <a:avLst/>
          </a:prstGeom>
        </p:spPr>
      </p:pic>
    </p:spTree>
    <p:extLst>
      <p:ext uri="{BB962C8B-B14F-4D97-AF65-F5344CB8AC3E}">
        <p14:creationId xmlns:p14="http://schemas.microsoft.com/office/powerpoint/2010/main" val="1337162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Freeform: Shape 12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354105" y="2767106"/>
            <a:ext cx="3186764" cy="3071906"/>
          </a:xfrm>
        </p:spPr>
        <p:txBody>
          <a:bodyPr vert="horz" lIns="91440" tIns="45720" rIns="91440" bIns="45720" rtlCol="0" anchor="t">
            <a:normAutofit/>
          </a:bodyPr>
          <a:lstStyle/>
          <a:p>
            <a:pPr algn="l"/>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1. System-Defined Exceptions</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5</a:t>
            </a:fld>
            <a:endParaRPr lang="en-US" sz="1100" dirty="0">
              <a:solidFill>
                <a:schemeClr val="tx1">
                  <a:lumMod val="50000"/>
                  <a:lumOff val="50000"/>
                </a:schemeClr>
              </a:solidFill>
            </a:endParaRPr>
          </a:p>
        </p:txBody>
      </p:sp>
      <p:graphicFrame>
        <p:nvGraphicFramePr>
          <p:cNvPr id="2" name="Table 1">
            <a:extLst>
              <a:ext uri="{FF2B5EF4-FFF2-40B4-BE49-F238E27FC236}">
                <a16:creationId xmlns:a16="http://schemas.microsoft.com/office/drawing/2014/main" id="{7C05180F-3219-AD27-61D8-9FCF0201D520}"/>
              </a:ext>
            </a:extLst>
          </p:cNvPr>
          <p:cNvGraphicFramePr>
            <a:graphicFrameLocks noGrp="1"/>
          </p:cNvGraphicFramePr>
          <p:nvPr>
            <p:extLst>
              <p:ext uri="{D42A27DB-BD31-4B8C-83A1-F6EECF244321}">
                <p14:modId xmlns:p14="http://schemas.microsoft.com/office/powerpoint/2010/main" val="268965149"/>
              </p:ext>
            </p:extLst>
          </p:nvPr>
        </p:nvGraphicFramePr>
        <p:xfrm>
          <a:off x="4038604" y="1"/>
          <a:ext cx="8483458" cy="6857997"/>
        </p:xfrm>
        <a:graphic>
          <a:graphicData uri="http://schemas.openxmlformats.org/drawingml/2006/table">
            <a:tbl>
              <a:tblPr>
                <a:tableStyleId>{775DCB02-9BB8-47FD-8907-85C794F793BA}</a:tableStyleId>
              </a:tblPr>
              <a:tblGrid>
                <a:gridCol w="1590218">
                  <a:extLst>
                    <a:ext uri="{9D8B030D-6E8A-4147-A177-3AD203B41FA5}">
                      <a16:colId xmlns:a16="http://schemas.microsoft.com/office/drawing/2014/main" val="2001929603"/>
                    </a:ext>
                  </a:extLst>
                </a:gridCol>
                <a:gridCol w="1564865">
                  <a:extLst>
                    <a:ext uri="{9D8B030D-6E8A-4147-A177-3AD203B41FA5}">
                      <a16:colId xmlns:a16="http://schemas.microsoft.com/office/drawing/2014/main" val="1790463106"/>
                    </a:ext>
                  </a:extLst>
                </a:gridCol>
                <a:gridCol w="1130181">
                  <a:extLst>
                    <a:ext uri="{9D8B030D-6E8A-4147-A177-3AD203B41FA5}">
                      <a16:colId xmlns:a16="http://schemas.microsoft.com/office/drawing/2014/main" val="2958781170"/>
                    </a:ext>
                  </a:extLst>
                </a:gridCol>
                <a:gridCol w="4198194">
                  <a:extLst>
                    <a:ext uri="{9D8B030D-6E8A-4147-A177-3AD203B41FA5}">
                      <a16:colId xmlns:a16="http://schemas.microsoft.com/office/drawing/2014/main" val="222071324"/>
                    </a:ext>
                  </a:extLst>
                </a:gridCol>
              </a:tblGrid>
              <a:tr h="264916">
                <a:tc>
                  <a:txBody>
                    <a:bodyPr/>
                    <a:lstStyle/>
                    <a:p>
                      <a:r>
                        <a:rPr lang="en-US" sz="1600" b="1">
                          <a:effectLst/>
                          <a:latin typeface="Tahoma" panose="020B0604030504040204" pitchFamily="34" charset="0"/>
                          <a:ea typeface="Tahoma" panose="020B0604030504040204" pitchFamily="34" charset="0"/>
                          <a:cs typeface="Tahoma" panose="020B0604030504040204" pitchFamily="34" charset="0"/>
                        </a:rPr>
                        <a:t>Exception</a:t>
                      </a:r>
                      <a:endParaRPr lang="en-US" sz="1600">
                        <a:effectLst/>
                        <a:latin typeface="Tahoma" panose="020B0604030504040204" pitchFamily="34" charset="0"/>
                        <a:ea typeface="Tahoma" panose="020B0604030504040204" pitchFamily="34" charset="0"/>
                        <a:cs typeface="Tahoma" panose="020B0604030504040204" pitchFamily="34" charset="0"/>
                      </a:endParaRPr>
                    </a:p>
                  </a:txBody>
                  <a:tcPr marL="9365" marR="17981" marT="8990" marB="8990" anchor="ctr"/>
                </a:tc>
                <a:tc>
                  <a:txBody>
                    <a:bodyPr/>
                    <a:lstStyle/>
                    <a:p>
                      <a:r>
                        <a:rPr lang="en-US" sz="1600" b="1">
                          <a:effectLst/>
                          <a:latin typeface="Tahoma" panose="020B0604030504040204" pitchFamily="34" charset="0"/>
                          <a:ea typeface="Tahoma" panose="020B0604030504040204" pitchFamily="34" charset="0"/>
                          <a:cs typeface="Tahoma" panose="020B0604030504040204" pitchFamily="34" charset="0"/>
                        </a:rPr>
                        <a:t>Oracle Error</a:t>
                      </a:r>
                      <a:endParaRPr lang="en-US" sz="1600">
                        <a:effectLst/>
                        <a:latin typeface="Tahoma" panose="020B0604030504040204" pitchFamily="34" charset="0"/>
                        <a:ea typeface="Tahoma" panose="020B0604030504040204" pitchFamily="34" charset="0"/>
                        <a:cs typeface="Tahoma" panose="020B0604030504040204" pitchFamily="34" charset="0"/>
                      </a:endParaRPr>
                    </a:p>
                  </a:txBody>
                  <a:tcPr marL="9365" marR="17981" marT="8990" marB="8990" anchor="ctr"/>
                </a:tc>
                <a:tc>
                  <a:txBody>
                    <a:bodyPr/>
                    <a:lstStyle/>
                    <a:p>
                      <a:r>
                        <a:rPr lang="en-US" sz="1600" b="1">
                          <a:effectLst/>
                          <a:latin typeface="Tahoma" panose="020B0604030504040204" pitchFamily="34" charset="0"/>
                          <a:ea typeface="Tahoma" panose="020B0604030504040204" pitchFamily="34" charset="0"/>
                          <a:cs typeface="Tahoma" panose="020B0604030504040204" pitchFamily="34" charset="0"/>
                        </a:rPr>
                        <a:t>SQLCODE</a:t>
                      </a:r>
                      <a:endParaRPr lang="en-US" sz="1600">
                        <a:effectLst/>
                        <a:latin typeface="Tahoma" panose="020B0604030504040204" pitchFamily="34" charset="0"/>
                        <a:ea typeface="Tahoma" panose="020B0604030504040204" pitchFamily="34" charset="0"/>
                        <a:cs typeface="Tahoma" panose="020B0604030504040204" pitchFamily="34" charset="0"/>
                      </a:endParaRPr>
                    </a:p>
                  </a:txBody>
                  <a:tcPr marL="9365" marR="17981" marT="8990" marB="8990" anchor="ctr"/>
                </a:tc>
                <a:tc>
                  <a:txBody>
                    <a:bodyPr/>
                    <a:lstStyle/>
                    <a:p>
                      <a:r>
                        <a:rPr lang="en-US" sz="1600" b="1" dirty="0">
                          <a:effectLst/>
                          <a:latin typeface="Tahoma" panose="020B0604030504040204" pitchFamily="34" charset="0"/>
                          <a:ea typeface="Tahoma" panose="020B0604030504040204" pitchFamily="34" charset="0"/>
                          <a:cs typeface="Tahoma" panose="020B0604030504040204" pitchFamily="34" charset="0"/>
                        </a:rPr>
                        <a:t>Description</a:t>
                      </a:r>
                      <a:endParaRPr lang="en-US" sz="1600" dirty="0">
                        <a:effectLst/>
                        <a:latin typeface="Tahoma" panose="020B0604030504040204" pitchFamily="34" charset="0"/>
                        <a:ea typeface="Tahoma" panose="020B0604030504040204" pitchFamily="34" charset="0"/>
                        <a:cs typeface="Tahoma" panose="020B0604030504040204" pitchFamily="34" charset="0"/>
                      </a:endParaRPr>
                    </a:p>
                  </a:txBody>
                  <a:tcPr marL="9365" marR="17981" marT="8990" marB="8990" anchor="ctr"/>
                </a:tc>
                <a:extLst>
                  <a:ext uri="{0D108BD9-81ED-4DB2-BD59-A6C34878D82A}">
                    <a16:rowId xmlns:a16="http://schemas.microsoft.com/office/drawing/2014/main" val="894202123"/>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ACCESS_INTO_NULL</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06530</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-6530</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 null object is automatically assigned a value.</a:t>
                      </a:r>
                    </a:p>
                  </a:txBody>
                  <a:tcPr marL="9365" marR="17981" marT="8990" marB="8990" anchor="ctr"/>
                </a:tc>
                <a:extLst>
                  <a:ext uri="{0D108BD9-81ED-4DB2-BD59-A6C34878D82A}">
                    <a16:rowId xmlns:a16="http://schemas.microsoft.com/office/drawing/2014/main" val="907294960"/>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CASE_NOT_FOUND</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06592</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-6592</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none of the choices in the WHEN clause of a </a:t>
                      </a:r>
                      <a:r>
                        <a:rPr lang="en-CA" sz="1100" u="none" strike="noStrike">
                          <a:solidFill>
                            <a:srgbClr val="0000EE"/>
                          </a:solidFill>
                          <a:effectLst/>
                          <a:latin typeface="Tahoma" panose="020B0604030504040204" pitchFamily="34" charset="0"/>
                          <a:ea typeface="Tahoma" panose="020B0604030504040204" pitchFamily="34" charset="0"/>
                          <a:cs typeface="Tahoma" panose="020B0604030504040204" pitchFamily="34" charset="0"/>
                          <a:hlinkClick r:id="rId3"/>
                        </a:rPr>
                        <a:t>CASE statement</a:t>
                      </a:r>
                      <a:r>
                        <a:rPr lang="en-CA" sz="1100">
                          <a:effectLst/>
                          <a:latin typeface="Tahoma" panose="020B0604030504040204" pitchFamily="34" charset="0"/>
                          <a:ea typeface="Tahoma" panose="020B0604030504040204" pitchFamily="34" charset="0"/>
                          <a:cs typeface="Tahoma" panose="020B0604030504040204" pitchFamily="34" charset="0"/>
                        </a:rPr>
                        <a:t> is selected, and there is no ELSE clause.</a:t>
                      </a:r>
                    </a:p>
                  </a:txBody>
                  <a:tcPr marL="9365" marR="17981" marT="8990" marB="8990" anchor="ctr"/>
                </a:tc>
                <a:extLst>
                  <a:ext uri="{0D108BD9-81ED-4DB2-BD59-A6C34878D82A}">
                    <a16:rowId xmlns:a16="http://schemas.microsoft.com/office/drawing/2014/main" val="2694225118"/>
                  </a:ext>
                </a:extLst>
              </a:tr>
              <a:tr h="758362">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COLLECTION_IS_NULL</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06531</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-6531</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 program attempts to apply collection methods other than EXISTS to an uninitialized nested table or varray, or the program attempts to assign values to the elements of an uninitialized nested table or varray.</a:t>
                      </a:r>
                    </a:p>
                  </a:txBody>
                  <a:tcPr marL="9365" marR="17981" marT="8990" marB="8990" anchor="ctr"/>
                </a:tc>
                <a:extLst>
                  <a:ext uri="{0D108BD9-81ED-4DB2-BD59-A6C34878D82A}">
                    <a16:rowId xmlns:a16="http://schemas.microsoft.com/office/drawing/2014/main" val="2491938962"/>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DUP_VAL_ON_INDEX</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00001</a:t>
                      </a:r>
                    </a:p>
                  </a:txBody>
                  <a:tcPr marL="9365" marR="17981" marT="8990" marB="8990" anchor="ctr"/>
                </a:tc>
                <a:tc>
                  <a:txBody>
                    <a:bodyPr/>
                    <a:lstStyle/>
                    <a:p>
                      <a:r>
                        <a:rPr lang="en-US" sz="1100" dirty="0">
                          <a:effectLst/>
                          <a:latin typeface="Tahoma" panose="020B0604030504040204" pitchFamily="34" charset="0"/>
                          <a:ea typeface="Tahoma" panose="020B0604030504040204" pitchFamily="34" charset="0"/>
                          <a:cs typeface="Tahoma" panose="020B0604030504040204" pitchFamily="34" charset="0"/>
                        </a:rPr>
                        <a:t>-1</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duplicate values are attempted to be stored in a column with a unique index.</a:t>
                      </a:r>
                    </a:p>
                  </a:txBody>
                  <a:tcPr marL="9365" marR="17981" marT="8990" marB="8990" anchor="ctr"/>
                </a:tc>
                <a:extLst>
                  <a:ext uri="{0D108BD9-81ED-4DB2-BD59-A6C34878D82A}">
                    <a16:rowId xmlns:a16="http://schemas.microsoft.com/office/drawing/2014/main" val="2776762620"/>
                  </a:ext>
                </a:extLst>
              </a:tr>
              <a:tr h="573320">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INVALID_CURSOR</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01001</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-1001</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attempts are made to make a cursor operation that is not allowed, such as closing an unopened cursor.</a:t>
                      </a:r>
                    </a:p>
                  </a:txBody>
                  <a:tcPr marL="9365" marR="17981" marT="8990" marB="8990" anchor="ctr"/>
                </a:tc>
                <a:extLst>
                  <a:ext uri="{0D108BD9-81ED-4DB2-BD59-A6C34878D82A}">
                    <a16:rowId xmlns:a16="http://schemas.microsoft.com/office/drawing/2014/main" val="2436242775"/>
                  </a:ext>
                </a:extLst>
              </a:tr>
              <a:tr h="573320">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INVALID_NUMBER</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01722</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-1722</a:t>
                      </a:r>
                    </a:p>
                  </a:txBody>
                  <a:tcPr marL="9365" marR="17981" marT="8990" marB="8990" anchor="ctr"/>
                </a:tc>
                <a:tc>
                  <a:txBody>
                    <a:bodyPr/>
                    <a:lstStyle/>
                    <a:p>
                      <a:r>
                        <a:rPr lang="en-CA" sz="1100" dirty="0">
                          <a:effectLst/>
                          <a:latin typeface="Tahoma" panose="020B0604030504040204" pitchFamily="34" charset="0"/>
                          <a:ea typeface="Tahoma" panose="020B0604030504040204" pitchFamily="34" charset="0"/>
                          <a:cs typeface="Tahoma" panose="020B0604030504040204" pitchFamily="34" charset="0"/>
                        </a:rPr>
                        <a:t>It is raised when the conversion of a character string into a number fails because the string does not represent a valid number.</a:t>
                      </a:r>
                    </a:p>
                  </a:txBody>
                  <a:tcPr marL="9365" marR="17981" marT="8990" marB="8990" anchor="ctr"/>
                </a:tc>
                <a:extLst>
                  <a:ext uri="{0D108BD9-81ED-4DB2-BD59-A6C34878D82A}">
                    <a16:rowId xmlns:a16="http://schemas.microsoft.com/office/drawing/2014/main" val="2561539668"/>
                  </a:ext>
                </a:extLst>
              </a:tr>
              <a:tr h="388277">
                <a:tc>
                  <a:txBody>
                    <a:bodyPr/>
                    <a:lstStyle/>
                    <a:p>
                      <a:r>
                        <a:rPr lang="en-US" sz="1100" dirty="0">
                          <a:effectLst/>
                          <a:latin typeface="Tahoma" panose="020B0604030504040204" pitchFamily="34" charset="0"/>
                          <a:ea typeface="Tahoma" panose="020B0604030504040204" pitchFamily="34" charset="0"/>
                          <a:cs typeface="Tahoma" panose="020B0604030504040204" pitchFamily="34" charset="0"/>
                        </a:rPr>
                        <a:t>LOGIN_DENIED</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01017</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-1017</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 program attempts to log on to the database with an invalid username or password.</a:t>
                      </a:r>
                    </a:p>
                  </a:txBody>
                  <a:tcPr marL="9365" marR="17981" marT="8990" marB="8990" anchor="ctr"/>
                </a:tc>
                <a:extLst>
                  <a:ext uri="{0D108BD9-81ED-4DB2-BD59-A6C34878D82A}">
                    <a16:rowId xmlns:a16="http://schemas.microsoft.com/office/drawing/2014/main" val="3654972027"/>
                  </a:ext>
                </a:extLst>
              </a:tr>
              <a:tr h="21379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NO_DATA_FOUND</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01403</a:t>
                      </a:r>
                    </a:p>
                  </a:txBody>
                  <a:tcPr marL="9365" marR="17981" marT="8990" marB="8990" anchor="ctr"/>
                </a:tc>
                <a:tc>
                  <a:txBody>
                    <a:bodyPr/>
                    <a:lstStyle/>
                    <a:p>
                      <a:r>
                        <a:rPr lang="en-US" sz="1100" dirty="0">
                          <a:effectLst/>
                          <a:latin typeface="Tahoma" panose="020B0604030504040204" pitchFamily="34" charset="0"/>
                          <a:ea typeface="Tahoma" panose="020B0604030504040204" pitchFamily="34" charset="0"/>
                          <a:cs typeface="Tahoma" panose="020B0604030504040204" pitchFamily="34" charset="0"/>
                        </a:rPr>
                        <a:t>+100</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 SELECT INTO statement returns no rows.</a:t>
                      </a:r>
                    </a:p>
                  </a:txBody>
                  <a:tcPr marL="9365" marR="17981" marT="8990" marB="8990" anchor="ctr"/>
                </a:tc>
                <a:extLst>
                  <a:ext uri="{0D108BD9-81ED-4DB2-BD59-A6C34878D82A}">
                    <a16:rowId xmlns:a16="http://schemas.microsoft.com/office/drawing/2014/main" val="361517960"/>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NOT_LOGGED_ON</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01012</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-1012</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 database call is issued without being connected to the database.</a:t>
                      </a:r>
                    </a:p>
                  </a:txBody>
                  <a:tcPr marL="9365" marR="17981" marT="8990" marB="8990" anchor="ctr"/>
                </a:tc>
                <a:extLst>
                  <a:ext uri="{0D108BD9-81ED-4DB2-BD59-A6C34878D82A}">
                    <a16:rowId xmlns:a16="http://schemas.microsoft.com/office/drawing/2014/main" val="2243044015"/>
                  </a:ext>
                </a:extLst>
              </a:tr>
              <a:tr h="203235">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PROGRAM_ERROR</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06501</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-6501</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PL/SQL has an internal problem.</a:t>
                      </a:r>
                    </a:p>
                  </a:txBody>
                  <a:tcPr marL="9365" marR="17981" marT="8990" marB="8990" anchor="ctr"/>
                </a:tc>
                <a:extLst>
                  <a:ext uri="{0D108BD9-81ED-4DB2-BD59-A6C34878D82A}">
                    <a16:rowId xmlns:a16="http://schemas.microsoft.com/office/drawing/2014/main" val="2075130592"/>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ROWTYPE_MISMATCH</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06504</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-6504</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This is raised when a cursor fetches value in a variable having incompatible data type.</a:t>
                      </a:r>
                    </a:p>
                  </a:txBody>
                  <a:tcPr marL="9365" marR="17981" marT="8990" marB="8990" anchor="ctr"/>
                </a:tc>
                <a:extLst>
                  <a:ext uri="{0D108BD9-81ED-4DB2-BD59-A6C34878D82A}">
                    <a16:rowId xmlns:a16="http://schemas.microsoft.com/office/drawing/2014/main" val="1221633724"/>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SELF_IS_NULL</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30625</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-30625</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This is raised when a member method is invoked, but the instance of the object type was not initialized.</a:t>
                      </a:r>
                    </a:p>
                  </a:txBody>
                  <a:tcPr marL="9365" marR="17981" marT="8990" marB="8990" anchor="ctr"/>
                </a:tc>
                <a:extLst>
                  <a:ext uri="{0D108BD9-81ED-4DB2-BD59-A6C34878D82A}">
                    <a16:rowId xmlns:a16="http://schemas.microsoft.com/office/drawing/2014/main" val="1847724965"/>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STORAGE_ERROR</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06500</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-6500</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PL/SQL ran out of memory or memory was corrupted.</a:t>
                      </a:r>
                    </a:p>
                  </a:txBody>
                  <a:tcPr marL="9365" marR="17981" marT="8990" marB="8990" anchor="ctr"/>
                </a:tc>
                <a:extLst>
                  <a:ext uri="{0D108BD9-81ED-4DB2-BD59-A6C34878D82A}">
                    <a16:rowId xmlns:a16="http://schemas.microsoft.com/office/drawing/2014/main" val="2111421002"/>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TOO_MANY_ROWS</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01422</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-1422</a:t>
                      </a:r>
                    </a:p>
                  </a:txBody>
                  <a:tcPr marL="9365" marR="17981" marT="8990" marB="8990" anchor="ctr"/>
                </a:tc>
                <a:tc>
                  <a:txBody>
                    <a:bodyPr/>
                    <a:lstStyle/>
                    <a:p>
                      <a:r>
                        <a:rPr lang="en-CA" sz="1100" dirty="0">
                          <a:effectLst/>
                          <a:latin typeface="Tahoma" panose="020B0604030504040204" pitchFamily="34" charset="0"/>
                          <a:ea typeface="Tahoma" panose="020B0604030504040204" pitchFamily="34" charset="0"/>
                          <a:cs typeface="Tahoma" panose="020B0604030504040204" pitchFamily="34" charset="0"/>
                        </a:rPr>
                        <a:t>This is raised when a SELECT INTO statement returns more than one row.</a:t>
                      </a:r>
                    </a:p>
                  </a:txBody>
                  <a:tcPr marL="9365" marR="17981" marT="8990" marB="8990" anchor="ctr"/>
                </a:tc>
                <a:extLst>
                  <a:ext uri="{0D108BD9-81ED-4DB2-BD59-A6C34878D82A}">
                    <a16:rowId xmlns:a16="http://schemas.microsoft.com/office/drawing/2014/main" val="2095220240"/>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VALUE_ERROR</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06502</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-6502</a:t>
                      </a:r>
                    </a:p>
                  </a:txBody>
                  <a:tcPr marL="9365" marR="17981" marT="8990" marB="8990" anchor="ctr"/>
                </a:tc>
                <a:tc>
                  <a:txBody>
                    <a:bodyPr/>
                    <a:lstStyle/>
                    <a:p>
                      <a:r>
                        <a:rPr lang="en-CA" sz="1100">
                          <a:effectLst/>
                          <a:latin typeface="Tahoma" panose="020B0604030504040204" pitchFamily="34" charset="0"/>
                          <a:ea typeface="Tahoma" panose="020B0604030504040204" pitchFamily="34" charset="0"/>
                          <a:cs typeface="Tahoma" panose="020B0604030504040204" pitchFamily="34" charset="0"/>
                        </a:rPr>
                        <a:t>It is raised when an arithmetic, conversion, truncation, or size constraint error occurs.</a:t>
                      </a:r>
                    </a:p>
                  </a:txBody>
                  <a:tcPr marL="9365" marR="17981" marT="8990" marB="8990" anchor="ctr"/>
                </a:tc>
                <a:extLst>
                  <a:ext uri="{0D108BD9-81ED-4DB2-BD59-A6C34878D82A}">
                    <a16:rowId xmlns:a16="http://schemas.microsoft.com/office/drawing/2014/main" val="1391549953"/>
                  </a:ext>
                </a:extLst>
              </a:tr>
              <a:tr h="388277">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ZERO_DIVIDE</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01476</a:t>
                      </a:r>
                    </a:p>
                  </a:txBody>
                  <a:tcPr marL="9365" marR="17981" marT="8990" marB="8990" anchor="ctr"/>
                </a:tc>
                <a:tc>
                  <a:txBody>
                    <a:bodyPr/>
                    <a:lstStyle/>
                    <a:p>
                      <a:r>
                        <a:rPr lang="en-US" sz="1100">
                          <a:effectLst/>
                          <a:latin typeface="Tahoma" panose="020B0604030504040204" pitchFamily="34" charset="0"/>
                          <a:ea typeface="Tahoma" panose="020B0604030504040204" pitchFamily="34" charset="0"/>
                          <a:cs typeface="Tahoma" panose="020B0604030504040204" pitchFamily="34" charset="0"/>
                        </a:rPr>
                        <a:t>1476</a:t>
                      </a:r>
                    </a:p>
                  </a:txBody>
                  <a:tcPr marL="9365" marR="17981" marT="8990" marB="8990" anchor="ctr"/>
                </a:tc>
                <a:tc>
                  <a:txBody>
                    <a:bodyPr/>
                    <a:lstStyle/>
                    <a:p>
                      <a:r>
                        <a:rPr lang="en-CA" sz="1100" dirty="0">
                          <a:effectLst/>
                          <a:latin typeface="Tahoma" panose="020B0604030504040204" pitchFamily="34" charset="0"/>
                          <a:ea typeface="Tahoma" panose="020B0604030504040204" pitchFamily="34" charset="0"/>
                          <a:cs typeface="Tahoma" panose="020B0604030504040204" pitchFamily="34" charset="0"/>
                        </a:rPr>
                        <a:t>It is raised when an attempt is made to divide a number by zero.</a:t>
                      </a:r>
                    </a:p>
                  </a:txBody>
                  <a:tcPr marL="9365" marR="17981" marT="8990" marB="8990" anchor="ctr"/>
                </a:tc>
                <a:extLst>
                  <a:ext uri="{0D108BD9-81ED-4DB2-BD59-A6C34878D82A}">
                    <a16:rowId xmlns:a16="http://schemas.microsoft.com/office/drawing/2014/main" val="4205975486"/>
                  </a:ext>
                </a:extLst>
              </a:tr>
            </a:tbl>
          </a:graphicData>
        </a:graphic>
      </p:graphicFrame>
    </p:spTree>
    <p:extLst>
      <p:ext uri="{BB962C8B-B14F-4D97-AF65-F5344CB8AC3E}">
        <p14:creationId xmlns:p14="http://schemas.microsoft.com/office/powerpoint/2010/main" val="1451098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1A383F-646F-3C29-CD9D-BE7E7BD09517}"/>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87D21787-1F4C-7CF0-C6F6-764C92109F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BA01D505-EC04-E331-03BA-B790D290B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767B9EC4-942F-7DCD-FEF8-5767D14ED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677599AD-5494-E15A-7910-6E0C4966D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63404288-C973-12F3-0A7D-7193F3105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9FA42BA-DAFC-2E28-1866-F4C6A68E5921}"/>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Syntax for Handling System-Defined Exceptions</a:t>
            </a:r>
          </a:p>
        </p:txBody>
      </p:sp>
      <p:sp>
        <p:nvSpPr>
          <p:cNvPr id="5" name="Slide Number Placeholder 4">
            <a:extLst>
              <a:ext uri="{FF2B5EF4-FFF2-40B4-BE49-F238E27FC236}">
                <a16:creationId xmlns:a16="http://schemas.microsoft.com/office/drawing/2014/main" id="{41153838-4C9A-B886-EF37-4DA0832EECD9}"/>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6</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EE990846-3EC7-A6B5-E603-9263890DE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16" name="TextBox 15">
            <a:extLst>
              <a:ext uri="{FF2B5EF4-FFF2-40B4-BE49-F238E27FC236}">
                <a16:creationId xmlns:a16="http://schemas.microsoft.com/office/drawing/2014/main" id="{034BD4B6-154E-45E6-9A6B-6B038D600406}"/>
              </a:ext>
            </a:extLst>
          </p:cNvPr>
          <p:cNvSpPr txBox="1"/>
          <p:nvPr/>
        </p:nvSpPr>
        <p:spPr>
          <a:xfrm>
            <a:off x="1821548" y="2287656"/>
            <a:ext cx="4114797" cy="278572"/>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Syntax for Handling System-Defined Exceptions</a:t>
            </a:r>
          </a:p>
        </p:txBody>
      </p:sp>
      <p:sp>
        <p:nvSpPr>
          <p:cNvPr id="18" name="TextBox 17">
            <a:extLst>
              <a:ext uri="{FF2B5EF4-FFF2-40B4-BE49-F238E27FC236}">
                <a16:creationId xmlns:a16="http://schemas.microsoft.com/office/drawing/2014/main" id="{60E458E2-3A14-7968-74FC-C4202571AC56}"/>
              </a:ext>
            </a:extLst>
          </p:cNvPr>
          <p:cNvSpPr txBox="1"/>
          <p:nvPr/>
        </p:nvSpPr>
        <p:spPr>
          <a:xfrm>
            <a:off x="5878287" y="1636994"/>
            <a:ext cx="5043717"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BEGIN    </a:t>
            </a:r>
          </a:p>
          <a:p>
            <a:r>
              <a:rPr lang="en-US" sz="1200" dirty="0">
                <a:solidFill>
                  <a:schemeClr val="bg1">
                    <a:lumMod val="75000"/>
                  </a:schemeClr>
                </a:solidFill>
                <a:latin typeface="Tahoma" panose="020B0604030504040204" pitchFamily="34" charset="0"/>
                <a:ea typeface="Tahoma" panose="020B0604030504040204" pitchFamily="34" charset="0"/>
                <a:cs typeface="Tahoma" panose="020B0604030504040204" pitchFamily="34" charset="0"/>
              </a:rPr>
              <a:t>--Code that may raise an exception</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EXCEPTION    </a:t>
            </a:r>
          </a:p>
          <a:p>
            <a:r>
              <a:rPr lang="en-US" sz="1200" dirty="0">
                <a:latin typeface="Tahoma" panose="020B0604030504040204" pitchFamily="34" charset="0"/>
                <a:ea typeface="Tahoma" panose="020B0604030504040204" pitchFamily="34" charset="0"/>
                <a:cs typeface="Tahoma" panose="020B0604030504040204" pitchFamily="34" charset="0"/>
              </a:rPr>
              <a:t>WHEN NO_DATA_FOUND THEN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'No data found!'</a:t>
            </a:r>
            <a:r>
              <a:rPr lang="en-US" sz="1200" dirty="0">
                <a:latin typeface="Tahoma" panose="020B0604030504040204" pitchFamily="34" charset="0"/>
                <a:ea typeface="Tahoma" panose="020B0604030504040204" pitchFamily="34" charset="0"/>
                <a:cs typeface="Tahoma" panose="020B0604030504040204" pitchFamily="34" charset="0"/>
              </a:rPr>
              <a:t>);    </a:t>
            </a:r>
          </a:p>
          <a:p>
            <a:r>
              <a:rPr lang="en-US" sz="1200" dirty="0">
                <a:latin typeface="Tahoma" panose="020B0604030504040204" pitchFamily="34" charset="0"/>
                <a:ea typeface="Tahoma" panose="020B0604030504040204" pitchFamily="34" charset="0"/>
                <a:cs typeface="Tahoma" panose="020B0604030504040204" pitchFamily="34" charset="0"/>
              </a:rPr>
              <a:t>WHEN ZERO_DIVIDE THEN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'Attempted to divide by zero!'</a:t>
            </a:r>
            <a:r>
              <a:rPr lang="en-US" sz="1200" dirty="0">
                <a:latin typeface="Tahoma" panose="020B0604030504040204" pitchFamily="34" charset="0"/>
                <a:ea typeface="Tahoma" panose="020B0604030504040204" pitchFamily="34" charset="0"/>
                <a:cs typeface="Tahoma" panose="020B0604030504040204" pitchFamily="34" charset="0"/>
              </a:rPr>
              <a:t>);    </a:t>
            </a:r>
          </a:p>
          <a:p>
            <a:r>
              <a:rPr lang="en-US" sz="1200" dirty="0">
                <a:latin typeface="Tahoma" panose="020B0604030504040204" pitchFamily="34" charset="0"/>
                <a:ea typeface="Tahoma" panose="020B0604030504040204" pitchFamily="34" charset="0"/>
                <a:cs typeface="Tahoma" panose="020B0604030504040204" pitchFamily="34" charset="0"/>
              </a:rPr>
              <a:t>WHEN OTHERS THEN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'Some other error occurred.’</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END;</a:t>
            </a:r>
          </a:p>
        </p:txBody>
      </p:sp>
      <p:sp>
        <p:nvSpPr>
          <p:cNvPr id="22" name="Rectangle 4">
            <a:extLst>
              <a:ext uri="{FF2B5EF4-FFF2-40B4-BE49-F238E27FC236}">
                <a16:creationId xmlns:a16="http://schemas.microsoft.com/office/drawing/2014/main" id="{0DEC4240-4820-5473-825E-208DF09C65E4}"/>
              </a:ext>
            </a:extLst>
          </p:cNvPr>
          <p:cNvSpPr>
            <a:spLocks noChangeArrowheads="1"/>
          </p:cNvSpPr>
          <p:nvPr/>
        </p:nvSpPr>
        <p:spPr bwMode="auto">
          <a:xfrm>
            <a:off x="3852959" y="3973653"/>
            <a:ext cx="8215217" cy="2677656"/>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1" algn="just"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What Happens During Execution?</a:t>
            </a:r>
          </a:p>
          <a:p>
            <a:pPr marL="1600200" lvl="3" indent="-228600" algn="just" eaLnBrk="0" fontAlgn="base" hangingPunct="0">
              <a:spcBef>
                <a:spcPct val="0"/>
              </a:spcBef>
              <a:spcAft>
                <a:spcPct val="0"/>
              </a:spcAft>
              <a:buFont typeface="+mj-lt"/>
              <a:buAutoNum type="arabicPeriod"/>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declaration section of the block (DECLARE V_NUM NUMBER := 5 / 0;) attempts to divide by zero.</a:t>
            </a:r>
          </a:p>
          <a:p>
            <a:pPr marL="1600200" lvl="3" indent="-228600" algn="just" eaLnBrk="0" fontAlgn="base" hangingPunct="0">
              <a:spcBef>
                <a:spcPct val="0"/>
              </a:spcBef>
              <a:spcAft>
                <a:spcPct val="0"/>
              </a:spcAft>
              <a:buFont typeface="+mj-lt"/>
              <a:buAutoNum type="arabicPeriod"/>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Since division by zero is not allowed, a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ZERO_DIVIDE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exception is raised immediately.</a:t>
            </a:r>
          </a:p>
          <a:p>
            <a:pPr marL="1600200" lvl="3" indent="-228600" algn="just" eaLnBrk="0" fontAlgn="base" hangingPunct="0">
              <a:spcBef>
                <a:spcPct val="0"/>
              </a:spcBef>
              <a:spcAft>
                <a:spcPct val="0"/>
              </a:spcAft>
              <a:buFont typeface="+mj-lt"/>
              <a:buAutoNum type="arabicPeriod"/>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exception occurs before entering the inner BEGIN ... END; block</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meaning the inner block’s EXCEPTION section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is never reached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1600200" lvl="3" indent="-228600" algn="just" eaLnBrk="0" fontAlgn="base" hangingPunct="0">
              <a:spcBef>
                <a:spcPct val="0"/>
              </a:spcBef>
              <a:spcAft>
                <a:spcPct val="0"/>
              </a:spcAft>
              <a:buFont typeface="+mj-lt"/>
              <a:buAutoNum type="arabicPeriod"/>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exception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propagates directly</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the outer block's EXCEPTION section.</a:t>
            </a:r>
          </a:p>
          <a:p>
            <a:pPr marL="1600200" lvl="3" indent="-228600" eaLnBrk="0" fontAlgn="base" hangingPunct="0">
              <a:spcBef>
                <a:spcPct val="0"/>
              </a:spcBef>
              <a:spcAft>
                <a:spcPct val="0"/>
              </a:spcAft>
              <a:buFont typeface="+mj-lt"/>
              <a:buAutoNum type="arabicPeriod"/>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1600200" lvl="3" indent="-228600" eaLnBrk="0" fontAlgn="base" hangingPunct="0">
              <a:spcBef>
                <a:spcPct val="0"/>
              </a:spcBef>
              <a:spcAft>
                <a:spcPct val="0"/>
              </a:spcAft>
              <a:buFont typeface="+mj-lt"/>
              <a:buAutoNum type="arabicPeriod"/>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WHEN ZERO_DIVIDE THEN block in the outer exception handler catches the error and executes:</a:t>
            </a:r>
          </a:p>
          <a:p>
            <a:pPr marL="1600200" lvl="3" indent="-228600" eaLnBrk="0" fontAlgn="base" hangingPunct="0">
              <a:spcBef>
                <a:spcPct val="0"/>
              </a:spcBef>
              <a:spcAft>
                <a:spcPct val="0"/>
              </a:spcAft>
              <a:buFont typeface="+mj-lt"/>
              <a:buAutoNum type="arabicPeriod"/>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1600200" lvl="3" indent="-228600" eaLnBrk="0" fontAlgn="base" hangingPunct="0">
              <a:spcBef>
                <a:spcPct val="0"/>
              </a:spcBef>
              <a:spcAft>
                <a:spcPct val="0"/>
              </a:spcAft>
              <a:buFont typeface="+mj-lt"/>
              <a:buAutoNum type="arabicPeriod"/>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1600200" lvl="3" indent="-228600" eaLnBrk="0" fontAlgn="base" hangingPunct="0">
              <a:spcBef>
                <a:spcPct val="0"/>
              </a:spcBef>
              <a:spcAft>
                <a:spcPct val="0"/>
              </a:spcAft>
              <a:buFont typeface="+mj-lt"/>
              <a:buAutoNum type="arabicPeriod"/>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output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prints "Error 2"</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because the inner block never gets control due to the exception occurring at the declaration stage.</a:t>
            </a:r>
          </a:p>
        </p:txBody>
      </p:sp>
      <p:pic>
        <p:nvPicPr>
          <p:cNvPr id="19" name="Picture 2">
            <a:extLst>
              <a:ext uri="{FF2B5EF4-FFF2-40B4-BE49-F238E27FC236}">
                <a16:creationId xmlns:a16="http://schemas.microsoft.com/office/drawing/2014/main" id="{FDDB4B26-E8ED-3745-E299-14BC29FD1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350" y="3766241"/>
            <a:ext cx="3878828" cy="2871985"/>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6B9232F-B426-E408-221B-F28D86B41FC9}"/>
              </a:ext>
            </a:extLst>
          </p:cNvPr>
          <p:cNvSpPr txBox="1"/>
          <p:nvPr/>
        </p:nvSpPr>
        <p:spPr>
          <a:xfrm>
            <a:off x="6322559" y="5858301"/>
            <a:ext cx="3265713" cy="278572"/>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eaLnBrk="0" fontAlgn="base" hangingPunct="0">
              <a:spcBef>
                <a:spcPct val="0"/>
              </a:spcBef>
              <a:spcAft>
                <a:spcPct val="0"/>
              </a:spcAft>
            </a:pPr>
            <a:r>
              <a:rPr kumimoji="0" lang="en-US" altLang="en-US" sz="1200" b="1"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DBMS_OUTPUT.PUT_LINE('Error 2'); </a:t>
            </a:r>
          </a:p>
        </p:txBody>
      </p:sp>
    </p:spTree>
    <p:extLst>
      <p:ext uri="{BB962C8B-B14F-4D97-AF65-F5344CB8AC3E}">
        <p14:creationId xmlns:p14="http://schemas.microsoft.com/office/powerpoint/2010/main" val="195002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2. User-Defined Exceptions</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7</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 name="Rectangle 1">
            <a:extLst>
              <a:ext uri="{FF2B5EF4-FFF2-40B4-BE49-F238E27FC236}">
                <a16:creationId xmlns:a16="http://schemas.microsoft.com/office/drawing/2014/main" id="{36FF0CCC-FDCA-A45D-D12D-D4303A722162}"/>
              </a:ext>
            </a:extLst>
          </p:cNvPr>
          <p:cNvSpPr>
            <a:spLocks noChangeArrowheads="1"/>
          </p:cNvSpPr>
          <p:nvPr/>
        </p:nvSpPr>
        <p:spPr bwMode="auto">
          <a:xfrm>
            <a:off x="108405" y="1761469"/>
            <a:ext cx="109506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latin typeface="Tahoma" panose="020B0604030504040204" pitchFamily="34" charset="0"/>
                <a:ea typeface="Tahoma" panose="020B0604030504040204" pitchFamily="34" charset="0"/>
                <a:cs typeface="Tahoma" panose="020B0604030504040204" pitchFamily="34" charset="0"/>
              </a:rPr>
              <a:t>U</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ser-defined exceptions are explicitly declared and raised using the RAISE statement. These are useful when the system-defined exceptions are not sufficient.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Diagram 5">
            <a:extLst>
              <a:ext uri="{FF2B5EF4-FFF2-40B4-BE49-F238E27FC236}">
                <a16:creationId xmlns:a16="http://schemas.microsoft.com/office/drawing/2014/main" id="{2F59A5DB-1243-E125-043E-6B0716A87AA4}"/>
              </a:ext>
            </a:extLst>
          </p:cNvPr>
          <p:cNvGraphicFramePr/>
          <p:nvPr>
            <p:extLst>
              <p:ext uri="{D42A27DB-BD31-4B8C-83A1-F6EECF244321}">
                <p14:modId xmlns:p14="http://schemas.microsoft.com/office/powerpoint/2010/main" val="532601069"/>
              </p:ext>
            </p:extLst>
          </p:nvPr>
        </p:nvGraphicFramePr>
        <p:xfrm>
          <a:off x="232229" y="2414491"/>
          <a:ext cx="7721600" cy="26730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8">
            <a:extLst>
              <a:ext uri="{FF2B5EF4-FFF2-40B4-BE49-F238E27FC236}">
                <a16:creationId xmlns:a16="http://schemas.microsoft.com/office/drawing/2014/main" id="{9D783ECA-FA70-9D33-1DBB-264EB2476AF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53829" y="3547566"/>
            <a:ext cx="3974519" cy="2638873"/>
          </a:xfrm>
          <a:prstGeom prst="rect">
            <a:avLst/>
          </a:prstGeom>
        </p:spPr>
      </p:pic>
    </p:spTree>
    <p:extLst>
      <p:ext uri="{BB962C8B-B14F-4D97-AF65-F5344CB8AC3E}">
        <p14:creationId xmlns:p14="http://schemas.microsoft.com/office/powerpoint/2010/main" val="4123265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83D11E-DDD7-FDD8-759C-0F635194E765}"/>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265C9DFF-A5BF-B70C-AFDE-9470DCF1D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D5EC5464-28F1-4D12-D49D-F44B5DE51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3DA26FAC-DE10-4E70-A7B4-3C3268C3D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FC2C0D46-9179-6AFA-9809-852F7BCEBC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809DE5E-554C-7E72-4DC1-31BD9A5B0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6E20EA49-29D8-ED4C-7469-D5D6C693C8E0}"/>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Syntax for Declaring and Handling</a:t>
            </a:r>
          </a:p>
        </p:txBody>
      </p:sp>
      <p:sp>
        <p:nvSpPr>
          <p:cNvPr id="5" name="Slide Number Placeholder 4">
            <a:extLst>
              <a:ext uri="{FF2B5EF4-FFF2-40B4-BE49-F238E27FC236}">
                <a16:creationId xmlns:a16="http://schemas.microsoft.com/office/drawing/2014/main" id="{17129F46-881E-69FB-5061-C35D7C22265D}"/>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8</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A4B70D04-082E-EB9A-9831-1FDD23C088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0" name="Rectangle 1">
            <a:extLst>
              <a:ext uri="{FF2B5EF4-FFF2-40B4-BE49-F238E27FC236}">
                <a16:creationId xmlns:a16="http://schemas.microsoft.com/office/drawing/2014/main" id="{249ABB7C-6649-A361-6A9E-C56FB665C669}"/>
              </a:ext>
            </a:extLst>
          </p:cNvPr>
          <p:cNvSpPr>
            <a:spLocks noChangeArrowheads="1"/>
          </p:cNvSpPr>
          <p:nvPr/>
        </p:nvSpPr>
        <p:spPr bwMode="auto">
          <a:xfrm>
            <a:off x="123823" y="5347529"/>
            <a:ext cx="5798005" cy="830997"/>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Tahoma" panose="020B0604030504040204" pitchFamily="34" charset="0"/>
                <a:ea typeface="Tahoma" panose="020B0604030504040204" pitchFamily="34" charset="0"/>
                <a:cs typeface="Tahoma" panose="020B0604030504040204" pitchFamily="34" charset="0"/>
              </a:rPr>
              <a:t>3. Using PRAGMA EXCEPTION_INIT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Tahoma" panose="020B0604030504040204" pitchFamily="34" charset="0"/>
                <a:ea typeface="Tahoma" panose="020B0604030504040204" pitchFamily="34" charset="0"/>
                <a:cs typeface="Tahoma" panose="020B0604030504040204" pitchFamily="34" charset="0"/>
              </a:rPr>
              <a:t>PL/SQL allows you to associate a user-defined exception with a system-defined error using PRAGMA EXCEPTION_INIT.</a:t>
            </a:r>
          </a:p>
        </p:txBody>
      </p:sp>
      <p:sp>
        <p:nvSpPr>
          <p:cNvPr id="19" name="TextBox 18">
            <a:extLst>
              <a:ext uri="{FF2B5EF4-FFF2-40B4-BE49-F238E27FC236}">
                <a16:creationId xmlns:a16="http://schemas.microsoft.com/office/drawing/2014/main" id="{BB0AA4D5-8DFD-E6F5-AB5E-4DF7CC459F20}"/>
              </a:ext>
            </a:extLst>
          </p:cNvPr>
          <p:cNvSpPr txBox="1"/>
          <p:nvPr/>
        </p:nvSpPr>
        <p:spPr>
          <a:xfrm>
            <a:off x="5608320" y="5088983"/>
            <a:ext cx="6096000"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DECLARE    </a:t>
            </a:r>
          </a:p>
          <a:p>
            <a:pPr lvl="1"/>
            <a:r>
              <a:rPr lang="en-US" sz="1200" dirty="0" err="1">
                <a:latin typeface="Tahoma" panose="020B0604030504040204" pitchFamily="34" charset="0"/>
                <a:ea typeface="Tahoma" panose="020B0604030504040204" pitchFamily="34" charset="0"/>
                <a:cs typeface="Tahoma" panose="020B0604030504040204" pitchFamily="34" charset="0"/>
              </a:rPr>
              <a:t>table_not_found</a:t>
            </a:r>
            <a:r>
              <a:rPr lang="en-US" sz="1200" dirty="0">
                <a:latin typeface="Tahoma" panose="020B0604030504040204" pitchFamily="34" charset="0"/>
                <a:ea typeface="Tahoma" panose="020B0604030504040204" pitchFamily="34" charset="0"/>
                <a:cs typeface="Tahoma" panose="020B0604030504040204" pitchFamily="34" charset="0"/>
              </a:rPr>
              <a:t> EXCEPTION;    </a:t>
            </a:r>
          </a:p>
          <a:p>
            <a:pPr lvl="1"/>
            <a:r>
              <a:rPr lang="en-US" sz="1200" dirty="0">
                <a:latin typeface="Tahoma" panose="020B0604030504040204" pitchFamily="34" charset="0"/>
                <a:ea typeface="Tahoma" panose="020B0604030504040204" pitchFamily="34" charset="0"/>
                <a:cs typeface="Tahoma" panose="020B0604030504040204" pitchFamily="34" charset="0"/>
              </a:rPr>
              <a:t>PRAGMA EXCEPTION_INIT(</a:t>
            </a:r>
            <a:r>
              <a:rPr lang="en-US" sz="1200" dirty="0" err="1">
                <a:latin typeface="Tahoma" panose="020B0604030504040204" pitchFamily="34" charset="0"/>
                <a:ea typeface="Tahoma" panose="020B0604030504040204" pitchFamily="34" charset="0"/>
                <a:cs typeface="Tahoma" panose="020B0604030504040204" pitchFamily="34" charset="0"/>
              </a:rPr>
              <a:t>table_not_found</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a:solidFill>
                  <a:srgbClr val="92D050"/>
                </a:solidFill>
                <a:latin typeface="Tahoma" panose="020B0604030504040204" pitchFamily="34" charset="0"/>
                <a:ea typeface="Tahoma" panose="020B0604030504040204" pitchFamily="34" charset="0"/>
                <a:cs typeface="Tahoma" panose="020B0604030504040204" pitchFamily="34" charset="0"/>
              </a:rPr>
              <a:t>-00942</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BEGIN    </a:t>
            </a:r>
          </a:p>
          <a:p>
            <a:r>
              <a:rPr lang="en-US" sz="1200" dirty="0">
                <a:latin typeface="Tahoma" panose="020B0604030504040204" pitchFamily="34" charset="0"/>
                <a:ea typeface="Tahoma" panose="020B0604030504040204" pitchFamily="34" charset="0"/>
                <a:cs typeface="Tahoma" panose="020B0604030504040204" pitchFamily="34" charset="0"/>
              </a:rPr>
              <a:t>          EXECUTE IMMEDIATE </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'SELECT * FROM </a:t>
            </a:r>
            <a:r>
              <a:rPr lang="en-US" sz="1200" dirty="0" err="1">
                <a:solidFill>
                  <a:srgbClr val="FF0000"/>
                </a:solidFill>
                <a:latin typeface="Tahoma" panose="020B0604030504040204" pitchFamily="34" charset="0"/>
                <a:ea typeface="Tahoma" panose="020B0604030504040204" pitchFamily="34" charset="0"/>
                <a:cs typeface="Tahoma" panose="020B0604030504040204" pitchFamily="34" charset="0"/>
              </a:rPr>
              <a:t>non_existing_table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EXCEPTION    WHEN </a:t>
            </a:r>
            <a:r>
              <a:rPr lang="en-US" sz="1200" dirty="0" err="1">
                <a:latin typeface="Tahoma" panose="020B0604030504040204" pitchFamily="34" charset="0"/>
                <a:ea typeface="Tahoma" panose="020B0604030504040204" pitchFamily="34" charset="0"/>
                <a:cs typeface="Tahoma" panose="020B0604030504040204" pitchFamily="34" charset="0"/>
              </a:rPr>
              <a:t>table_not_found</a:t>
            </a:r>
            <a:r>
              <a:rPr lang="en-US" sz="1200" dirty="0">
                <a:latin typeface="Tahoma" panose="020B0604030504040204" pitchFamily="34" charset="0"/>
                <a:ea typeface="Tahoma" panose="020B0604030504040204" pitchFamily="34" charset="0"/>
                <a:cs typeface="Tahoma" panose="020B0604030504040204" pitchFamily="34" charset="0"/>
              </a:rPr>
              <a:t> THEN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'Error: Table does not exist!</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END;</a:t>
            </a:r>
          </a:p>
        </p:txBody>
      </p:sp>
      <p:sp>
        <p:nvSpPr>
          <p:cNvPr id="22" name="TextBox 21">
            <a:extLst>
              <a:ext uri="{FF2B5EF4-FFF2-40B4-BE49-F238E27FC236}">
                <a16:creationId xmlns:a16="http://schemas.microsoft.com/office/drawing/2014/main" id="{781B08E2-7A20-BDF3-8CD8-809FC474F0B1}"/>
              </a:ext>
            </a:extLst>
          </p:cNvPr>
          <p:cNvSpPr txBox="1"/>
          <p:nvPr/>
        </p:nvSpPr>
        <p:spPr>
          <a:xfrm>
            <a:off x="3802743" y="2795092"/>
            <a:ext cx="5471886" cy="276999"/>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lvl="3"/>
            <a:r>
              <a:rPr lang="en-CA" sz="1200" b="1" kern="1200" dirty="0">
                <a:solidFill>
                  <a:schemeClr val="bg1"/>
                </a:solidFill>
                <a:latin typeface="Tahoma" panose="020B0604030504040204" pitchFamily="34" charset="0"/>
                <a:ea typeface="Tahoma" panose="020B0604030504040204" pitchFamily="34" charset="0"/>
                <a:cs typeface="Tahoma" panose="020B0604030504040204" pitchFamily="34" charset="0"/>
              </a:rPr>
              <a:t>2. Handling User-Defined Exceptions</a:t>
            </a:r>
            <a:endParaRPr lang="en-US" sz="1200" dirty="0">
              <a:solidFill>
                <a:schemeClr val="bg1"/>
              </a:solidFill>
            </a:endParaRPr>
          </a:p>
        </p:txBody>
      </p:sp>
      <p:sp>
        <p:nvSpPr>
          <p:cNvPr id="17" name="TextBox 16">
            <a:extLst>
              <a:ext uri="{FF2B5EF4-FFF2-40B4-BE49-F238E27FC236}">
                <a16:creationId xmlns:a16="http://schemas.microsoft.com/office/drawing/2014/main" id="{D72D8E12-6AFE-0865-3892-65F2197052C7}"/>
              </a:ext>
            </a:extLst>
          </p:cNvPr>
          <p:cNvSpPr txBox="1"/>
          <p:nvPr/>
        </p:nvSpPr>
        <p:spPr>
          <a:xfrm>
            <a:off x="123824" y="1805732"/>
            <a:ext cx="4999720"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DECLARE    </a:t>
            </a:r>
          </a:p>
          <a:p>
            <a:pPr lvl="1"/>
            <a:r>
              <a:rPr lang="en-US" sz="1200" dirty="0" err="1">
                <a:latin typeface="Tahoma" panose="020B0604030504040204" pitchFamily="34" charset="0"/>
                <a:ea typeface="Tahoma" panose="020B0604030504040204" pitchFamily="34" charset="0"/>
                <a:cs typeface="Tahoma" panose="020B0604030504040204" pitchFamily="34" charset="0"/>
              </a:rPr>
              <a:t>insufficient_balance</a:t>
            </a:r>
            <a:r>
              <a:rPr lang="en-US" sz="1200" dirty="0">
                <a:latin typeface="Tahoma" panose="020B0604030504040204" pitchFamily="34" charset="0"/>
                <a:ea typeface="Tahoma" panose="020B0604030504040204" pitchFamily="34" charset="0"/>
                <a:cs typeface="Tahoma" panose="020B0604030504040204" pitchFamily="34" charset="0"/>
              </a:rPr>
              <a:t>  EXCEPTION;    </a:t>
            </a:r>
          </a:p>
          <a:p>
            <a:pPr lvl="1"/>
            <a:r>
              <a:rPr lang="en-US" sz="1200" dirty="0" err="1">
                <a:latin typeface="Tahoma" panose="020B0604030504040204" pitchFamily="34" charset="0"/>
                <a:ea typeface="Tahoma" panose="020B0604030504040204" pitchFamily="34" charset="0"/>
                <a:cs typeface="Tahoma" panose="020B0604030504040204" pitchFamily="34" charset="0"/>
              </a:rPr>
              <a:t>current_balance</a:t>
            </a:r>
            <a:r>
              <a:rPr lang="en-US" sz="1200" dirty="0">
                <a:latin typeface="Tahoma" panose="020B0604030504040204" pitchFamily="34" charset="0"/>
                <a:ea typeface="Tahoma" panose="020B0604030504040204" pitchFamily="34" charset="0"/>
                <a:cs typeface="Tahoma" panose="020B0604030504040204" pitchFamily="34" charset="0"/>
              </a:rPr>
              <a:t> NUMBER := </a:t>
            </a:r>
            <a:r>
              <a:rPr lang="en-US" sz="1200" dirty="0">
                <a:solidFill>
                  <a:srgbClr val="92D050"/>
                </a:solidFill>
                <a:latin typeface="Tahoma" panose="020B0604030504040204" pitchFamily="34" charset="0"/>
                <a:ea typeface="Tahoma" panose="020B0604030504040204" pitchFamily="34" charset="0"/>
                <a:cs typeface="Tahoma" panose="020B0604030504040204" pitchFamily="34" charset="0"/>
              </a:rPr>
              <a:t>500</a:t>
            </a:r>
            <a:r>
              <a:rPr lang="en-US" sz="1200" dirty="0">
                <a:latin typeface="Tahoma" panose="020B0604030504040204" pitchFamily="34" charset="0"/>
                <a:ea typeface="Tahoma" panose="020B0604030504040204" pitchFamily="34" charset="0"/>
                <a:cs typeface="Tahoma" panose="020B0604030504040204" pitchFamily="34" charset="0"/>
              </a:rPr>
              <a:t>;    </a:t>
            </a:r>
          </a:p>
          <a:p>
            <a:pPr lvl="1"/>
            <a:r>
              <a:rPr lang="en-US" sz="1200" dirty="0" err="1">
                <a:latin typeface="Tahoma" panose="020B0604030504040204" pitchFamily="34" charset="0"/>
                <a:ea typeface="Tahoma" panose="020B0604030504040204" pitchFamily="34" charset="0"/>
                <a:cs typeface="Tahoma" panose="020B0604030504040204" pitchFamily="34" charset="0"/>
              </a:rPr>
              <a:t>withdrawal_amount</a:t>
            </a:r>
            <a:r>
              <a:rPr lang="en-US" sz="1200" dirty="0">
                <a:latin typeface="Tahoma" panose="020B0604030504040204" pitchFamily="34" charset="0"/>
                <a:ea typeface="Tahoma" panose="020B0604030504040204" pitchFamily="34" charset="0"/>
                <a:cs typeface="Tahoma" panose="020B0604030504040204" pitchFamily="34" charset="0"/>
              </a:rPr>
              <a:t> NUMBER := </a:t>
            </a:r>
            <a:r>
              <a:rPr lang="en-US" sz="1200" dirty="0">
                <a:solidFill>
                  <a:srgbClr val="92D050"/>
                </a:solidFill>
                <a:latin typeface="Tahoma" panose="020B0604030504040204" pitchFamily="34" charset="0"/>
                <a:ea typeface="Tahoma" panose="020B0604030504040204" pitchFamily="34" charset="0"/>
                <a:cs typeface="Tahoma" panose="020B0604030504040204" pitchFamily="34" charset="0"/>
              </a:rPr>
              <a:t>1000</a:t>
            </a:r>
            <a:r>
              <a:rPr lang="en-US" sz="1200" dirty="0">
                <a:latin typeface="Tahoma" panose="020B0604030504040204" pitchFamily="34" charset="0"/>
                <a:ea typeface="Tahoma" panose="020B0604030504040204" pitchFamily="34" charset="0"/>
                <a:cs typeface="Tahoma" panose="020B0604030504040204" pitchFamily="34" charset="0"/>
              </a:rPr>
              <a:t>;</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BEGIN    </a:t>
            </a:r>
          </a:p>
          <a:p>
            <a:pPr lvl="1"/>
            <a:r>
              <a:rPr lang="en-US" sz="1200" dirty="0">
                <a:latin typeface="Tahoma" panose="020B0604030504040204" pitchFamily="34" charset="0"/>
                <a:ea typeface="Tahoma" panose="020B0604030504040204" pitchFamily="34" charset="0"/>
                <a:cs typeface="Tahoma" panose="020B0604030504040204" pitchFamily="34" charset="0"/>
              </a:rPr>
              <a:t>IF </a:t>
            </a:r>
            <a:r>
              <a:rPr lang="en-US" sz="1200" dirty="0" err="1">
                <a:latin typeface="Tahoma" panose="020B0604030504040204" pitchFamily="34" charset="0"/>
                <a:ea typeface="Tahoma" panose="020B0604030504040204" pitchFamily="34" charset="0"/>
                <a:cs typeface="Tahoma" panose="020B0604030504040204" pitchFamily="34" charset="0"/>
              </a:rPr>
              <a:t>withdrawal_amount</a:t>
            </a:r>
            <a:r>
              <a:rPr lang="en-US" sz="1200" dirty="0">
                <a:latin typeface="Tahoma" panose="020B0604030504040204" pitchFamily="34" charset="0"/>
                <a:ea typeface="Tahoma" panose="020B0604030504040204" pitchFamily="34" charset="0"/>
                <a:cs typeface="Tahoma" panose="020B0604030504040204" pitchFamily="34" charset="0"/>
              </a:rPr>
              <a:t> &gt; </a:t>
            </a:r>
            <a:r>
              <a:rPr lang="en-US" sz="1200" dirty="0" err="1">
                <a:latin typeface="Tahoma" panose="020B0604030504040204" pitchFamily="34" charset="0"/>
                <a:ea typeface="Tahoma" panose="020B0604030504040204" pitchFamily="34" charset="0"/>
                <a:cs typeface="Tahoma" panose="020B0604030504040204" pitchFamily="34" charset="0"/>
              </a:rPr>
              <a:t>current_balance</a:t>
            </a:r>
            <a:r>
              <a:rPr lang="en-US" sz="1200" dirty="0">
                <a:latin typeface="Tahoma" panose="020B0604030504040204" pitchFamily="34" charset="0"/>
                <a:ea typeface="Tahoma" panose="020B0604030504040204" pitchFamily="34" charset="0"/>
                <a:cs typeface="Tahoma" panose="020B0604030504040204" pitchFamily="34" charset="0"/>
              </a:rPr>
              <a:t> THEN        </a:t>
            </a:r>
          </a:p>
          <a:p>
            <a:pPr lvl="1"/>
            <a:r>
              <a:rPr lang="en-US" sz="1200" dirty="0">
                <a:latin typeface="Tahoma" panose="020B0604030504040204" pitchFamily="34" charset="0"/>
                <a:ea typeface="Tahoma" panose="020B0604030504040204" pitchFamily="34" charset="0"/>
                <a:cs typeface="Tahoma" panose="020B0604030504040204" pitchFamily="34" charset="0"/>
              </a:rPr>
              <a:t>	RAISE </a:t>
            </a:r>
            <a:r>
              <a:rPr lang="en-US" sz="1200" dirty="0" err="1">
                <a:latin typeface="Tahoma" panose="020B0604030504040204" pitchFamily="34" charset="0"/>
                <a:ea typeface="Tahoma" panose="020B0604030504040204" pitchFamily="34" charset="0"/>
                <a:cs typeface="Tahoma" panose="020B0604030504040204" pitchFamily="34" charset="0"/>
              </a:rPr>
              <a:t>insufficient_balance</a:t>
            </a:r>
            <a:r>
              <a:rPr lang="en-US" sz="1200" dirty="0">
                <a:latin typeface="Tahoma" panose="020B0604030504040204" pitchFamily="34" charset="0"/>
                <a:ea typeface="Tahoma" panose="020B0604030504040204" pitchFamily="34" charset="0"/>
                <a:cs typeface="Tahoma" panose="020B0604030504040204" pitchFamily="34" charset="0"/>
              </a:rPr>
              <a:t>;    </a:t>
            </a:r>
          </a:p>
          <a:p>
            <a:pPr lvl="1"/>
            <a:r>
              <a:rPr lang="en-US" sz="1200" dirty="0">
                <a:latin typeface="Tahoma" panose="020B0604030504040204" pitchFamily="34" charset="0"/>
                <a:ea typeface="Tahoma" panose="020B0604030504040204" pitchFamily="34" charset="0"/>
                <a:cs typeface="Tahoma" panose="020B0604030504040204" pitchFamily="34" charset="0"/>
              </a:rPr>
              <a:t>END IF;        </a:t>
            </a:r>
          </a:p>
          <a:p>
            <a:r>
              <a:rPr lang="en-US" sz="1200" dirty="0">
                <a:latin typeface="Tahoma" panose="020B0604030504040204" pitchFamily="34" charset="0"/>
                <a:ea typeface="Tahoma" panose="020B0604030504040204" pitchFamily="34" charset="0"/>
                <a:cs typeface="Tahoma" panose="020B0604030504040204" pitchFamily="34" charset="0"/>
              </a:rPr>
              <a:t>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'Withdrawal successful!’</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EXCEPTION    </a:t>
            </a:r>
          </a:p>
          <a:p>
            <a:r>
              <a:rPr lang="en-US" sz="1200" dirty="0">
                <a:latin typeface="Tahoma" panose="020B0604030504040204" pitchFamily="34" charset="0"/>
                <a:ea typeface="Tahoma" panose="020B0604030504040204" pitchFamily="34" charset="0"/>
                <a:cs typeface="Tahoma" panose="020B0604030504040204" pitchFamily="34" charset="0"/>
              </a:rPr>
              <a:t>         WHEN </a:t>
            </a:r>
            <a:r>
              <a:rPr lang="en-US" sz="1200" dirty="0" err="1">
                <a:latin typeface="Tahoma" panose="020B0604030504040204" pitchFamily="34" charset="0"/>
                <a:ea typeface="Tahoma" panose="020B0604030504040204" pitchFamily="34" charset="0"/>
                <a:cs typeface="Tahoma" panose="020B0604030504040204" pitchFamily="34" charset="0"/>
              </a:rPr>
              <a:t>insufficient_balance</a:t>
            </a:r>
            <a:r>
              <a:rPr lang="en-US" sz="1200" dirty="0">
                <a:latin typeface="Tahoma" panose="020B0604030504040204" pitchFamily="34" charset="0"/>
                <a:ea typeface="Tahoma" panose="020B0604030504040204" pitchFamily="34" charset="0"/>
                <a:cs typeface="Tahoma" panose="020B0604030504040204" pitchFamily="34" charset="0"/>
              </a:rPr>
              <a:t> THEN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'Error: Insufficient Balance!’</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END;</a:t>
            </a:r>
          </a:p>
        </p:txBody>
      </p:sp>
    </p:spTree>
    <p:extLst>
      <p:ext uri="{BB962C8B-B14F-4D97-AF65-F5344CB8AC3E}">
        <p14:creationId xmlns:p14="http://schemas.microsoft.com/office/powerpoint/2010/main" val="622749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A61604-BD63-C694-3F90-B01F18F56BEC}"/>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DBBFB8EA-90F9-15FB-FB71-00172C5FB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7CD12E0-8EB4-A52D-56BA-87B336071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2F950738-351F-83D5-3F2F-D58A373E0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01265924-894E-B7E7-7348-6228CEEFA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B1C174DB-E41A-5854-5333-3D74D05B6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EECD1B9-81CE-6A0D-49D7-30C6DF3D7BA6}"/>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RAISE_APPLICATION_ERROR &amp; Summary </a:t>
            </a:r>
          </a:p>
        </p:txBody>
      </p:sp>
      <p:sp>
        <p:nvSpPr>
          <p:cNvPr id="5" name="Slide Number Placeholder 4">
            <a:extLst>
              <a:ext uri="{FF2B5EF4-FFF2-40B4-BE49-F238E27FC236}">
                <a16:creationId xmlns:a16="http://schemas.microsoft.com/office/drawing/2014/main" id="{CA3BB615-5728-C794-D066-C008201EC8F8}"/>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9</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C806344B-339D-7E9F-F563-13D9245B1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 name="Rectangle 1">
            <a:extLst>
              <a:ext uri="{FF2B5EF4-FFF2-40B4-BE49-F238E27FC236}">
                <a16:creationId xmlns:a16="http://schemas.microsoft.com/office/drawing/2014/main" id="{E645DB11-0A1B-5C24-EA86-716BAE0054B3}"/>
              </a:ext>
            </a:extLst>
          </p:cNvPr>
          <p:cNvSpPr>
            <a:spLocks noChangeArrowheads="1"/>
          </p:cNvSpPr>
          <p:nvPr/>
        </p:nvSpPr>
        <p:spPr bwMode="auto">
          <a:xfrm>
            <a:off x="5361864" y="2184682"/>
            <a:ext cx="5194486" cy="1015663"/>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lvl="2" eaLnBrk="0" fontAlgn="base" hangingPunct="0">
              <a:spcBef>
                <a:spcPct val="0"/>
              </a:spcBef>
              <a:spcAft>
                <a:spcPct val="0"/>
              </a:spcAft>
            </a:pPr>
            <a:r>
              <a:rPr lang="fr-FR" sz="1200" b="1" dirty="0">
                <a:solidFill>
                  <a:schemeClr val="bg1"/>
                </a:solidFill>
                <a:latin typeface="Tahoma" panose="020B0604030504040204" pitchFamily="34" charset="0"/>
                <a:ea typeface="Tahoma" panose="020B0604030504040204" pitchFamily="34" charset="0"/>
                <a:cs typeface="Tahoma" panose="020B0604030504040204" pitchFamily="34" charset="0"/>
              </a:rPr>
              <a:t>4. </a:t>
            </a:r>
            <a:r>
              <a:rPr lang="fr-FR" sz="1200" b="1" dirty="0" err="1">
                <a:solidFill>
                  <a:schemeClr val="bg1"/>
                </a:solidFill>
                <a:latin typeface="Tahoma" panose="020B0604030504040204" pitchFamily="34" charset="0"/>
                <a:ea typeface="Tahoma" panose="020B0604030504040204" pitchFamily="34" charset="0"/>
                <a:cs typeface="Tahoma" panose="020B0604030504040204" pitchFamily="34" charset="0"/>
              </a:rPr>
              <a:t>Syntax</a:t>
            </a:r>
            <a:r>
              <a:rPr lang="fr-FR" sz="1200" b="1" dirty="0">
                <a:solidFill>
                  <a:schemeClr val="bg1"/>
                </a:solidFill>
                <a:latin typeface="Tahoma" panose="020B0604030504040204" pitchFamily="34" charset="0"/>
                <a:ea typeface="Tahoma" panose="020B0604030504040204" pitchFamily="34" charset="0"/>
                <a:cs typeface="Tahoma" panose="020B0604030504040204" pitchFamily="34" charset="0"/>
              </a:rPr>
              <a:t> for RAISE_APPLICATION_ERROR</a:t>
            </a:r>
          </a:p>
          <a:p>
            <a:pPr lvl="2" eaLnBrk="0" fontAlgn="base" hangingPunct="0">
              <a:spcBef>
                <a:spcPct val="0"/>
              </a:spcBef>
              <a:spcAft>
                <a:spcPct val="0"/>
              </a:spcAft>
            </a:pPr>
            <a:endPar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a:p>
            <a:pPr lvl="2" eaLnBrk="0" fontAlgn="base" hangingPunct="0">
              <a:spcBef>
                <a:spcPct val="0"/>
              </a:spcBef>
              <a:spcAft>
                <a:spcPct val="0"/>
              </a:spcAft>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RAISE_APPLICATION_ERROR procedure allows you to generate a custom error message with a specific error number.</a:t>
            </a:r>
            <a:endPar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98614838-FAB3-D4FF-0BEA-D749D7573B00}"/>
              </a:ext>
            </a:extLst>
          </p:cNvPr>
          <p:cNvSpPr txBox="1"/>
          <p:nvPr/>
        </p:nvSpPr>
        <p:spPr>
          <a:xfrm>
            <a:off x="108405" y="1905454"/>
            <a:ext cx="6096000"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DECLARE    </a:t>
            </a:r>
          </a:p>
          <a:p>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invalid_age</a:t>
            </a:r>
            <a:r>
              <a:rPr lang="en-US" sz="1200" dirty="0">
                <a:latin typeface="Tahoma" panose="020B0604030504040204" pitchFamily="34" charset="0"/>
                <a:ea typeface="Tahoma" panose="020B0604030504040204" pitchFamily="34" charset="0"/>
                <a:cs typeface="Tahoma" panose="020B0604030504040204" pitchFamily="34" charset="0"/>
              </a:rPr>
              <a:t> EXCEPTION;</a:t>
            </a:r>
          </a:p>
          <a:p>
            <a:r>
              <a:rPr lang="en-US" sz="1200" dirty="0">
                <a:latin typeface="Tahoma" panose="020B0604030504040204" pitchFamily="34" charset="0"/>
                <a:ea typeface="Tahoma" panose="020B0604030504040204" pitchFamily="34" charset="0"/>
                <a:cs typeface="Tahoma" panose="020B0604030504040204" pitchFamily="34" charset="0"/>
              </a:rPr>
              <a:t>BEGIN    </a:t>
            </a:r>
          </a:p>
          <a:p>
            <a:r>
              <a:rPr lang="en-US" sz="1200" dirty="0">
                <a:latin typeface="Tahoma" panose="020B0604030504040204" pitchFamily="34" charset="0"/>
                <a:ea typeface="Tahoma" panose="020B0604030504040204" pitchFamily="34" charset="0"/>
                <a:cs typeface="Tahoma" panose="020B0604030504040204" pitchFamily="34" charset="0"/>
              </a:rPr>
              <a:t>         RAISE_APPLICATION_ERROR(</a:t>
            </a:r>
            <a:r>
              <a:rPr lang="en-US" sz="1200" dirty="0">
                <a:solidFill>
                  <a:srgbClr val="92D050"/>
                </a:solidFill>
                <a:latin typeface="Tahoma" panose="020B0604030504040204" pitchFamily="34" charset="0"/>
                <a:ea typeface="Tahoma" panose="020B0604030504040204" pitchFamily="34" charset="0"/>
                <a:cs typeface="Tahoma" panose="020B0604030504040204" pitchFamily="34" charset="0"/>
              </a:rPr>
              <a:t>-20001</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'Age cannot be negative!’</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EXCEPTION    </a:t>
            </a:r>
          </a:p>
          <a:p>
            <a:r>
              <a:rPr lang="en-US" sz="1200" dirty="0">
                <a:latin typeface="Tahoma" panose="020B0604030504040204" pitchFamily="34" charset="0"/>
                <a:ea typeface="Tahoma" panose="020B0604030504040204" pitchFamily="34" charset="0"/>
                <a:cs typeface="Tahoma" panose="020B0604030504040204" pitchFamily="34" charset="0"/>
              </a:rPr>
              <a:t>         WHEN OTHERS THEN        </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DBMS_OUTPUT.PUT_LINE(SQLERRM);</a:t>
            </a:r>
          </a:p>
          <a:p>
            <a:r>
              <a:rPr lang="en-US" sz="1200" dirty="0">
                <a:latin typeface="Tahoma" panose="020B0604030504040204" pitchFamily="34" charset="0"/>
                <a:ea typeface="Tahoma" panose="020B0604030504040204" pitchFamily="34" charset="0"/>
                <a:cs typeface="Tahoma" panose="020B0604030504040204" pitchFamily="34" charset="0"/>
              </a:rPr>
              <a:t>END;</a:t>
            </a:r>
          </a:p>
        </p:txBody>
      </p:sp>
      <p:graphicFrame>
        <p:nvGraphicFramePr>
          <p:cNvPr id="11" name="Diagram 10">
            <a:extLst>
              <a:ext uri="{FF2B5EF4-FFF2-40B4-BE49-F238E27FC236}">
                <a16:creationId xmlns:a16="http://schemas.microsoft.com/office/drawing/2014/main" id="{70E67122-7E3F-5120-5A9B-BC93A022BD6A}"/>
              </a:ext>
            </a:extLst>
          </p:cNvPr>
          <p:cNvGraphicFramePr/>
          <p:nvPr>
            <p:extLst>
              <p:ext uri="{D42A27DB-BD31-4B8C-83A1-F6EECF244321}">
                <p14:modId xmlns:p14="http://schemas.microsoft.com/office/powerpoint/2010/main" val="2280173391"/>
              </p:ext>
            </p:extLst>
          </p:nvPr>
        </p:nvGraphicFramePr>
        <p:xfrm>
          <a:off x="108405" y="3947886"/>
          <a:ext cx="11732646" cy="24705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33023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65A794-E5AE-7282-6E1B-B4A006A4D91D}"/>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F78B150-7E2F-3960-1A36-7EC7F6666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9892BAEA-BA42-8151-E4F1-4222D2044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5618AC7-BB5D-9882-1C84-549877CFD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46D885EB-2AD5-8220-BF84-843891678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9A24F179-75FB-3303-9B94-C6FFE830A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0B9F542-E255-3EC1-63CA-C590745D4CC3}"/>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Using SQLERRM to Capture Any Error</a:t>
            </a:r>
          </a:p>
        </p:txBody>
      </p:sp>
      <p:sp>
        <p:nvSpPr>
          <p:cNvPr id="5" name="Slide Number Placeholder 4">
            <a:extLst>
              <a:ext uri="{FF2B5EF4-FFF2-40B4-BE49-F238E27FC236}">
                <a16:creationId xmlns:a16="http://schemas.microsoft.com/office/drawing/2014/main" id="{625F297C-76EA-32DC-22B2-266392D6A1E1}"/>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10</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75B22FEF-9270-0274-9EF5-0790A071D0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 name="Rectangle 1">
            <a:extLst>
              <a:ext uri="{FF2B5EF4-FFF2-40B4-BE49-F238E27FC236}">
                <a16:creationId xmlns:a16="http://schemas.microsoft.com/office/drawing/2014/main" id="{9C12366C-20F8-03C6-D496-882EB8AA392E}"/>
              </a:ext>
            </a:extLst>
          </p:cNvPr>
          <p:cNvSpPr>
            <a:spLocks noChangeArrowheads="1"/>
          </p:cNvSpPr>
          <p:nvPr/>
        </p:nvSpPr>
        <p:spPr bwMode="auto">
          <a:xfrm>
            <a:off x="5376378" y="2346655"/>
            <a:ext cx="5194486" cy="461665"/>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lvl="2" eaLnBrk="0" fontAlgn="base" hangingPunct="0">
              <a:spcBef>
                <a:spcPct val="0"/>
              </a:spcBef>
              <a:spcAft>
                <a:spcPct val="0"/>
              </a:spcAft>
            </a:pPr>
            <a:r>
              <a:rPr lang="en-US" sz="1200" dirty="0"/>
              <a:t> ✔ </a:t>
            </a:r>
            <a:r>
              <a:rPr lang="en-US" sz="1200" b="1" dirty="0"/>
              <a:t>Expected Output:</a:t>
            </a:r>
            <a:endParaRPr lang="en-CA" sz="1200" b="1"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lvl="2" eaLnBrk="0" fontAlgn="base" hangingPunct="0">
              <a:spcBef>
                <a:spcPct val="0"/>
              </a:spcBef>
              <a:spcAft>
                <a:spcPct val="0"/>
              </a:spcAft>
            </a:pPr>
            <a:r>
              <a:rPr lang="en-CA" sz="1200" b="1" dirty="0">
                <a:solidFill>
                  <a:schemeClr val="bg1"/>
                </a:solidFill>
                <a:latin typeface="Tahoma" panose="020B0604030504040204" pitchFamily="34" charset="0"/>
                <a:ea typeface="Tahoma" panose="020B0604030504040204" pitchFamily="34" charset="0"/>
                <a:cs typeface="Tahoma" panose="020B0604030504040204" pitchFamily="34" charset="0"/>
              </a:rPr>
              <a:t>Error occurred: ORA-01476: divisor is equal to zero</a:t>
            </a:r>
          </a:p>
        </p:txBody>
      </p:sp>
      <p:sp>
        <p:nvSpPr>
          <p:cNvPr id="20" name="TextBox 19">
            <a:extLst>
              <a:ext uri="{FF2B5EF4-FFF2-40B4-BE49-F238E27FC236}">
                <a16:creationId xmlns:a16="http://schemas.microsoft.com/office/drawing/2014/main" id="{C2954380-22CB-DE68-F1D6-FF8152F8ABA9}"/>
              </a:ext>
            </a:extLst>
          </p:cNvPr>
          <p:cNvSpPr txBox="1"/>
          <p:nvPr/>
        </p:nvSpPr>
        <p:spPr>
          <a:xfrm>
            <a:off x="123820" y="1575781"/>
            <a:ext cx="4694919" cy="276999"/>
          </a:xfrm>
          <a:prstGeom prst="rect">
            <a:avLst/>
          </a:prstGeom>
          <a:noFill/>
        </p:spPr>
        <p:txBody>
          <a:bodyPr wrap="square">
            <a:spAutoFit/>
          </a:bodyPr>
          <a:lstStyle/>
          <a:p>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Example 1:  </a:t>
            </a:r>
            <a:r>
              <a:rPr lang="en-CA" sz="1200" b="1" dirty="0">
                <a:latin typeface="Tahoma" panose="020B0604030504040204" pitchFamily="34" charset="0"/>
                <a:ea typeface="Tahoma" panose="020B0604030504040204" pitchFamily="34" charset="0"/>
                <a:cs typeface="Tahoma" panose="020B0604030504040204" pitchFamily="34" charset="0"/>
              </a:rPr>
              <a:t>Using SQLERRM to Capture Any Error </a:t>
            </a:r>
            <a:endParaRPr lang="en-US" sz="1200" b="1" dirty="0">
              <a:latin typeface="Tahoma" panose="020B0604030504040204" pitchFamily="34" charset="0"/>
              <a:ea typeface="Tahoma" panose="020B0604030504040204" pitchFamily="34" charset="0"/>
              <a:cs typeface="Tahoma" panose="020B0604030504040204" pitchFamily="34" charset="0"/>
            </a:endParaRPr>
          </a:p>
        </p:txBody>
      </p:sp>
      <p:sp>
        <p:nvSpPr>
          <p:cNvPr id="15" name="TextBox 14">
            <a:extLst>
              <a:ext uri="{FF2B5EF4-FFF2-40B4-BE49-F238E27FC236}">
                <a16:creationId xmlns:a16="http://schemas.microsoft.com/office/drawing/2014/main" id="{0FBEA260-E9ED-95C1-4B80-D0619FCE8923}"/>
              </a:ext>
            </a:extLst>
          </p:cNvPr>
          <p:cNvSpPr txBox="1"/>
          <p:nvPr/>
        </p:nvSpPr>
        <p:spPr>
          <a:xfrm>
            <a:off x="123824" y="1831129"/>
            <a:ext cx="6096000" cy="195438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DECLARE</a:t>
            </a:r>
          </a:p>
          <a:p>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v_divisor</a:t>
            </a:r>
            <a:r>
              <a:rPr lang="en-US" sz="1100" dirty="0">
                <a:latin typeface="Tahoma" panose="020B0604030504040204" pitchFamily="34" charset="0"/>
                <a:ea typeface="Tahoma" panose="020B0604030504040204" pitchFamily="34" charset="0"/>
                <a:cs typeface="Tahoma" panose="020B0604030504040204" pitchFamily="34" charset="0"/>
              </a:rPr>
              <a:t> NUMBER := 0;</a:t>
            </a:r>
          </a:p>
          <a:p>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v_result</a:t>
            </a:r>
            <a:r>
              <a:rPr lang="en-US" sz="1100" dirty="0">
                <a:latin typeface="Tahoma" panose="020B0604030504040204" pitchFamily="34" charset="0"/>
                <a:ea typeface="Tahoma" panose="020B0604030504040204" pitchFamily="34" charset="0"/>
                <a:cs typeface="Tahoma" panose="020B0604030504040204" pitchFamily="34" charset="0"/>
              </a:rPr>
              <a:t> NUMBER;</a:t>
            </a:r>
          </a:p>
          <a:p>
            <a:r>
              <a:rPr lang="en-US" sz="1100" dirty="0">
                <a:latin typeface="Tahoma" panose="020B0604030504040204" pitchFamily="34" charset="0"/>
                <a:ea typeface="Tahoma" panose="020B0604030504040204" pitchFamily="34" charset="0"/>
                <a:cs typeface="Tahoma" panose="020B0604030504040204" pitchFamily="34" charset="0"/>
              </a:rPr>
              <a:t>BEGIN</a:t>
            </a:r>
          </a:p>
          <a:p>
            <a:r>
              <a:rPr lang="en-US" sz="1100" i="1" dirty="0">
                <a:highlight>
                  <a:srgbClr val="C0C0C0"/>
                </a:highlight>
                <a:latin typeface="Tahoma" panose="020B0604030504040204" pitchFamily="34" charset="0"/>
                <a:ea typeface="Tahoma" panose="020B0604030504040204" pitchFamily="34" charset="0"/>
                <a:cs typeface="Tahoma" panose="020B0604030504040204" pitchFamily="34" charset="0"/>
              </a:rPr>
              <a:t>    -- This will cause a division-by-zero error</a:t>
            </a:r>
          </a:p>
          <a:p>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v_result</a:t>
            </a:r>
            <a:r>
              <a:rPr lang="en-US" sz="1100" dirty="0">
                <a:latin typeface="Tahoma" panose="020B0604030504040204" pitchFamily="34" charset="0"/>
                <a:ea typeface="Tahoma" panose="020B0604030504040204" pitchFamily="34" charset="0"/>
                <a:cs typeface="Tahoma" panose="020B0604030504040204" pitchFamily="34" charset="0"/>
              </a:rPr>
              <a:t> := 10 / </a:t>
            </a:r>
            <a:r>
              <a:rPr lang="en-US" sz="1100" dirty="0" err="1">
                <a:latin typeface="Tahoma" panose="020B0604030504040204" pitchFamily="34" charset="0"/>
                <a:ea typeface="Tahoma" panose="020B0604030504040204" pitchFamily="34" charset="0"/>
                <a:cs typeface="Tahoma" panose="020B0604030504040204" pitchFamily="34" charset="0"/>
              </a:rPr>
              <a:t>v_divisor</a:t>
            </a:r>
            <a:r>
              <a:rPr lang="en-US" sz="1100" dirty="0">
                <a:latin typeface="Tahoma" panose="020B0604030504040204" pitchFamily="34" charset="0"/>
                <a:ea typeface="Tahoma" panose="020B0604030504040204" pitchFamily="34" charset="0"/>
                <a:cs typeface="Tahoma" panose="020B0604030504040204" pitchFamily="34" charset="0"/>
              </a:rPr>
              <a:t>;</a:t>
            </a:r>
          </a:p>
          <a:p>
            <a:r>
              <a:rPr lang="en-US" sz="1100" dirty="0">
                <a:latin typeface="Tahoma" panose="020B0604030504040204" pitchFamily="34" charset="0"/>
                <a:ea typeface="Tahoma" panose="020B0604030504040204" pitchFamily="34" charset="0"/>
                <a:cs typeface="Tahoma" panose="020B0604030504040204" pitchFamily="34" charset="0"/>
              </a:rPr>
              <a:t>EXCEPTION</a:t>
            </a:r>
          </a:p>
          <a:p>
            <a:r>
              <a:rPr lang="en-US" sz="1100" dirty="0">
                <a:latin typeface="Tahoma" panose="020B0604030504040204" pitchFamily="34" charset="0"/>
                <a:ea typeface="Tahoma" panose="020B0604030504040204" pitchFamily="34" charset="0"/>
                <a:cs typeface="Tahoma" panose="020B0604030504040204" pitchFamily="34" charset="0"/>
              </a:rPr>
              <a:t>    WHEN OTHERS THEN</a:t>
            </a:r>
          </a:p>
          <a:p>
            <a:r>
              <a:rPr lang="en-US" sz="1100" dirty="0">
                <a:latin typeface="Tahoma" panose="020B0604030504040204" pitchFamily="34" charset="0"/>
                <a:ea typeface="Tahoma" panose="020B0604030504040204" pitchFamily="34" charset="0"/>
                <a:cs typeface="Tahoma" panose="020B0604030504040204" pitchFamily="34" charset="0"/>
              </a:rPr>
              <a:t>        DBMS_OUTPUT.PUT_LINE('Error occurred: ' || SQLERRM);</a:t>
            </a:r>
          </a:p>
          <a:p>
            <a:r>
              <a:rPr lang="en-US" sz="1100" dirty="0">
                <a:latin typeface="Tahoma" panose="020B0604030504040204" pitchFamily="34" charset="0"/>
                <a:ea typeface="Tahoma" panose="020B0604030504040204" pitchFamily="34" charset="0"/>
                <a:cs typeface="Tahoma" panose="020B0604030504040204" pitchFamily="34" charset="0"/>
              </a:rPr>
              <a:t>END;</a:t>
            </a:r>
          </a:p>
          <a:p>
            <a:r>
              <a:rPr lang="en-US" sz="1100" dirty="0">
                <a:latin typeface="Tahoma" panose="020B0604030504040204" pitchFamily="34" charset="0"/>
                <a:ea typeface="Tahoma" panose="020B0604030504040204" pitchFamily="34" charset="0"/>
                <a:cs typeface="Tahoma" panose="020B0604030504040204" pitchFamily="34" charset="0"/>
              </a:rPr>
              <a:t>/</a:t>
            </a:r>
          </a:p>
        </p:txBody>
      </p:sp>
      <p:sp>
        <p:nvSpPr>
          <p:cNvPr id="21" name="Rectangle 6">
            <a:extLst>
              <a:ext uri="{FF2B5EF4-FFF2-40B4-BE49-F238E27FC236}">
                <a16:creationId xmlns:a16="http://schemas.microsoft.com/office/drawing/2014/main" id="{5D7525D3-4F63-C3EF-FD42-CD3DDE1788B1}"/>
              </a:ext>
            </a:extLst>
          </p:cNvPr>
          <p:cNvSpPr>
            <a:spLocks noChangeArrowheads="1"/>
          </p:cNvSpPr>
          <p:nvPr/>
        </p:nvSpPr>
        <p:spPr bwMode="auto">
          <a:xfrm>
            <a:off x="6621912" y="3644353"/>
            <a:ext cx="35317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Example 2: Using SQLERRM in a Procedure </a:t>
            </a:r>
          </a:p>
        </p:txBody>
      </p:sp>
      <p:sp>
        <p:nvSpPr>
          <p:cNvPr id="26" name="Rectangle 8">
            <a:extLst>
              <a:ext uri="{FF2B5EF4-FFF2-40B4-BE49-F238E27FC236}">
                <a16:creationId xmlns:a16="http://schemas.microsoft.com/office/drawing/2014/main" id="{33F7BFCB-78B8-D33A-3A91-ED6B0D19D328}"/>
              </a:ext>
            </a:extLst>
          </p:cNvPr>
          <p:cNvSpPr>
            <a:spLocks noChangeArrowheads="1"/>
          </p:cNvSpPr>
          <p:nvPr/>
        </p:nvSpPr>
        <p:spPr bwMode="auto">
          <a:xfrm>
            <a:off x="-39624" y="4736044"/>
            <a:ext cx="6661536" cy="769441"/>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1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What Happens?</a:t>
            </a:r>
            <a:endPar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If an error occurs (e.g., </a:t>
            </a:r>
            <a:r>
              <a:rPr kumimoji="0" lang="en-US" altLang="en-US" sz="1100" b="0" i="0" u="none" strike="noStrike" cap="none" normalizeH="0" baseline="0" dirty="0" err="1">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p_emp_id</a:t>
            </a:r>
            <a:r>
              <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doesn't exist), it </a:t>
            </a:r>
            <a:r>
              <a:rPr kumimoji="0" lang="en-US" altLang="en-US" sz="11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captures the error message</a:t>
            </a:r>
            <a:r>
              <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and prevents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 failed transaction.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6CCC8D17-B027-6411-94BA-05F4AFFFB6EE}"/>
              </a:ext>
            </a:extLst>
          </p:cNvPr>
          <p:cNvSpPr txBox="1"/>
          <p:nvPr/>
        </p:nvSpPr>
        <p:spPr>
          <a:xfrm>
            <a:off x="6219824" y="3986076"/>
            <a:ext cx="5848352" cy="263149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CREATE OR REPLACE PROCEDURE </a:t>
            </a:r>
            <a:r>
              <a:rPr lang="en-US" sz="1100" dirty="0" err="1">
                <a:latin typeface="Tahoma" panose="020B0604030504040204" pitchFamily="34" charset="0"/>
                <a:ea typeface="Tahoma" panose="020B0604030504040204" pitchFamily="34" charset="0"/>
                <a:cs typeface="Tahoma" panose="020B0604030504040204" pitchFamily="34" charset="0"/>
              </a:rPr>
              <a:t>update_salary</a:t>
            </a:r>
            <a:r>
              <a:rPr lang="en-US" sz="1100" dirty="0">
                <a:latin typeface="Tahoma" panose="020B0604030504040204" pitchFamily="34" charset="0"/>
                <a:ea typeface="Tahoma" panose="020B0604030504040204" pitchFamily="34" charset="0"/>
                <a:cs typeface="Tahoma" panose="020B0604030504040204" pitchFamily="34" charset="0"/>
              </a:rPr>
              <a:t>(</a:t>
            </a:r>
            <a:r>
              <a:rPr lang="en-US" sz="1100" dirty="0" err="1">
                <a:latin typeface="Tahoma" panose="020B0604030504040204" pitchFamily="34" charset="0"/>
                <a:ea typeface="Tahoma" panose="020B0604030504040204" pitchFamily="34" charset="0"/>
                <a:cs typeface="Tahoma" panose="020B0604030504040204" pitchFamily="34" charset="0"/>
              </a:rPr>
              <a:t>p_emp_id</a:t>
            </a:r>
            <a:r>
              <a:rPr lang="en-US" sz="1100" dirty="0">
                <a:latin typeface="Tahoma" panose="020B0604030504040204" pitchFamily="34" charset="0"/>
                <a:ea typeface="Tahoma" panose="020B0604030504040204" pitchFamily="34" charset="0"/>
                <a:cs typeface="Tahoma" panose="020B0604030504040204" pitchFamily="34" charset="0"/>
              </a:rPr>
              <a:t> IN NUMBER, </a:t>
            </a:r>
            <a:r>
              <a:rPr lang="en-US" sz="1100" dirty="0" err="1">
                <a:latin typeface="Tahoma" panose="020B0604030504040204" pitchFamily="34" charset="0"/>
                <a:ea typeface="Tahoma" panose="020B0604030504040204" pitchFamily="34" charset="0"/>
                <a:cs typeface="Tahoma" panose="020B0604030504040204" pitchFamily="34" charset="0"/>
              </a:rPr>
              <a:t>p_salary</a:t>
            </a:r>
            <a:r>
              <a:rPr lang="en-US" sz="1100" dirty="0">
                <a:latin typeface="Tahoma" panose="020B0604030504040204" pitchFamily="34" charset="0"/>
                <a:ea typeface="Tahoma" panose="020B0604030504040204" pitchFamily="34" charset="0"/>
                <a:cs typeface="Tahoma" panose="020B0604030504040204" pitchFamily="34" charset="0"/>
              </a:rPr>
              <a:t> IN NUMBER) AS</a:t>
            </a:r>
          </a:p>
          <a:p>
            <a:r>
              <a:rPr lang="en-US" sz="1100" dirty="0">
                <a:latin typeface="Tahoma" panose="020B0604030504040204" pitchFamily="34" charset="0"/>
                <a:ea typeface="Tahoma" panose="020B0604030504040204" pitchFamily="34" charset="0"/>
                <a:cs typeface="Tahoma" panose="020B0604030504040204" pitchFamily="34" charset="0"/>
              </a:rPr>
              <a:t>BEGIN</a:t>
            </a:r>
          </a:p>
          <a:p>
            <a:r>
              <a:rPr lang="en-US" sz="1100" dirty="0">
                <a:latin typeface="Tahoma" panose="020B0604030504040204" pitchFamily="34" charset="0"/>
                <a:ea typeface="Tahoma" panose="020B0604030504040204" pitchFamily="34" charset="0"/>
                <a:cs typeface="Tahoma" panose="020B0604030504040204" pitchFamily="34" charset="0"/>
              </a:rPr>
              <a:t>    UPDATE employees </a:t>
            </a:r>
          </a:p>
          <a:p>
            <a:r>
              <a:rPr lang="en-US" sz="1100" dirty="0">
                <a:latin typeface="Tahoma" panose="020B0604030504040204" pitchFamily="34" charset="0"/>
                <a:ea typeface="Tahoma" panose="020B0604030504040204" pitchFamily="34" charset="0"/>
                <a:cs typeface="Tahoma" panose="020B0604030504040204" pitchFamily="34" charset="0"/>
              </a:rPr>
              <a:t>    SET salary = </a:t>
            </a:r>
            <a:r>
              <a:rPr lang="en-US" sz="1100" dirty="0" err="1">
                <a:latin typeface="Tahoma" panose="020B0604030504040204" pitchFamily="34" charset="0"/>
                <a:ea typeface="Tahoma" panose="020B0604030504040204" pitchFamily="34" charset="0"/>
                <a:cs typeface="Tahoma" panose="020B0604030504040204" pitchFamily="34" charset="0"/>
              </a:rPr>
              <a:t>p_salary</a:t>
            </a:r>
            <a:endParaRPr lang="en-US" sz="1100" dirty="0">
              <a:latin typeface="Tahoma" panose="020B0604030504040204" pitchFamily="34" charset="0"/>
              <a:ea typeface="Tahoma" panose="020B0604030504040204" pitchFamily="34" charset="0"/>
              <a:cs typeface="Tahoma" panose="020B0604030504040204" pitchFamily="34" charset="0"/>
            </a:endParaRPr>
          </a:p>
          <a:p>
            <a:r>
              <a:rPr lang="en-US" sz="1100" dirty="0">
                <a:latin typeface="Tahoma" panose="020B0604030504040204" pitchFamily="34" charset="0"/>
                <a:ea typeface="Tahoma" panose="020B0604030504040204" pitchFamily="34" charset="0"/>
                <a:cs typeface="Tahoma" panose="020B0604030504040204" pitchFamily="34" charset="0"/>
              </a:rPr>
              <a:t>    WHERE </a:t>
            </a:r>
            <a:r>
              <a:rPr lang="en-US" sz="1100" dirty="0" err="1">
                <a:latin typeface="Tahoma" panose="020B0604030504040204" pitchFamily="34" charset="0"/>
                <a:ea typeface="Tahoma" panose="020B0604030504040204" pitchFamily="34" charset="0"/>
                <a:cs typeface="Tahoma" panose="020B0604030504040204" pitchFamily="34" charset="0"/>
              </a:rPr>
              <a:t>emp_id</a:t>
            </a:r>
            <a:r>
              <a:rPr lang="en-US" sz="1100" dirty="0">
                <a:latin typeface="Tahoma" panose="020B0604030504040204" pitchFamily="34" charset="0"/>
                <a:ea typeface="Tahoma" panose="020B0604030504040204" pitchFamily="34" charset="0"/>
                <a:cs typeface="Tahoma" panose="020B0604030504040204" pitchFamily="34" charset="0"/>
              </a:rPr>
              <a:t> = </a:t>
            </a:r>
            <a:r>
              <a:rPr lang="en-US" sz="1100" dirty="0" err="1">
                <a:latin typeface="Tahoma" panose="020B0604030504040204" pitchFamily="34" charset="0"/>
                <a:ea typeface="Tahoma" panose="020B0604030504040204" pitchFamily="34" charset="0"/>
                <a:cs typeface="Tahoma" panose="020B0604030504040204" pitchFamily="34" charset="0"/>
              </a:rPr>
              <a:t>p_emp_id</a:t>
            </a:r>
            <a:r>
              <a:rPr lang="en-US" sz="1100" dirty="0">
                <a:latin typeface="Tahoma" panose="020B0604030504040204" pitchFamily="34" charset="0"/>
                <a:ea typeface="Tahoma" panose="020B0604030504040204" pitchFamily="34" charset="0"/>
                <a:cs typeface="Tahoma" panose="020B0604030504040204" pitchFamily="34" charset="0"/>
              </a:rPr>
              <a:t>;</a:t>
            </a:r>
          </a:p>
          <a:p>
            <a:endParaRPr lang="en-US" sz="1100" dirty="0">
              <a:latin typeface="Tahoma" panose="020B0604030504040204" pitchFamily="34" charset="0"/>
              <a:ea typeface="Tahoma" panose="020B0604030504040204" pitchFamily="34" charset="0"/>
              <a:cs typeface="Tahoma" panose="020B0604030504040204" pitchFamily="34" charset="0"/>
            </a:endParaRPr>
          </a:p>
          <a:p>
            <a:r>
              <a:rPr lang="en-US" sz="1100" dirty="0">
                <a:latin typeface="Tahoma" panose="020B0604030504040204" pitchFamily="34" charset="0"/>
                <a:ea typeface="Tahoma" panose="020B0604030504040204" pitchFamily="34" charset="0"/>
                <a:cs typeface="Tahoma" panose="020B0604030504040204" pitchFamily="34" charset="0"/>
              </a:rPr>
              <a:t>    COMMIT;</a:t>
            </a:r>
          </a:p>
          <a:p>
            <a:r>
              <a:rPr lang="en-US" sz="1100" dirty="0">
                <a:latin typeface="Tahoma" panose="020B0604030504040204" pitchFamily="34" charset="0"/>
                <a:ea typeface="Tahoma" panose="020B0604030504040204" pitchFamily="34" charset="0"/>
                <a:cs typeface="Tahoma" panose="020B0604030504040204" pitchFamily="34" charset="0"/>
              </a:rPr>
              <a:t>    DBMS_OUTPUT.PUT_LINE('Salary updated successfully.');</a:t>
            </a:r>
          </a:p>
          <a:p>
            <a:r>
              <a:rPr lang="en-US" sz="1100" dirty="0">
                <a:latin typeface="Tahoma" panose="020B0604030504040204" pitchFamily="34" charset="0"/>
                <a:ea typeface="Tahoma" panose="020B0604030504040204" pitchFamily="34" charset="0"/>
                <a:cs typeface="Tahoma" panose="020B0604030504040204" pitchFamily="34" charset="0"/>
              </a:rPr>
              <a:t>EXCEPTION</a:t>
            </a:r>
          </a:p>
          <a:p>
            <a:r>
              <a:rPr lang="en-US" sz="1100" dirty="0">
                <a:latin typeface="Tahoma" panose="020B0604030504040204" pitchFamily="34" charset="0"/>
                <a:ea typeface="Tahoma" panose="020B0604030504040204" pitchFamily="34" charset="0"/>
                <a:cs typeface="Tahoma" panose="020B0604030504040204" pitchFamily="34" charset="0"/>
              </a:rPr>
              <a:t>    WHEN OTHERS THEN</a:t>
            </a:r>
          </a:p>
          <a:p>
            <a:r>
              <a:rPr lang="en-US" sz="1100" dirty="0">
                <a:latin typeface="Tahoma" panose="020B0604030504040204" pitchFamily="34" charset="0"/>
                <a:ea typeface="Tahoma" panose="020B0604030504040204" pitchFamily="34" charset="0"/>
                <a:cs typeface="Tahoma" panose="020B0604030504040204" pitchFamily="34" charset="0"/>
              </a:rPr>
              <a:t>        DBMS_OUTPUT.PUT_LINE('Error updating salary: ' || SQLERRM);</a:t>
            </a:r>
          </a:p>
          <a:p>
            <a:r>
              <a:rPr lang="en-US" sz="1100" dirty="0">
                <a:latin typeface="Tahoma" panose="020B0604030504040204" pitchFamily="34" charset="0"/>
                <a:ea typeface="Tahoma" panose="020B0604030504040204" pitchFamily="34" charset="0"/>
                <a:cs typeface="Tahoma" panose="020B0604030504040204" pitchFamily="34" charset="0"/>
              </a:rPr>
              <a:t>        ROLLBACK;</a:t>
            </a:r>
          </a:p>
          <a:p>
            <a:r>
              <a:rPr lang="en-US" sz="1100" dirty="0">
                <a:latin typeface="Tahoma" panose="020B0604030504040204" pitchFamily="34" charset="0"/>
                <a:ea typeface="Tahoma" panose="020B0604030504040204" pitchFamily="34" charset="0"/>
                <a:cs typeface="Tahoma" panose="020B0604030504040204" pitchFamily="34" charset="0"/>
              </a:rPr>
              <a:t>END;</a:t>
            </a:r>
          </a:p>
          <a:p>
            <a:r>
              <a:rPr lang="en-US" sz="11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32618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Exception or Error Handling in PL/SQL – Problem Definition</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11</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pic>
        <p:nvPicPr>
          <p:cNvPr id="7179" name="Picture 11" descr="Problem solving concept/technique">
            <a:extLst>
              <a:ext uri="{FF2B5EF4-FFF2-40B4-BE49-F238E27FC236}">
                <a16:creationId xmlns:a16="http://schemas.microsoft.com/office/drawing/2014/main" id="{ACFFD82C-8D16-C324-8682-7079E465DF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6628" y="4001277"/>
            <a:ext cx="7297057" cy="243235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D68AD89F-DEBD-B658-41D3-C2276CF83D1B}"/>
              </a:ext>
            </a:extLst>
          </p:cNvPr>
          <p:cNvSpPr>
            <a:spLocks noChangeArrowheads="1"/>
          </p:cNvSpPr>
          <p:nvPr/>
        </p:nvSpPr>
        <p:spPr bwMode="auto">
          <a:xfrm>
            <a:off x="123824" y="1640547"/>
            <a:ext cx="75106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 need to manage a students table that stores student details. The table should include:</a:t>
            </a:r>
          </a:p>
          <a:p>
            <a:pPr marL="628650" lvl="1"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student_id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(Primary Key)</a:t>
            </a:r>
          </a:p>
          <a:p>
            <a:pPr marL="628650" lvl="1"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name (VARCHAR)</a:t>
            </a:r>
          </a:p>
          <a:p>
            <a:pPr marL="628650" lvl="1"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age (NUMBER)</a:t>
            </a:r>
          </a:p>
          <a:p>
            <a:pPr marL="628650" lvl="1"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grade (VARCHAR)</a:t>
            </a:r>
          </a:p>
          <a:p>
            <a:pPr marL="628650" lvl="1" indent="-171450" eaLnBrk="0" fontAlgn="base" hangingPunct="0">
              <a:spcBef>
                <a:spcPct val="0"/>
              </a:spcBef>
              <a:spcAft>
                <a:spcPct val="0"/>
              </a:spcAft>
              <a:buFont typeface="Wingdings" panose="05000000000000000000" pitchFamily="2" charset="2"/>
              <a:buChar char="§"/>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 will:</a:t>
            </a:r>
          </a:p>
          <a:p>
            <a:pPr marL="685800" lvl="1" indent="-228600" eaLnBrk="0" fontAlgn="base" hangingPunct="0">
              <a:spcBef>
                <a:spcPct val="0"/>
              </a:spcBef>
              <a:spcAft>
                <a:spcPct val="0"/>
              </a:spcAft>
              <a:buFont typeface="+mj-lt"/>
              <a:buAutoNum type="arabicPeriod"/>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Create a procedure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0"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create_students_table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create the table.</a:t>
            </a:r>
          </a:p>
          <a:p>
            <a:pPr marL="685800" lvl="1" indent="-228600" eaLnBrk="0" fontAlgn="base" hangingPunct="0">
              <a:spcBef>
                <a:spcPct val="0"/>
              </a:spcBef>
              <a:spcAft>
                <a:spcPct val="0"/>
              </a:spcAft>
              <a:buFont typeface="+mj-lt"/>
              <a:buAutoNum type="arabicPeriod"/>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Insert records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into the table with error handling.</a:t>
            </a:r>
          </a:p>
          <a:p>
            <a:pPr marL="685800" lvl="1" indent="-228600" eaLnBrk="0" fontAlgn="base" hangingPunct="0">
              <a:spcBef>
                <a:spcPct val="0"/>
              </a:spcBef>
              <a:spcAft>
                <a:spcPct val="0"/>
              </a:spcAft>
              <a:buFont typeface="+mj-lt"/>
              <a:buAutoNum type="arabicPeriod"/>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Update records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while ensuring rollback in case of an error.</a:t>
            </a:r>
          </a:p>
          <a:p>
            <a:pPr marL="685800" lvl="1" indent="-228600" eaLnBrk="0" fontAlgn="base" hangingPunct="0">
              <a:spcBef>
                <a:spcPct val="0"/>
              </a:spcBef>
              <a:spcAft>
                <a:spcPct val="0"/>
              </a:spcAft>
              <a:buFont typeface="+mj-lt"/>
              <a:buAutoNum type="arabicPeriod"/>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Implement exception handling</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ensure the application doesn't crash.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4850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0B56D8-E75D-62F4-DF22-0D5339DCF9B6}"/>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7E34AEC8-6F39-7799-E58A-C9CB56B86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32660D92-8E09-F7C5-5D68-BC37D938F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502C6002-A6F8-B579-6DF7-51E9F8F66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C7014975-AFA4-15C1-6214-7E4CFAEBA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Freeform: Shape 125">
            <a:extLst>
              <a:ext uri="{FF2B5EF4-FFF2-40B4-BE49-F238E27FC236}">
                <a16:creationId xmlns:a16="http://schemas.microsoft.com/office/drawing/2014/main" id="{04100C2D-5F4B-49E7-1B17-964E6E93A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2">
            <a:extLst>
              <a:ext uri="{FF2B5EF4-FFF2-40B4-BE49-F238E27FC236}">
                <a16:creationId xmlns:a16="http://schemas.microsoft.com/office/drawing/2014/main" id="{D32D01F0-462F-F3F9-1C20-7701244F2CD8}"/>
              </a:ext>
            </a:extLst>
          </p:cNvPr>
          <p:cNvSpPr>
            <a:spLocks noGrp="1"/>
          </p:cNvSpPr>
          <p:nvPr>
            <p:ph type="ctrTitle"/>
          </p:nvPr>
        </p:nvSpPr>
        <p:spPr>
          <a:xfrm>
            <a:off x="354104" y="2767106"/>
            <a:ext cx="3303495" cy="3071906"/>
          </a:xfrm>
        </p:spPr>
        <p:txBody>
          <a:bodyPr vert="horz" lIns="91440" tIns="45720" rIns="91440" bIns="45720" rtlCol="0" anchor="t">
            <a:noAutofit/>
          </a:bodyPr>
          <a:lstStyle/>
          <a:p>
            <a:pPr algn="l"/>
            <a:r>
              <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Script Implementation: Table Creation &amp; Data Insertion</a:t>
            </a:r>
          </a:p>
        </p:txBody>
      </p:sp>
      <p:sp>
        <p:nvSpPr>
          <p:cNvPr id="5" name="Slide Number Placeholder 4">
            <a:extLst>
              <a:ext uri="{FF2B5EF4-FFF2-40B4-BE49-F238E27FC236}">
                <a16:creationId xmlns:a16="http://schemas.microsoft.com/office/drawing/2014/main" id="{C5CF9D28-5876-3569-6582-2712B0C17A65}"/>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12</a:t>
            </a:fld>
            <a:endParaRPr lang="en-US" sz="1100" dirty="0">
              <a:solidFill>
                <a:schemeClr val="tx1">
                  <a:lumMod val="50000"/>
                  <a:lumOff val="50000"/>
                </a:schemeClr>
              </a:solidFill>
            </a:endParaRPr>
          </a:p>
        </p:txBody>
      </p:sp>
      <p:sp>
        <p:nvSpPr>
          <p:cNvPr id="6" name="TextBox 5">
            <a:extLst>
              <a:ext uri="{FF2B5EF4-FFF2-40B4-BE49-F238E27FC236}">
                <a16:creationId xmlns:a16="http://schemas.microsoft.com/office/drawing/2014/main" id="{416D3007-8601-CE6A-755B-46B64B7992E9}"/>
              </a:ext>
            </a:extLst>
          </p:cNvPr>
          <p:cNvSpPr txBox="1"/>
          <p:nvPr/>
        </p:nvSpPr>
        <p:spPr>
          <a:xfrm>
            <a:off x="4141702" y="101797"/>
            <a:ext cx="6096000" cy="263149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100" i="1" dirty="0">
                <a:highlight>
                  <a:srgbClr val="C0C0C0"/>
                </a:highlight>
                <a:latin typeface="Tahoma" panose="020B0604030504040204" pitchFamily="34" charset="0"/>
                <a:ea typeface="Tahoma" panose="020B0604030504040204" pitchFamily="34" charset="0"/>
                <a:cs typeface="Tahoma" panose="020B0604030504040204" pitchFamily="34" charset="0"/>
              </a:rPr>
              <a:t>-- 1. Procedure to create the table</a:t>
            </a:r>
          </a:p>
          <a:p>
            <a:r>
              <a:rPr lang="en-US" sz="1100" dirty="0">
                <a:latin typeface="Tahoma" panose="020B0604030504040204" pitchFamily="34" charset="0"/>
                <a:ea typeface="Tahoma" panose="020B0604030504040204" pitchFamily="34" charset="0"/>
                <a:cs typeface="Tahoma" panose="020B0604030504040204" pitchFamily="34" charset="0"/>
              </a:rPr>
              <a:t>CREATE OR REPLACE PROCEDURE </a:t>
            </a:r>
            <a:r>
              <a:rPr lang="en-US" sz="1100" dirty="0" err="1">
                <a:latin typeface="Tahoma" panose="020B0604030504040204" pitchFamily="34" charset="0"/>
                <a:ea typeface="Tahoma" panose="020B0604030504040204" pitchFamily="34" charset="0"/>
                <a:cs typeface="Tahoma" panose="020B0604030504040204" pitchFamily="34" charset="0"/>
              </a:rPr>
              <a:t>create_students_table</a:t>
            </a:r>
            <a:r>
              <a:rPr lang="en-US" sz="1100" dirty="0">
                <a:latin typeface="Tahoma" panose="020B0604030504040204" pitchFamily="34" charset="0"/>
                <a:ea typeface="Tahoma" panose="020B0604030504040204" pitchFamily="34" charset="0"/>
                <a:cs typeface="Tahoma" panose="020B0604030504040204" pitchFamily="34" charset="0"/>
              </a:rPr>
              <a:t> AS</a:t>
            </a:r>
          </a:p>
          <a:p>
            <a:r>
              <a:rPr lang="en-US" sz="1100" dirty="0">
                <a:latin typeface="Tahoma" panose="020B0604030504040204" pitchFamily="34" charset="0"/>
                <a:ea typeface="Tahoma" panose="020B0604030504040204" pitchFamily="34" charset="0"/>
                <a:cs typeface="Tahoma" panose="020B0604030504040204" pitchFamily="34" charset="0"/>
              </a:rPr>
              <a:t>BEGIN</a:t>
            </a:r>
          </a:p>
          <a:p>
            <a:r>
              <a:rPr lang="en-US" sz="1100" dirty="0">
                <a:latin typeface="Tahoma" panose="020B0604030504040204" pitchFamily="34" charset="0"/>
                <a:ea typeface="Tahoma" panose="020B0604030504040204" pitchFamily="34" charset="0"/>
                <a:cs typeface="Tahoma" panose="020B0604030504040204" pitchFamily="34" charset="0"/>
              </a:rPr>
              <a:t>    EXECUTE IMMEDIATE 'CREATE TABLE students (</a:t>
            </a:r>
          </a:p>
          <a:p>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student_id</a:t>
            </a:r>
            <a:r>
              <a:rPr lang="en-US" sz="1100" dirty="0">
                <a:latin typeface="Tahoma" panose="020B0604030504040204" pitchFamily="34" charset="0"/>
                <a:ea typeface="Tahoma" panose="020B0604030504040204" pitchFamily="34" charset="0"/>
                <a:cs typeface="Tahoma" panose="020B0604030504040204" pitchFamily="34" charset="0"/>
              </a:rPr>
              <a:t> NUMBER PRIMARY KEY,</a:t>
            </a:r>
          </a:p>
          <a:p>
            <a:r>
              <a:rPr lang="en-US" sz="1100" dirty="0">
                <a:latin typeface="Tahoma" panose="020B0604030504040204" pitchFamily="34" charset="0"/>
                <a:ea typeface="Tahoma" panose="020B0604030504040204" pitchFamily="34" charset="0"/>
                <a:cs typeface="Tahoma" panose="020B0604030504040204" pitchFamily="34" charset="0"/>
              </a:rPr>
              <a:t>        name VARCHAR2(100),</a:t>
            </a:r>
          </a:p>
          <a:p>
            <a:r>
              <a:rPr lang="en-US" sz="1100" dirty="0">
                <a:latin typeface="Tahoma" panose="020B0604030504040204" pitchFamily="34" charset="0"/>
                <a:ea typeface="Tahoma" panose="020B0604030504040204" pitchFamily="34" charset="0"/>
                <a:cs typeface="Tahoma" panose="020B0604030504040204" pitchFamily="34" charset="0"/>
              </a:rPr>
              <a:t>        age NUMBER,</a:t>
            </a:r>
          </a:p>
          <a:p>
            <a:r>
              <a:rPr lang="en-US" sz="1100" dirty="0">
                <a:latin typeface="Tahoma" panose="020B0604030504040204" pitchFamily="34" charset="0"/>
                <a:ea typeface="Tahoma" panose="020B0604030504040204" pitchFamily="34" charset="0"/>
                <a:cs typeface="Tahoma" panose="020B0604030504040204" pitchFamily="34" charset="0"/>
              </a:rPr>
              <a:t>        grade VARCHAR2(10)</a:t>
            </a:r>
          </a:p>
          <a:p>
            <a:r>
              <a:rPr lang="en-US" sz="1100" dirty="0">
                <a:latin typeface="Tahoma" panose="020B0604030504040204" pitchFamily="34" charset="0"/>
                <a:ea typeface="Tahoma" panose="020B0604030504040204" pitchFamily="34" charset="0"/>
                <a:cs typeface="Tahoma" panose="020B0604030504040204" pitchFamily="34" charset="0"/>
              </a:rPr>
              <a:t>    )';</a:t>
            </a:r>
          </a:p>
          <a:p>
            <a:r>
              <a:rPr lang="en-US" sz="1100" dirty="0">
                <a:latin typeface="Tahoma" panose="020B0604030504040204" pitchFamily="34" charset="0"/>
                <a:ea typeface="Tahoma" panose="020B0604030504040204" pitchFamily="34" charset="0"/>
                <a:cs typeface="Tahoma" panose="020B0604030504040204" pitchFamily="34" charset="0"/>
              </a:rPr>
              <a:t>    DBMS_OUTPUT.PUT_LINE('Table "students" created successfully.');</a:t>
            </a:r>
          </a:p>
          <a:p>
            <a:r>
              <a:rPr lang="en-US" sz="1100" dirty="0">
                <a:latin typeface="Tahoma" panose="020B0604030504040204" pitchFamily="34" charset="0"/>
                <a:ea typeface="Tahoma" panose="020B0604030504040204" pitchFamily="34" charset="0"/>
                <a:cs typeface="Tahoma" panose="020B0604030504040204" pitchFamily="34" charset="0"/>
              </a:rPr>
              <a:t>EXCEPTION</a:t>
            </a:r>
          </a:p>
          <a:p>
            <a:r>
              <a:rPr lang="en-US" sz="1100" dirty="0">
                <a:latin typeface="Tahoma" panose="020B0604030504040204" pitchFamily="34" charset="0"/>
                <a:ea typeface="Tahoma" panose="020B0604030504040204" pitchFamily="34" charset="0"/>
                <a:cs typeface="Tahoma" panose="020B0604030504040204" pitchFamily="34" charset="0"/>
              </a:rPr>
              <a:t>    WHEN OTHERS THEN</a:t>
            </a:r>
          </a:p>
          <a:p>
            <a:r>
              <a:rPr lang="en-US" sz="1100" dirty="0">
                <a:latin typeface="Tahoma" panose="020B0604030504040204" pitchFamily="34" charset="0"/>
                <a:ea typeface="Tahoma" panose="020B0604030504040204" pitchFamily="34" charset="0"/>
                <a:cs typeface="Tahoma" panose="020B0604030504040204" pitchFamily="34" charset="0"/>
              </a:rPr>
              <a:t>        DBMS_OUTPUT.PUT_LINE('Error Creating Table: ' || SQLERRM);</a:t>
            </a:r>
          </a:p>
          <a:p>
            <a:r>
              <a:rPr lang="en-US" sz="1100" dirty="0">
                <a:latin typeface="Tahoma" panose="020B0604030504040204" pitchFamily="34" charset="0"/>
                <a:ea typeface="Tahoma" panose="020B0604030504040204" pitchFamily="34" charset="0"/>
                <a:cs typeface="Tahoma" panose="020B0604030504040204" pitchFamily="34" charset="0"/>
              </a:rPr>
              <a:t>END;</a:t>
            </a:r>
          </a:p>
          <a:p>
            <a:r>
              <a:rPr lang="en-US" sz="1100" dirty="0">
                <a:latin typeface="Tahoma" panose="020B0604030504040204" pitchFamily="34" charset="0"/>
                <a:ea typeface="Tahoma" panose="020B0604030504040204" pitchFamily="34" charset="0"/>
                <a:cs typeface="Tahoma" panose="020B0604030504040204" pitchFamily="34" charset="0"/>
              </a:rPr>
              <a:t>/</a:t>
            </a:r>
          </a:p>
        </p:txBody>
      </p:sp>
      <p:sp>
        <p:nvSpPr>
          <p:cNvPr id="4" name="TextBox 3">
            <a:extLst>
              <a:ext uri="{FF2B5EF4-FFF2-40B4-BE49-F238E27FC236}">
                <a16:creationId xmlns:a16="http://schemas.microsoft.com/office/drawing/2014/main" id="{C5875F3A-1A0E-824B-23FB-5E829FA81189}"/>
              </a:ext>
            </a:extLst>
          </p:cNvPr>
          <p:cNvSpPr txBox="1"/>
          <p:nvPr/>
        </p:nvSpPr>
        <p:spPr>
          <a:xfrm>
            <a:off x="6056376" y="2767106"/>
            <a:ext cx="6096000" cy="393954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endParaRPr lang="en-US" sz="1000" dirty="0">
              <a:latin typeface="Tahoma" panose="020B0604030504040204" pitchFamily="34" charset="0"/>
              <a:ea typeface="Tahoma" panose="020B0604030504040204" pitchFamily="34" charset="0"/>
              <a:cs typeface="Tahoma" panose="020B0604030504040204" pitchFamily="34" charset="0"/>
            </a:endParaRPr>
          </a:p>
          <a:p>
            <a:r>
              <a:rPr lang="en-US" sz="1000" i="1" dirty="0">
                <a:highlight>
                  <a:srgbClr val="C0C0C0"/>
                </a:highlight>
                <a:latin typeface="Tahoma" panose="020B0604030504040204" pitchFamily="34" charset="0"/>
                <a:ea typeface="Tahoma" panose="020B0604030504040204" pitchFamily="34" charset="0"/>
                <a:cs typeface="Tahoma" panose="020B0604030504040204" pitchFamily="34" charset="0"/>
              </a:rPr>
              <a:t>-- 2. Insert Data with Exception Handling</a:t>
            </a:r>
          </a:p>
          <a:p>
            <a:r>
              <a:rPr lang="en-US" sz="1000" dirty="0">
                <a:latin typeface="Tahoma" panose="020B0604030504040204" pitchFamily="34" charset="0"/>
                <a:ea typeface="Tahoma" panose="020B0604030504040204" pitchFamily="34" charset="0"/>
                <a:cs typeface="Tahoma" panose="020B0604030504040204" pitchFamily="34" charset="0"/>
              </a:rPr>
              <a:t>DECLARE</a:t>
            </a:r>
          </a:p>
          <a:p>
            <a:r>
              <a:rPr lang="en-US" sz="1000" dirty="0">
                <a:latin typeface="Tahoma" panose="020B0604030504040204" pitchFamily="34" charset="0"/>
                <a:ea typeface="Tahoma" panose="020B0604030504040204" pitchFamily="34" charset="0"/>
                <a:cs typeface="Tahoma" panose="020B0604030504040204" pitchFamily="34" charset="0"/>
              </a:rPr>
              <a:t>    </a:t>
            </a:r>
            <a:r>
              <a:rPr lang="en-US" sz="1000" dirty="0" err="1">
                <a:latin typeface="Tahoma" panose="020B0604030504040204" pitchFamily="34" charset="0"/>
                <a:ea typeface="Tahoma" panose="020B0604030504040204" pitchFamily="34" charset="0"/>
                <a:cs typeface="Tahoma" panose="020B0604030504040204" pitchFamily="34" charset="0"/>
              </a:rPr>
              <a:t>student_exists</a:t>
            </a:r>
            <a:r>
              <a:rPr lang="en-US" sz="1000" dirty="0">
                <a:latin typeface="Tahoma" panose="020B0604030504040204" pitchFamily="34" charset="0"/>
                <a:ea typeface="Tahoma" panose="020B0604030504040204" pitchFamily="34" charset="0"/>
                <a:cs typeface="Tahoma" panose="020B0604030504040204" pitchFamily="34" charset="0"/>
              </a:rPr>
              <a:t> EXCEPTION;</a:t>
            </a:r>
          </a:p>
          <a:p>
            <a:r>
              <a:rPr lang="en-US" sz="1000" dirty="0">
                <a:latin typeface="Tahoma" panose="020B0604030504040204" pitchFamily="34" charset="0"/>
                <a:ea typeface="Tahoma" panose="020B0604030504040204" pitchFamily="34" charset="0"/>
                <a:cs typeface="Tahoma" panose="020B0604030504040204" pitchFamily="34" charset="0"/>
              </a:rPr>
              <a:t>    PRAGMA EXCEPTION_INIT(</a:t>
            </a:r>
            <a:r>
              <a:rPr lang="en-US" sz="1000" dirty="0" err="1">
                <a:latin typeface="Tahoma" panose="020B0604030504040204" pitchFamily="34" charset="0"/>
                <a:ea typeface="Tahoma" panose="020B0604030504040204" pitchFamily="34" charset="0"/>
                <a:cs typeface="Tahoma" panose="020B0604030504040204" pitchFamily="34" charset="0"/>
              </a:rPr>
              <a:t>student_exists</a:t>
            </a:r>
            <a:r>
              <a:rPr lang="en-US" sz="1000" dirty="0">
                <a:latin typeface="Tahoma" panose="020B0604030504040204" pitchFamily="34" charset="0"/>
                <a:ea typeface="Tahoma" panose="020B0604030504040204" pitchFamily="34" charset="0"/>
                <a:cs typeface="Tahoma" panose="020B0604030504040204" pitchFamily="34" charset="0"/>
              </a:rPr>
              <a:t>, -1); </a:t>
            </a:r>
            <a:r>
              <a:rPr lang="en-US" sz="1000" i="1" dirty="0">
                <a:latin typeface="Tahoma" panose="020B0604030504040204" pitchFamily="34" charset="0"/>
                <a:ea typeface="Tahoma" panose="020B0604030504040204" pitchFamily="34" charset="0"/>
                <a:cs typeface="Tahoma" panose="020B0604030504040204" pitchFamily="34" charset="0"/>
              </a:rPr>
              <a:t> </a:t>
            </a:r>
            <a:r>
              <a:rPr lang="en-US" sz="1000" i="1" dirty="0">
                <a:highlight>
                  <a:srgbClr val="C0C0C0"/>
                </a:highlight>
                <a:latin typeface="Tahoma" panose="020B0604030504040204" pitchFamily="34" charset="0"/>
                <a:ea typeface="Tahoma" panose="020B0604030504040204" pitchFamily="34" charset="0"/>
                <a:cs typeface="Tahoma" panose="020B0604030504040204" pitchFamily="34" charset="0"/>
              </a:rPr>
              <a:t>-- -1 for duplicate primary key error</a:t>
            </a:r>
          </a:p>
          <a:p>
            <a:r>
              <a:rPr lang="en-US" sz="1000" dirty="0">
                <a:latin typeface="Tahoma" panose="020B0604030504040204" pitchFamily="34" charset="0"/>
                <a:ea typeface="Tahoma" panose="020B0604030504040204" pitchFamily="34" charset="0"/>
                <a:cs typeface="Tahoma" panose="020B0604030504040204" pitchFamily="34" charset="0"/>
              </a:rPr>
              <a:t>BEGIN</a:t>
            </a:r>
          </a:p>
          <a:p>
            <a:r>
              <a:rPr lang="en-US" sz="1000" dirty="0">
                <a:latin typeface="Tahoma" panose="020B0604030504040204" pitchFamily="34" charset="0"/>
                <a:ea typeface="Tahoma" panose="020B0604030504040204" pitchFamily="34" charset="0"/>
                <a:cs typeface="Tahoma" panose="020B0604030504040204" pitchFamily="34" charset="0"/>
              </a:rPr>
              <a:t>    INSERT INTO students (</a:t>
            </a:r>
            <a:r>
              <a:rPr lang="en-US" sz="1000" dirty="0" err="1">
                <a:latin typeface="Tahoma" panose="020B0604030504040204" pitchFamily="34" charset="0"/>
                <a:ea typeface="Tahoma" panose="020B0604030504040204" pitchFamily="34" charset="0"/>
                <a:cs typeface="Tahoma" panose="020B0604030504040204" pitchFamily="34" charset="0"/>
              </a:rPr>
              <a:t>student_id</a:t>
            </a:r>
            <a:r>
              <a:rPr lang="en-US" sz="1000" dirty="0">
                <a:latin typeface="Tahoma" panose="020B0604030504040204" pitchFamily="34" charset="0"/>
                <a:ea typeface="Tahoma" panose="020B0604030504040204" pitchFamily="34" charset="0"/>
                <a:cs typeface="Tahoma" panose="020B0604030504040204" pitchFamily="34" charset="0"/>
              </a:rPr>
              <a:t>, name, age, grade)</a:t>
            </a:r>
          </a:p>
          <a:p>
            <a:r>
              <a:rPr lang="en-US" sz="1000" dirty="0">
                <a:latin typeface="Tahoma" panose="020B0604030504040204" pitchFamily="34" charset="0"/>
                <a:ea typeface="Tahoma" panose="020B0604030504040204" pitchFamily="34" charset="0"/>
                <a:cs typeface="Tahoma" panose="020B0604030504040204" pitchFamily="34" charset="0"/>
              </a:rPr>
              <a:t>    VALUES (1, 'Alice Johnson', 20, 'A');</a:t>
            </a:r>
          </a:p>
          <a:p>
            <a:endParaRPr lang="en-US" sz="1000" dirty="0">
              <a:latin typeface="Tahoma" panose="020B0604030504040204" pitchFamily="34" charset="0"/>
              <a:ea typeface="Tahoma" panose="020B0604030504040204" pitchFamily="34" charset="0"/>
              <a:cs typeface="Tahoma" panose="020B0604030504040204" pitchFamily="34" charset="0"/>
            </a:endParaRPr>
          </a:p>
          <a:p>
            <a:r>
              <a:rPr lang="en-US" sz="1000" dirty="0">
                <a:latin typeface="Tahoma" panose="020B0604030504040204" pitchFamily="34" charset="0"/>
                <a:ea typeface="Tahoma" panose="020B0604030504040204" pitchFamily="34" charset="0"/>
                <a:cs typeface="Tahoma" panose="020B0604030504040204" pitchFamily="34" charset="0"/>
              </a:rPr>
              <a:t>    INSERT INTO students (</a:t>
            </a:r>
            <a:r>
              <a:rPr lang="en-US" sz="1000" dirty="0" err="1">
                <a:latin typeface="Tahoma" panose="020B0604030504040204" pitchFamily="34" charset="0"/>
                <a:ea typeface="Tahoma" panose="020B0604030504040204" pitchFamily="34" charset="0"/>
                <a:cs typeface="Tahoma" panose="020B0604030504040204" pitchFamily="34" charset="0"/>
              </a:rPr>
              <a:t>student_id</a:t>
            </a:r>
            <a:r>
              <a:rPr lang="en-US" sz="1000" dirty="0">
                <a:latin typeface="Tahoma" panose="020B0604030504040204" pitchFamily="34" charset="0"/>
                <a:ea typeface="Tahoma" panose="020B0604030504040204" pitchFamily="34" charset="0"/>
                <a:cs typeface="Tahoma" panose="020B0604030504040204" pitchFamily="34" charset="0"/>
              </a:rPr>
              <a:t>, name, age, grade)</a:t>
            </a:r>
          </a:p>
          <a:p>
            <a:r>
              <a:rPr lang="en-US" sz="1000" dirty="0">
                <a:latin typeface="Tahoma" panose="020B0604030504040204" pitchFamily="34" charset="0"/>
                <a:ea typeface="Tahoma" panose="020B0604030504040204" pitchFamily="34" charset="0"/>
                <a:cs typeface="Tahoma" panose="020B0604030504040204" pitchFamily="34" charset="0"/>
              </a:rPr>
              <a:t>    VALUES (2, 'Bob Smith', 19, 'B');</a:t>
            </a:r>
          </a:p>
          <a:p>
            <a:endParaRPr lang="en-US" sz="1000" dirty="0">
              <a:latin typeface="Tahoma" panose="020B0604030504040204" pitchFamily="34" charset="0"/>
              <a:ea typeface="Tahoma" panose="020B0604030504040204" pitchFamily="34" charset="0"/>
              <a:cs typeface="Tahoma" panose="020B0604030504040204" pitchFamily="34" charset="0"/>
            </a:endParaRPr>
          </a:p>
          <a:p>
            <a:r>
              <a:rPr lang="en-US" sz="1000" dirty="0">
                <a:latin typeface="Tahoma" panose="020B0604030504040204" pitchFamily="34" charset="0"/>
                <a:ea typeface="Tahoma" panose="020B0604030504040204" pitchFamily="34" charset="0"/>
                <a:cs typeface="Tahoma" panose="020B0604030504040204" pitchFamily="34" charset="0"/>
              </a:rPr>
              <a:t>    INSERT INTO students (</a:t>
            </a:r>
            <a:r>
              <a:rPr lang="en-US" sz="1000" dirty="0" err="1">
                <a:latin typeface="Tahoma" panose="020B0604030504040204" pitchFamily="34" charset="0"/>
                <a:ea typeface="Tahoma" panose="020B0604030504040204" pitchFamily="34" charset="0"/>
                <a:cs typeface="Tahoma" panose="020B0604030504040204" pitchFamily="34" charset="0"/>
              </a:rPr>
              <a:t>student_id</a:t>
            </a:r>
            <a:r>
              <a:rPr lang="en-US" sz="1000" dirty="0">
                <a:latin typeface="Tahoma" panose="020B0604030504040204" pitchFamily="34" charset="0"/>
                <a:ea typeface="Tahoma" panose="020B0604030504040204" pitchFamily="34" charset="0"/>
                <a:cs typeface="Tahoma" panose="020B0604030504040204" pitchFamily="34" charset="0"/>
              </a:rPr>
              <a:t>, name, age, grade)</a:t>
            </a:r>
          </a:p>
          <a:p>
            <a:r>
              <a:rPr lang="en-US" sz="1000" dirty="0">
                <a:latin typeface="Tahoma" panose="020B0604030504040204" pitchFamily="34" charset="0"/>
                <a:ea typeface="Tahoma" panose="020B0604030504040204" pitchFamily="34" charset="0"/>
                <a:cs typeface="Tahoma" panose="020B0604030504040204" pitchFamily="34" charset="0"/>
              </a:rPr>
              <a:t>    VALUES (1, 'Charlie Brown', 21, 'C'); </a:t>
            </a:r>
            <a:r>
              <a:rPr lang="en-US" sz="1000" i="1" dirty="0">
                <a:highlight>
                  <a:srgbClr val="C0C0C0"/>
                </a:highlight>
                <a:latin typeface="Tahoma" panose="020B0604030504040204" pitchFamily="34" charset="0"/>
                <a:ea typeface="Tahoma" panose="020B0604030504040204" pitchFamily="34" charset="0"/>
                <a:cs typeface="Tahoma" panose="020B0604030504040204" pitchFamily="34" charset="0"/>
              </a:rPr>
              <a:t>-- This will cause a primary key violation</a:t>
            </a:r>
          </a:p>
          <a:p>
            <a:endParaRPr lang="en-CA" sz="1000" dirty="0">
              <a:latin typeface="Tahoma" panose="020B0604030504040204" pitchFamily="34" charset="0"/>
              <a:ea typeface="Tahoma" panose="020B0604030504040204" pitchFamily="34" charset="0"/>
              <a:cs typeface="Tahoma" panose="020B0604030504040204" pitchFamily="34" charset="0"/>
            </a:endParaRPr>
          </a:p>
          <a:p>
            <a:r>
              <a:rPr lang="en-CA" sz="1000" dirty="0">
                <a:latin typeface="Tahoma" panose="020B0604030504040204" pitchFamily="34" charset="0"/>
                <a:ea typeface="Tahoma" panose="020B0604030504040204" pitchFamily="34" charset="0"/>
                <a:cs typeface="Tahoma" panose="020B0604030504040204" pitchFamily="34" charset="0"/>
              </a:rPr>
              <a:t>COMMIT; </a:t>
            </a:r>
            <a:r>
              <a:rPr lang="en-CA" sz="1000" i="1" dirty="0">
                <a:highlight>
                  <a:srgbClr val="C0C0C0"/>
                </a:highlight>
                <a:latin typeface="Tahoma" panose="020B0604030504040204" pitchFamily="34" charset="0"/>
                <a:ea typeface="Tahoma" panose="020B0604030504040204" pitchFamily="34" charset="0"/>
                <a:cs typeface="Tahoma" panose="020B0604030504040204" pitchFamily="34" charset="0"/>
              </a:rPr>
              <a:t>-- If no error occurs, commit the transaction </a:t>
            </a:r>
            <a:endParaRPr lang="en-CA" sz="1000" dirty="0">
              <a:latin typeface="Tahoma" panose="020B0604030504040204" pitchFamily="34" charset="0"/>
              <a:ea typeface="Tahoma" panose="020B0604030504040204" pitchFamily="34" charset="0"/>
              <a:cs typeface="Tahoma" panose="020B0604030504040204" pitchFamily="34" charset="0"/>
            </a:endParaRPr>
          </a:p>
          <a:p>
            <a:endParaRPr lang="en-US" sz="1000" dirty="0">
              <a:latin typeface="Tahoma" panose="020B0604030504040204" pitchFamily="34" charset="0"/>
              <a:ea typeface="Tahoma" panose="020B0604030504040204" pitchFamily="34" charset="0"/>
              <a:cs typeface="Tahoma" panose="020B0604030504040204" pitchFamily="34" charset="0"/>
            </a:endParaRPr>
          </a:p>
          <a:p>
            <a:r>
              <a:rPr lang="en-US" sz="1000" dirty="0">
                <a:latin typeface="Tahoma" panose="020B0604030504040204" pitchFamily="34" charset="0"/>
                <a:ea typeface="Tahoma" panose="020B0604030504040204" pitchFamily="34" charset="0"/>
                <a:cs typeface="Tahoma" panose="020B0604030504040204" pitchFamily="34" charset="0"/>
              </a:rPr>
              <a:t>    DBMS_OUTPUT.PUT_LINE('All records inserted successfully.');</a:t>
            </a:r>
          </a:p>
          <a:p>
            <a:r>
              <a:rPr lang="en-US" sz="1000" dirty="0">
                <a:latin typeface="Tahoma" panose="020B0604030504040204" pitchFamily="34" charset="0"/>
                <a:ea typeface="Tahoma" panose="020B0604030504040204" pitchFamily="34" charset="0"/>
                <a:cs typeface="Tahoma" panose="020B0604030504040204" pitchFamily="34" charset="0"/>
              </a:rPr>
              <a:t>EXCEPTION</a:t>
            </a:r>
          </a:p>
          <a:p>
            <a:r>
              <a:rPr lang="en-US" sz="1000" dirty="0">
                <a:latin typeface="Tahoma" panose="020B0604030504040204" pitchFamily="34" charset="0"/>
                <a:ea typeface="Tahoma" panose="020B0604030504040204" pitchFamily="34" charset="0"/>
                <a:cs typeface="Tahoma" panose="020B0604030504040204" pitchFamily="34" charset="0"/>
              </a:rPr>
              <a:t>    WHEN </a:t>
            </a:r>
            <a:r>
              <a:rPr lang="en-US" sz="1000" dirty="0" err="1">
                <a:latin typeface="Tahoma" panose="020B0604030504040204" pitchFamily="34" charset="0"/>
                <a:ea typeface="Tahoma" panose="020B0604030504040204" pitchFamily="34" charset="0"/>
                <a:cs typeface="Tahoma" panose="020B0604030504040204" pitchFamily="34" charset="0"/>
              </a:rPr>
              <a:t>student_exists</a:t>
            </a:r>
            <a:r>
              <a:rPr lang="en-US" sz="1000" dirty="0">
                <a:latin typeface="Tahoma" panose="020B0604030504040204" pitchFamily="34" charset="0"/>
                <a:ea typeface="Tahoma" panose="020B0604030504040204" pitchFamily="34" charset="0"/>
                <a:cs typeface="Tahoma" panose="020B0604030504040204" pitchFamily="34" charset="0"/>
              </a:rPr>
              <a:t> THEN</a:t>
            </a:r>
          </a:p>
          <a:p>
            <a:r>
              <a:rPr lang="en-US" sz="1000" dirty="0">
                <a:latin typeface="Tahoma" panose="020B0604030504040204" pitchFamily="34" charset="0"/>
                <a:ea typeface="Tahoma" panose="020B0604030504040204" pitchFamily="34" charset="0"/>
                <a:cs typeface="Tahoma" panose="020B0604030504040204" pitchFamily="34" charset="0"/>
              </a:rPr>
              <a:t>        DBMS_OUTPUT.PUT_LINE('Duplicate Entry: Student ID already exists.');</a:t>
            </a:r>
          </a:p>
          <a:p>
            <a:r>
              <a:rPr lang="en-US" sz="1000" dirty="0">
                <a:latin typeface="Tahoma" panose="020B0604030504040204" pitchFamily="34" charset="0"/>
                <a:ea typeface="Tahoma" panose="020B0604030504040204" pitchFamily="34" charset="0"/>
                <a:cs typeface="Tahoma" panose="020B0604030504040204" pitchFamily="34" charset="0"/>
              </a:rPr>
              <a:t>    WHEN OTHERS THEN</a:t>
            </a:r>
          </a:p>
          <a:p>
            <a:r>
              <a:rPr lang="en-US" sz="1000" dirty="0">
                <a:latin typeface="Tahoma" panose="020B0604030504040204" pitchFamily="34" charset="0"/>
                <a:ea typeface="Tahoma" panose="020B0604030504040204" pitchFamily="34" charset="0"/>
                <a:cs typeface="Tahoma" panose="020B0604030504040204" pitchFamily="34" charset="0"/>
              </a:rPr>
              <a:t>        DBMS_OUTPUT.PUT_LINE('Error Inserting Data: ' || SQLERRM);</a:t>
            </a:r>
          </a:p>
          <a:p>
            <a:r>
              <a:rPr lang="en-US" sz="1000" dirty="0">
                <a:latin typeface="Tahoma" panose="020B0604030504040204" pitchFamily="34" charset="0"/>
                <a:ea typeface="Tahoma" panose="020B0604030504040204" pitchFamily="34" charset="0"/>
                <a:cs typeface="Tahoma" panose="020B0604030504040204" pitchFamily="34" charset="0"/>
              </a:rPr>
              <a:t>END;</a:t>
            </a:r>
          </a:p>
          <a:p>
            <a:r>
              <a:rPr lang="en-US" sz="10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1615856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7C9C47-F79C-C132-D85B-B97B75B4ECCA}"/>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33B57881-35C3-659A-EBBC-D5CEF57A7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93AF0805-169E-D7E7-EDE9-71CEC890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5D118F17-5C97-D61B-C521-BFC4252607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F03C5DB3-8A0B-EA6E-6EB6-5E85BBFD7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Freeform: Shape 125">
            <a:extLst>
              <a:ext uri="{FF2B5EF4-FFF2-40B4-BE49-F238E27FC236}">
                <a16:creationId xmlns:a16="http://schemas.microsoft.com/office/drawing/2014/main" id="{8E35AF75-A994-DE8C-9872-FCFB3FECAE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2">
            <a:extLst>
              <a:ext uri="{FF2B5EF4-FFF2-40B4-BE49-F238E27FC236}">
                <a16:creationId xmlns:a16="http://schemas.microsoft.com/office/drawing/2014/main" id="{BBD9A554-B990-129B-F94B-FA1786C9A88D}"/>
              </a:ext>
            </a:extLst>
          </p:cNvPr>
          <p:cNvSpPr>
            <a:spLocks noGrp="1"/>
          </p:cNvSpPr>
          <p:nvPr>
            <p:ph type="ctrTitle"/>
          </p:nvPr>
        </p:nvSpPr>
        <p:spPr>
          <a:xfrm>
            <a:off x="354104" y="2767106"/>
            <a:ext cx="3405095" cy="3071906"/>
          </a:xfrm>
        </p:spPr>
        <p:txBody>
          <a:bodyPr vert="horz" lIns="91440" tIns="45720" rIns="91440" bIns="45720" rtlCol="0" anchor="t">
            <a:normAutofit/>
          </a:bodyPr>
          <a:lstStyle/>
          <a:p>
            <a:pPr algn="l"/>
            <a:r>
              <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Script Implementation - Update</a:t>
            </a:r>
          </a:p>
        </p:txBody>
      </p:sp>
      <p:sp>
        <p:nvSpPr>
          <p:cNvPr id="5" name="Slide Number Placeholder 4">
            <a:extLst>
              <a:ext uri="{FF2B5EF4-FFF2-40B4-BE49-F238E27FC236}">
                <a16:creationId xmlns:a16="http://schemas.microsoft.com/office/drawing/2014/main" id="{CBCA3666-CD6E-98D9-CB73-44BA75425DDA}"/>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13</a:t>
            </a:fld>
            <a:endParaRPr lang="en-US" sz="1100" dirty="0">
              <a:solidFill>
                <a:schemeClr val="tx1">
                  <a:lumMod val="50000"/>
                  <a:lumOff val="50000"/>
                </a:schemeClr>
              </a:solidFill>
            </a:endParaRPr>
          </a:p>
        </p:txBody>
      </p:sp>
      <p:sp>
        <p:nvSpPr>
          <p:cNvPr id="6" name="TextBox 5">
            <a:extLst>
              <a:ext uri="{FF2B5EF4-FFF2-40B4-BE49-F238E27FC236}">
                <a16:creationId xmlns:a16="http://schemas.microsoft.com/office/drawing/2014/main" id="{048F4254-FB05-3035-EEBD-A5D955C67A5C}"/>
              </a:ext>
            </a:extLst>
          </p:cNvPr>
          <p:cNvSpPr txBox="1"/>
          <p:nvPr/>
        </p:nvSpPr>
        <p:spPr>
          <a:xfrm>
            <a:off x="4392709" y="371968"/>
            <a:ext cx="6096000" cy="54476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i="1" dirty="0">
                <a:highlight>
                  <a:srgbClr val="C0C0C0"/>
                </a:highlight>
                <a:latin typeface="Tahoma" panose="020B0604030504040204" pitchFamily="34" charset="0"/>
                <a:ea typeface="Tahoma" panose="020B0604030504040204" pitchFamily="34" charset="0"/>
                <a:cs typeface="Tahoma" panose="020B0604030504040204" pitchFamily="34" charset="0"/>
              </a:rPr>
              <a:t>-- 3. Update Data with Error Handling and Rollback</a:t>
            </a:r>
          </a:p>
          <a:p>
            <a:r>
              <a:rPr lang="en-US" sz="1200" dirty="0">
                <a:latin typeface="Tahoma" panose="020B0604030504040204" pitchFamily="34" charset="0"/>
                <a:ea typeface="Tahoma" panose="020B0604030504040204" pitchFamily="34" charset="0"/>
                <a:cs typeface="Tahoma" panose="020B0604030504040204" pitchFamily="34" charset="0"/>
              </a:rPr>
              <a:t>DECLARE</a:t>
            </a:r>
          </a:p>
          <a:p>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insufficient_age</a:t>
            </a:r>
            <a:r>
              <a:rPr lang="en-US" sz="1200" dirty="0">
                <a:latin typeface="Tahoma" panose="020B0604030504040204" pitchFamily="34" charset="0"/>
                <a:ea typeface="Tahoma" panose="020B0604030504040204" pitchFamily="34" charset="0"/>
                <a:cs typeface="Tahoma" panose="020B0604030504040204" pitchFamily="34" charset="0"/>
              </a:rPr>
              <a:t> EXCEPTION;</a:t>
            </a:r>
          </a:p>
          <a:p>
            <a:r>
              <a:rPr lang="en-US" sz="1200" dirty="0">
                <a:latin typeface="Tahoma" panose="020B0604030504040204" pitchFamily="34" charset="0"/>
                <a:ea typeface="Tahoma" panose="020B0604030504040204" pitchFamily="34" charset="0"/>
                <a:cs typeface="Tahoma" panose="020B0604030504040204" pitchFamily="34" charset="0"/>
              </a:rPr>
              <a:t>    PRAGMA EXCEPTION_INIT(</a:t>
            </a:r>
            <a:r>
              <a:rPr lang="en-US" sz="1200" dirty="0" err="1">
                <a:latin typeface="Tahoma" panose="020B0604030504040204" pitchFamily="34" charset="0"/>
                <a:ea typeface="Tahoma" panose="020B0604030504040204" pitchFamily="34" charset="0"/>
                <a:cs typeface="Tahoma" panose="020B0604030504040204" pitchFamily="34" charset="0"/>
              </a:rPr>
              <a:t>insufficient_age</a:t>
            </a:r>
            <a:r>
              <a:rPr lang="en-US" sz="1200" dirty="0">
                <a:latin typeface="Tahoma" panose="020B0604030504040204" pitchFamily="34" charset="0"/>
                <a:ea typeface="Tahoma" panose="020B0604030504040204" pitchFamily="34" charset="0"/>
                <a:cs typeface="Tahoma" panose="020B0604030504040204" pitchFamily="34" charset="0"/>
              </a:rPr>
              <a:t>, -20002);</a:t>
            </a:r>
          </a:p>
          <a:p>
            <a:r>
              <a:rPr lang="en-US" sz="1200" dirty="0">
                <a:latin typeface="Tahoma" panose="020B0604030504040204" pitchFamily="34" charset="0"/>
                <a:ea typeface="Tahoma" panose="020B0604030504040204" pitchFamily="34" charset="0"/>
                <a:cs typeface="Tahoma" panose="020B0604030504040204" pitchFamily="34" charset="0"/>
              </a:rPr>
              <a:t>BEGIN</a:t>
            </a:r>
          </a:p>
          <a:p>
            <a:r>
              <a:rPr lang="en-US" sz="1200" dirty="0">
                <a:latin typeface="Tahoma" panose="020B0604030504040204" pitchFamily="34" charset="0"/>
                <a:ea typeface="Tahoma" panose="020B0604030504040204" pitchFamily="34" charset="0"/>
                <a:cs typeface="Tahoma" panose="020B0604030504040204" pitchFamily="34" charset="0"/>
              </a:rPr>
              <a:t>    SAVEPOINT </a:t>
            </a:r>
            <a:r>
              <a:rPr lang="en-US" sz="1200" dirty="0" err="1">
                <a:latin typeface="Tahoma" panose="020B0604030504040204" pitchFamily="34" charset="0"/>
                <a:ea typeface="Tahoma" panose="020B0604030504040204" pitchFamily="34" charset="0"/>
                <a:cs typeface="Tahoma" panose="020B0604030504040204" pitchFamily="34" charset="0"/>
              </a:rPr>
              <a:t>before_update</a:t>
            </a:r>
            <a:r>
              <a:rPr lang="en-US" sz="1200" dirty="0">
                <a:latin typeface="Tahoma" panose="020B0604030504040204" pitchFamily="34" charset="0"/>
                <a:ea typeface="Tahoma" panose="020B0604030504040204" pitchFamily="34" charset="0"/>
                <a:cs typeface="Tahoma" panose="020B0604030504040204" pitchFamily="34" charset="0"/>
              </a:rPr>
              <a:t>;</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    UPDATE students </a:t>
            </a:r>
          </a:p>
          <a:p>
            <a:r>
              <a:rPr lang="en-US" sz="1200" dirty="0">
                <a:latin typeface="Tahoma" panose="020B0604030504040204" pitchFamily="34" charset="0"/>
                <a:ea typeface="Tahoma" panose="020B0604030504040204" pitchFamily="34" charset="0"/>
                <a:cs typeface="Tahoma" panose="020B0604030504040204" pitchFamily="34" charset="0"/>
              </a:rPr>
              <a:t>    SET age = 17</a:t>
            </a:r>
          </a:p>
          <a:p>
            <a:r>
              <a:rPr lang="en-US" sz="1200" dirty="0">
                <a:latin typeface="Tahoma" panose="020B0604030504040204" pitchFamily="34" charset="0"/>
                <a:ea typeface="Tahoma" panose="020B0604030504040204" pitchFamily="34" charset="0"/>
                <a:cs typeface="Tahoma" panose="020B0604030504040204" pitchFamily="34" charset="0"/>
              </a:rPr>
              <a:t>    WHERE </a:t>
            </a:r>
            <a:r>
              <a:rPr lang="en-US" sz="1200" dirty="0" err="1">
                <a:latin typeface="Tahoma" panose="020B0604030504040204" pitchFamily="34" charset="0"/>
                <a:ea typeface="Tahoma" panose="020B0604030504040204" pitchFamily="34" charset="0"/>
                <a:cs typeface="Tahoma" panose="020B0604030504040204" pitchFamily="34" charset="0"/>
              </a:rPr>
              <a:t>student_id</a:t>
            </a:r>
            <a:r>
              <a:rPr lang="en-US" sz="1200" dirty="0">
                <a:latin typeface="Tahoma" panose="020B0604030504040204" pitchFamily="34" charset="0"/>
                <a:ea typeface="Tahoma" panose="020B0604030504040204" pitchFamily="34" charset="0"/>
                <a:cs typeface="Tahoma" panose="020B0604030504040204" pitchFamily="34" charset="0"/>
              </a:rPr>
              <a:t> = 2;</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i="1" dirty="0">
                <a:highlight>
                  <a:srgbClr val="C0C0C0"/>
                </a:highlight>
                <a:latin typeface="Tahoma" panose="020B0604030504040204" pitchFamily="34" charset="0"/>
                <a:ea typeface="Tahoma" panose="020B0604030504040204" pitchFamily="34" charset="0"/>
                <a:cs typeface="Tahoma" panose="020B0604030504040204" pitchFamily="34" charset="0"/>
              </a:rPr>
              <a:t>    -- Check if age is below the allowed limit (18)</a:t>
            </a:r>
          </a:p>
          <a:p>
            <a:r>
              <a:rPr lang="en-US" sz="1200" dirty="0">
                <a:latin typeface="Tahoma" panose="020B0604030504040204" pitchFamily="34" charset="0"/>
                <a:ea typeface="Tahoma" panose="020B0604030504040204" pitchFamily="34" charset="0"/>
                <a:cs typeface="Tahoma" panose="020B0604030504040204" pitchFamily="34" charset="0"/>
              </a:rPr>
              <a:t>    IF (SELECT age FROM students WHERE </a:t>
            </a:r>
            <a:r>
              <a:rPr lang="en-US" sz="1200" dirty="0" err="1">
                <a:latin typeface="Tahoma" panose="020B0604030504040204" pitchFamily="34" charset="0"/>
                <a:ea typeface="Tahoma" panose="020B0604030504040204" pitchFamily="34" charset="0"/>
                <a:cs typeface="Tahoma" panose="020B0604030504040204" pitchFamily="34" charset="0"/>
              </a:rPr>
              <a:t>student_id</a:t>
            </a:r>
            <a:r>
              <a:rPr lang="en-US" sz="1200" dirty="0">
                <a:latin typeface="Tahoma" panose="020B0604030504040204" pitchFamily="34" charset="0"/>
                <a:ea typeface="Tahoma" panose="020B0604030504040204" pitchFamily="34" charset="0"/>
                <a:cs typeface="Tahoma" panose="020B0604030504040204" pitchFamily="34" charset="0"/>
              </a:rPr>
              <a:t> = 2) &lt; 18 THEN</a:t>
            </a:r>
          </a:p>
          <a:p>
            <a:r>
              <a:rPr lang="en-US" sz="1200" dirty="0">
                <a:latin typeface="Tahoma" panose="020B0604030504040204" pitchFamily="34" charset="0"/>
                <a:ea typeface="Tahoma" panose="020B0604030504040204" pitchFamily="34" charset="0"/>
                <a:cs typeface="Tahoma" panose="020B0604030504040204" pitchFamily="34" charset="0"/>
              </a:rPr>
              <a:t>        RAISE_APPLICATION_ERROR(-20002, 'Age cannot be below 18.');</a:t>
            </a:r>
          </a:p>
          <a:p>
            <a:r>
              <a:rPr lang="en-US" sz="1200" dirty="0">
                <a:latin typeface="Tahoma" panose="020B0604030504040204" pitchFamily="34" charset="0"/>
                <a:ea typeface="Tahoma" panose="020B0604030504040204" pitchFamily="34" charset="0"/>
                <a:cs typeface="Tahoma" panose="020B0604030504040204" pitchFamily="34" charset="0"/>
              </a:rPr>
              <a:t>    END IF;</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    COMMIT; </a:t>
            </a:r>
            <a:r>
              <a:rPr lang="en-US" sz="1200" i="1" dirty="0">
                <a:highlight>
                  <a:srgbClr val="C0C0C0"/>
                </a:highlight>
                <a:latin typeface="Tahoma" panose="020B0604030504040204" pitchFamily="34" charset="0"/>
                <a:ea typeface="Tahoma" panose="020B0604030504040204" pitchFamily="34" charset="0"/>
                <a:cs typeface="Tahoma" panose="020B0604030504040204" pitchFamily="34" charset="0"/>
              </a:rPr>
              <a:t>-- Commit the transaction if successful</a:t>
            </a:r>
          </a:p>
          <a:p>
            <a:endParaRPr lang="en-US" sz="1200" i="1" dirty="0">
              <a:highlight>
                <a:srgbClr val="C0C0C0"/>
              </a:highlight>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    DBMS_OUTPUT.PUT_LINE('Update successful.');</a:t>
            </a:r>
          </a:p>
          <a:p>
            <a:r>
              <a:rPr lang="en-US" sz="1200" dirty="0">
                <a:latin typeface="Tahoma" panose="020B0604030504040204" pitchFamily="34" charset="0"/>
                <a:ea typeface="Tahoma" panose="020B0604030504040204" pitchFamily="34" charset="0"/>
                <a:cs typeface="Tahoma" panose="020B0604030504040204" pitchFamily="34" charset="0"/>
              </a:rPr>
              <a:t>EXCEPTION</a:t>
            </a:r>
          </a:p>
          <a:p>
            <a:r>
              <a:rPr lang="en-US" sz="1200" dirty="0">
                <a:latin typeface="Tahoma" panose="020B0604030504040204" pitchFamily="34" charset="0"/>
                <a:ea typeface="Tahoma" panose="020B0604030504040204" pitchFamily="34" charset="0"/>
                <a:cs typeface="Tahoma" panose="020B0604030504040204" pitchFamily="34" charset="0"/>
              </a:rPr>
              <a:t>    WHEN </a:t>
            </a:r>
            <a:r>
              <a:rPr lang="en-US" sz="1200" dirty="0" err="1">
                <a:latin typeface="Tahoma" panose="020B0604030504040204" pitchFamily="34" charset="0"/>
                <a:ea typeface="Tahoma" panose="020B0604030504040204" pitchFamily="34" charset="0"/>
                <a:cs typeface="Tahoma" panose="020B0604030504040204" pitchFamily="34" charset="0"/>
              </a:rPr>
              <a:t>insufficient_age</a:t>
            </a:r>
            <a:r>
              <a:rPr lang="en-US" sz="1200" dirty="0">
                <a:latin typeface="Tahoma" panose="020B0604030504040204" pitchFamily="34" charset="0"/>
                <a:ea typeface="Tahoma" panose="020B0604030504040204" pitchFamily="34" charset="0"/>
                <a:cs typeface="Tahoma" panose="020B0604030504040204" pitchFamily="34" charset="0"/>
              </a:rPr>
              <a:t> THEN</a:t>
            </a:r>
          </a:p>
          <a:p>
            <a:r>
              <a:rPr lang="en-US" sz="1200" dirty="0">
                <a:latin typeface="Tahoma" panose="020B0604030504040204" pitchFamily="34" charset="0"/>
                <a:ea typeface="Tahoma" panose="020B0604030504040204" pitchFamily="34" charset="0"/>
                <a:cs typeface="Tahoma" panose="020B0604030504040204" pitchFamily="34" charset="0"/>
              </a:rPr>
              <a:t>        ROLLBACK TO </a:t>
            </a:r>
            <a:r>
              <a:rPr lang="en-US" sz="1200" dirty="0" err="1">
                <a:latin typeface="Tahoma" panose="020B0604030504040204" pitchFamily="34" charset="0"/>
                <a:ea typeface="Tahoma" panose="020B0604030504040204" pitchFamily="34" charset="0"/>
                <a:cs typeface="Tahoma" panose="020B0604030504040204" pitchFamily="34" charset="0"/>
              </a:rPr>
              <a:t>before_update</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DBMS_OUTPUT.PUT_LINE('Transaction rolled back: ' || SQLERRM);</a:t>
            </a:r>
          </a:p>
          <a:p>
            <a:r>
              <a:rPr lang="en-US" sz="1200" dirty="0">
                <a:latin typeface="Tahoma" panose="020B0604030504040204" pitchFamily="34" charset="0"/>
                <a:ea typeface="Tahoma" panose="020B0604030504040204" pitchFamily="34" charset="0"/>
                <a:cs typeface="Tahoma" panose="020B0604030504040204" pitchFamily="34" charset="0"/>
              </a:rPr>
              <a:t>    WHEN OTHERS THEN</a:t>
            </a:r>
          </a:p>
          <a:p>
            <a:r>
              <a:rPr lang="en-US" sz="1200" dirty="0">
                <a:latin typeface="Tahoma" panose="020B0604030504040204" pitchFamily="34" charset="0"/>
                <a:ea typeface="Tahoma" panose="020B0604030504040204" pitchFamily="34" charset="0"/>
                <a:cs typeface="Tahoma" panose="020B0604030504040204" pitchFamily="34" charset="0"/>
              </a:rPr>
              <a:t>        ROLLBACK;</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DBMS_OUTPUT.PUT_LINE('Unexpected error: ' || SQLERRM);</a:t>
            </a:r>
          </a:p>
          <a:p>
            <a:r>
              <a:rPr lang="en-US" sz="1200" dirty="0">
                <a:latin typeface="Tahoma" panose="020B0604030504040204" pitchFamily="34" charset="0"/>
                <a:ea typeface="Tahoma" panose="020B0604030504040204" pitchFamily="34" charset="0"/>
                <a:cs typeface="Tahoma" panose="020B0604030504040204" pitchFamily="34" charset="0"/>
              </a:rPr>
              <a:t>END;</a:t>
            </a:r>
          </a:p>
          <a:p>
            <a:r>
              <a:rPr lang="en-US" sz="12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3610257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D141C5-1468-441D-4AA7-34E9F29F3D20}"/>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3650A71F-CACC-4BC4-1B21-26B01986A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C8A05138-2DCD-009F-A761-8CD529D2A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19095B7C-4AAD-DAFB-0ABA-AD2DC65D5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2509E17D-9D30-478E-B90E-80C64DE55A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DF111A8E-527B-A5AA-F4E2-E5F87E32F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D78268B-EE32-BA2A-0869-1B2C23878F0B}"/>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dirty="0">
                <a:solidFill>
                  <a:srgbClr val="FFFFFF"/>
                </a:solidFill>
                <a:latin typeface="Tahoma" panose="020B0604030504040204" pitchFamily="34" charset="0"/>
                <a:ea typeface="Tahoma" panose="020B0604030504040204" pitchFamily="34" charset="0"/>
                <a:cs typeface="Tahoma" panose="020B0604030504040204" pitchFamily="34" charset="0"/>
              </a:rPr>
              <a:t>Here’s p</a:t>
            </a:r>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arameterized PL/SQL procedure to handle updates with error handling and rollback</a:t>
            </a:r>
          </a:p>
        </p:txBody>
      </p:sp>
      <p:sp>
        <p:nvSpPr>
          <p:cNvPr id="5" name="Slide Number Placeholder 4">
            <a:extLst>
              <a:ext uri="{FF2B5EF4-FFF2-40B4-BE49-F238E27FC236}">
                <a16:creationId xmlns:a16="http://schemas.microsoft.com/office/drawing/2014/main" id="{5960F99B-9C67-EAFB-0E1C-20F046AF6BF5}"/>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14</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D404CB1D-A065-7B0D-AB94-F1150DD86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8" name="TextBox 7">
            <a:extLst>
              <a:ext uri="{FF2B5EF4-FFF2-40B4-BE49-F238E27FC236}">
                <a16:creationId xmlns:a16="http://schemas.microsoft.com/office/drawing/2014/main" id="{42C1A0FE-74F2-677F-79EF-5870078995D7}"/>
              </a:ext>
            </a:extLst>
          </p:cNvPr>
          <p:cNvSpPr txBox="1"/>
          <p:nvPr/>
        </p:nvSpPr>
        <p:spPr>
          <a:xfrm>
            <a:off x="4953594" y="3390027"/>
            <a:ext cx="6052457" cy="1015663"/>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lvl="3"/>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Call the procedure with parameters</a:t>
            </a:r>
            <a:endParaRPr lang="en-US" sz="1200" i="1" dirty="0">
              <a:highlight>
                <a:srgbClr val="C0C0C0"/>
              </a:highlight>
              <a:latin typeface="Tahoma" panose="020B0604030504040204" pitchFamily="34" charset="0"/>
              <a:ea typeface="Tahoma" panose="020B0604030504040204" pitchFamily="34" charset="0"/>
              <a:cs typeface="Tahoma" panose="020B0604030504040204" pitchFamily="34" charset="0"/>
            </a:endParaRPr>
          </a:p>
          <a:p>
            <a:pPr lvl="3"/>
            <a:r>
              <a:rPr lang="en-US" sz="1200" dirty="0">
                <a:latin typeface="Tahoma" panose="020B0604030504040204" pitchFamily="34" charset="0"/>
                <a:ea typeface="Tahoma" panose="020B0604030504040204" pitchFamily="34" charset="0"/>
                <a:cs typeface="Tahoma" panose="020B0604030504040204" pitchFamily="34" charset="0"/>
              </a:rPr>
              <a:t>BEGIN</a:t>
            </a:r>
          </a:p>
          <a:p>
            <a:pPr lvl="3"/>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update_student_age</a:t>
            </a:r>
            <a:r>
              <a:rPr lang="en-US" sz="1200" dirty="0">
                <a:latin typeface="Tahoma" panose="020B0604030504040204" pitchFamily="34" charset="0"/>
                <a:ea typeface="Tahoma" panose="020B0604030504040204" pitchFamily="34" charset="0"/>
                <a:cs typeface="Tahoma" panose="020B0604030504040204" pitchFamily="34" charset="0"/>
              </a:rPr>
              <a:t>(2, 17); </a:t>
            </a:r>
            <a:r>
              <a:rPr lang="en-US" sz="1200" i="1" dirty="0">
                <a:highlight>
                  <a:srgbClr val="C0C0C0"/>
                </a:highlight>
                <a:latin typeface="Tahoma" panose="020B0604030504040204" pitchFamily="34" charset="0"/>
                <a:ea typeface="Tahoma" panose="020B0604030504040204" pitchFamily="34" charset="0"/>
                <a:cs typeface="Tahoma" panose="020B0604030504040204" pitchFamily="34" charset="0"/>
              </a:rPr>
              <a:t>-- This will trigger a rollback</a:t>
            </a:r>
          </a:p>
          <a:p>
            <a:pPr lvl="3"/>
            <a:r>
              <a:rPr lang="en-US" sz="1200" dirty="0">
                <a:latin typeface="Tahoma" panose="020B0604030504040204" pitchFamily="34" charset="0"/>
                <a:ea typeface="Tahoma" panose="020B0604030504040204" pitchFamily="34" charset="0"/>
                <a:cs typeface="Tahoma" panose="020B0604030504040204" pitchFamily="34" charset="0"/>
              </a:rPr>
              <a:t>END;</a:t>
            </a:r>
          </a:p>
          <a:p>
            <a:pPr lvl="3"/>
            <a:r>
              <a:rPr lang="en-US" sz="1200" dirty="0">
                <a:latin typeface="Tahoma" panose="020B0604030504040204" pitchFamily="34" charset="0"/>
                <a:ea typeface="Tahoma" panose="020B0604030504040204" pitchFamily="34" charset="0"/>
                <a:cs typeface="Tahoma" panose="020B0604030504040204" pitchFamily="34" charset="0"/>
              </a:rPr>
              <a:t>/</a:t>
            </a:r>
          </a:p>
        </p:txBody>
      </p:sp>
      <p:sp>
        <p:nvSpPr>
          <p:cNvPr id="2" name="TextBox 1">
            <a:extLst>
              <a:ext uri="{FF2B5EF4-FFF2-40B4-BE49-F238E27FC236}">
                <a16:creationId xmlns:a16="http://schemas.microsoft.com/office/drawing/2014/main" id="{6868AC82-EB3A-188D-A78B-828DDF41ADA4}"/>
              </a:ext>
            </a:extLst>
          </p:cNvPr>
          <p:cNvSpPr txBox="1"/>
          <p:nvPr/>
        </p:nvSpPr>
        <p:spPr>
          <a:xfrm>
            <a:off x="123824" y="1687354"/>
            <a:ext cx="6052457" cy="517064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100" dirty="0">
                <a:latin typeface="Tahoma" panose="020B0604030504040204" pitchFamily="34" charset="0"/>
                <a:ea typeface="Tahoma" panose="020B0604030504040204" pitchFamily="34" charset="0"/>
                <a:cs typeface="Tahoma" panose="020B0604030504040204" pitchFamily="34" charset="0"/>
              </a:rPr>
              <a:t>CREATE OR REPLACE PROCEDURE </a:t>
            </a:r>
            <a:r>
              <a:rPr lang="en-CA" sz="1100" dirty="0" err="1">
                <a:latin typeface="Tahoma" panose="020B0604030504040204" pitchFamily="34" charset="0"/>
                <a:ea typeface="Tahoma" panose="020B0604030504040204" pitchFamily="34" charset="0"/>
                <a:cs typeface="Tahoma" panose="020B0604030504040204" pitchFamily="34" charset="0"/>
              </a:rPr>
              <a:t>update_student_age</a:t>
            </a:r>
            <a:r>
              <a:rPr lang="en-CA" sz="1100" dirty="0">
                <a:latin typeface="Tahoma" panose="020B0604030504040204" pitchFamily="34" charset="0"/>
                <a:ea typeface="Tahoma" panose="020B0604030504040204" pitchFamily="34" charset="0"/>
                <a:cs typeface="Tahoma" panose="020B0604030504040204" pitchFamily="34" charset="0"/>
              </a:rPr>
              <a:t> (</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p_student_id</a:t>
            </a:r>
            <a:r>
              <a:rPr lang="en-CA" sz="1100" dirty="0">
                <a:latin typeface="Tahoma" panose="020B0604030504040204" pitchFamily="34" charset="0"/>
                <a:ea typeface="Tahoma" panose="020B0604030504040204" pitchFamily="34" charset="0"/>
                <a:cs typeface="Tahoma" panose="020B0604030504040204" pitchFamily="34" charset="0"/>
              </a:rPr>
              <a:t> IN NUMBER,</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p_new_age</a:t>
            </a:r>
            <a:r>
              <a:rPr lang="en-CA" sz="1100" dirty="0">
                <a:latin typeface="Tahoma" panose="020B0604030504040204" pitchFamily="34" charset="0"/>
                <a:ea typeface="Tahoma" panose="020B0604030504040204" pitchFamily="34" charset="0"/>
                <a:cs typeface="Tahoma" panose="020B0604030504040204" pitchFamily="34" charset="0"/>
              </a:rPr>
              <a:t> IN NUMBER</a:t>
            </a:r>
          </a:p>
          <a:p>
            <a:r>
              <a:rPr lang="en-CA" sz="1100" dirty="0">
                <a:latin typeface="Tahoma" panose="020B0604030504040204" pitchFamily="34" charset="0"/>
                <a:ea typeface="Tahoma" panose="020B0604030504040204" pitchFamily="34" charset="0"/>
                <a:cs typeface="Tahoma" panose="020B0604030504040204" pitchFamily="34" charset="0"/>
              </a:rPr>
              <a:t>) AS</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insufficient_age</a:t>
            </a:r>
            <a:r>
              <a:rPr lang="en-CA" sz="1100" dirty="0">
                <a:latin typeface="Tahoma" panose="020B0604030504040204" pitchFamily="34" charset="0"/>
                <a:ea typeface="Tahoma" panose="020B0604030504040204" pitchFamily="34" charset="0"/>
                <a:cs typeface="Tahoma" panose="020B0604030504040204" pitchFamily="34" charset="0"/>
              </a:rPr>
              <a:t> EXCEPTION;</a:t>
            </a:r>
          </a:p>
          <a:p>
            <a:r>
              <a:rPr lang="en-CA" sz="1100" dirty="0">
                <a:latin typeface="Tahoma" panose="020B0604030504040204" pitchFamily="34" charset="0"/>
                <a:ea typeface="Tahoma" panose="020B0604030504040204" pitchFamily="34" charset="0"/>
                <a:cs typeface="Tahoma" panose="020B0604030504040204" pitchFamily="34" charset="0"/>
              </a:rPr>
              <a:t>    PRAGMA EXCEPTION_INIT(</a:t>
            </a:r>
            <a:r>
              <a:rPr lang="en-CA" sz="1100" dirty="0" err="1">
                <a:latin typeface="Tahoma" panose="020B0604030504040204" pitchFamily="34" charset="0"/>
                <a:ea typeface="Tahoma" panose="020B0604030504040204" pitchFamily="34" charset="0"/>
                <a:cs typeface="Tahoma" panose="020B0604030504040204" pitchFamily="34" charset="0"/>
              </a:rPr>
              <a:t>insufficient_age</a:t>
            </a:r>
            <a:r>
              <a:rPr lang="en-CA" sz="1100" dirty="0">
                <a:latin typeface="Tahoma" panose="020B0604030504040204" pitchFamily="34" charset="0"/>
                <a:ea typeface="Tahoma" panose="020B0604030504040204" pitchFamily="34" charset="0"/>
                <a:cs typeface="Tahoma" panose="020B0604030504040204" pitchFamily="34" charset="0"/>
              </a:rPr>
              <a:t>, -20002);</a:t>
            </a:r>
          </a:p>
          <a:p>
            <a:r>
              <a:rPr lang="en-CA" sz="1100" dirty="0">
                <a:latin typeface="Tahoma" panose="020B0604030504040204" pitchFamily="34" charset="0"/>
                <a:ea typeface="Tahoma" panose="020B0604030504040204" pitchFamily="34" charset="0"/>
                <a:cs typeface="Tahoma" panose="020B0604030504040204" pitchFamily="34" charset="0"/>
              </a:rPr>
              <a:t>BEGIN</a:t>
            </a:r>
          </a:p>
          <a:p>
            <a:r>
              <a:rPr lang="en-CA" sz="1100" dirty="0">
                <a:latin typeface="Tahoma" panose="020B0604030504040204" pitchFamily="34" charset="0"/>
                <a:ea typeface="Tahoma" panose="020B0604030504040204" pitchFamily="34" charset="0"/>
                <a:cs typeface="Tahoma" panose="020B0604030504040204" pitchFamily="34" charset="0"/>
              </a:rPr>
              <a:t>    SAVEPOINT </a:t>
            </a:r>
            <a:r>
              <a:rPr lang="en-CA" sz="1100" dirty="0" err="1">
                <a:latin typeface="Tahoma" panose="020B0604030504040204" pitchFamily="34" charset="0"/>
                <a:ea typeface="Tahoma" panose="020B0604030504040204" pitchFamily="34" charset="0"/>
                <a:cs typeface="Tahoma" panose="020B0604030504040204" pitchFamily="34" charset="0"/>
              </a:rPr>
              <a:t>before_update</a:t>
            </a:r>
            <a:r>
              <a:rPr lang="en-CA" sz="1100" dirty="0">
                <a:latin typeface="Tahoma" panose="020B0604030504040204" pitchFamily="34" charset="0"/>
                <a:ea typeface="Tahoma" panose="020B0604030504040204" pitchFamily="34" charset="0"/>
                <a:cs typeface="Tahoma" panose="020B0604030504040204" pitchFamily="34" charset="0"/>
              </a:rPr>
              <a:t>;</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highlight>
                  <a:srgbClr val="C0C0C0"/>
                </a:highlight>
                <a:latin typeface="Tahoma" panose="020B0604030504040204" pitchFamily="34" charset="0"/>
                <a:ea typeface="Tahoma" panose="020B0604030504040204" pitchFamily="34" charset="0"/>
                <a:cs typeface="Tahoma" panose="020B0604030504040204" pitchFamily="34" charset="0"/>
              </a:rPr>
              <a:t>    -- Update the student's age</a:t>
            </a:r>
          </a:p>
          <a:p>
            <a:r>
              <a:rPr lang="en-CA" sz="1100" dirty="0">
                <a:latin typeface="Tahoma" panose="020B0604030504040204" pitchFamily="34" charset="0"/>
                <a:ea typeface="Tahoma" panose="020B0604030504040204" pitchFamily="34" charset="0"/>
                <a:cs typeface="Tahoma" panose="020B0604030504040204" pitchFamily="34" charset="0"/>
              </a:rPr>
              <a:t>    UPDATE students </a:t>
            </a:r>
          </a:p>
          <a:p>
            <a:r>
              <a:rPr lang="en-CA" sz="1100" dirty="0">
                <a:latin typeface="Tahoma" panose="020B0604030504040204" pitchFamily="34" charset="0"/>
                <a:ea typeface="Tahoma" panose="020B0604030504040204" pitchFamily="34" charset="0"/>
                <a:cs typeface="Tahoma" panose="020B0604030504040204" pitchFamily="34" charset="0"/>
              </a:rPr>
              <a:t>    SET age = </a:t>
            </a:r>
            <a:r>
              <a:rPr lang="en-CA" sz="1100" dirty="0" err="1">
                <a:latin typeface="Tahoma" panose="020B0604030504040204" pitchFamily="34" charset="0"/>
                <a:ea typeface="Tahoma" panose="020B0604030504040204" pitchFamily="34" charset="0"/>
                <a:cs typeface="Tahoma" panose="020B0604030504040204" pitchFamily="34" charset="0"/>
              </a:rPr>
              <a:t>p_new_age</a:t>
            </a:r>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    WHERE </a:t>
            </a:r>
            <a:r>
              <a:rPr lang="en-CA" sz="1100" dirty="0" err="1">
                <a:latin typeface="Tahoma" panose="020B0604030504040204" pitchFamily="34" charset="0"/>
                <a:ea typeface="Tahoma" panose="020B0604030504040204" pitchFamily="34" charset="0"/>
                <a:cs typeface="Tahoma" panose="020B0604030504040204" pitchFamily="34" charset="0"/>
              </a:rPr>
              <a:t>student_id</a:t>
            </a:r>
            <a:r>
              <a:rPr lang="en-CA" sz="1100" dirty="0">
                <a:latin typeface="Tahoma" panose="020B0604030504040204" pitchFamily="34" charset="0"/>
                <a:ea typeface="Tahoma" panose="020B0604030504040204" pitchFamily="34" charset="0"/>
                <a:cs typeface="Tahoma" panose="020B0604030504040204" pitchFamily="34" charset="0"/>
              </a:rPr>
              <a:t> = </a:t>
            </a:r>
            <a:r>
              <a:rPr lang="en-CA" sz="1100" dirty="0" err="1">
                <a:latin typeface="Tahoma" panose="020B0604030504040204" pitchFamily="34" charset="0"/>
                <a:ea typeface="Tahoma" panose="020B0604030504040204" pitchFamily="34" charset="0"/>
                <a:cs typeface="Tahoma" panose="020B0604030504040204" pitchFamily="34" charset="0"/>
              </a:rPr>
              <a:t>p_student_id</a:t>
            </a:r>
            <a:r>
              <a:rPr lang="en-CA" sz="1100" dirty="0">
                <a:latin typeface="Tahoma" panose="020B0604030504040204" pitchFamily="34" charset="0"/>
                <a:ea typeface="Tahoma" panose="020B0604030504040204" pitchFamily="34" charset="0"/>
                <a:cs typeface="Tahoma" panose="020B0604030504040204" pitchFamily="34" charset="0"/>
              </a:rPr>
              <a:t>;</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highlight>
                  <a:srgbClr val="C0C0C0"/>
                </a:highlight>
                <a:latin typeface="Tahoma" panose="020B0604030504040204" pitchFamily="34" charset="0"/>
                <a:ea typeface="Tahoma" panose="020B0604030504040204" pitchFamily="34" charset="0"/>
                <a:cs typeface="Tahoma" panose="020B0604030504040204" pitchFamily="34" charset="0"/>
              </a:rPr>
              <a:t>    -- Check if age is below the allowed limit (18)</a:t>
            </a:r>
          </a:p>
          <a:p>
            <a:r>
              <a:rPr lang="en-CA" sz="1100" dirty="0">
                <a:latin typeface="Tahoma" panose="020B0604030504040204" pitchFamily="34" charset="0"/>
                <a:ea typeface="Tahoma" panose="020B0604030504040204" pitchFamily="34" charset="0"/>
                <a:cs typeface="Tahoma" panose="020B0604030504040204" pitchFamily="34" charset="0"/>
              </a:rPr>
              <a:t>    IF </a:t>
            </a:r>
            <a:r>
              <a:rPr lang="en-CA" sz="1100" dirty="0" err="1">
                <a:latin typeface="Tahoma" panose="020B0604030504040204" pitchFamily="34" charset="0"/>
                <a:ea typeface="Tahoma" panose="020B0604030504040204" pitchFamily="34" charset="0"/>
                <a:cs typeface="Tahoma" panose="020B0604030504040204" pitchFamily="34" charset="0"/>
              </a:rPr>
              <a:t>p_new_age</a:t>
            </a:r>
            <a:r>
              <a:rPr lang="en-CA" sz="1100" dirty="0">
                <a:latin typeface="Tahoma" panose="020B0604030504040204" pitchFamily="34" charset="0"/>
                <a:ea typeface="Tahoma" panose="020B0604030504040204" pitchFamily="34" charset="0"/>
                <a:cs typeface="Tahoma" panose="020B0604030504040204" pitchFamily="34" charset="0"/>
              </a:rPr>
              <a:t> &lt; 18 THEN</a:t>
            </a:r>
          </a:p>
          <a:p>
            <a:r>
              <a:rPr lang="en-CA" sz="1100" dirty="0">
                <a:latin typeface="Tahoma" panose="020B0604030504040204" pitchFamily="34" charset="0"/>
                <a:ea typeface="Tahoma" panose="020B0604030504040204" pitchFamily="34" charset="0"/>
                <a:cs typeface="Tahoma" panose="020B0604030504040204" pitchFamily="34" charset="0"/>
              </a:rPr>
              <a:t>        RAISE_APPLICATION_ERROR(-20002, 'Age cannot be below 18.');</a:t>
            </a:r>
          </a:p>
          <a:p>
            <a:r>
              <a:rPr lang="en-CA" sz="1100" dirty="0">
                <a:latin typeface="Tahoma" panose="020B0604030504040204" pitchFamily="34" charset="0"/>
                <a:ea typeface="Tahoma" panose="020B0604030504040204" pitchFamily="34" charset="0"/>
                <a:cs typeface="Tahoma" panose="020B0604030504040204" pitchFamily="34" charset="0"/>
              </a:rPr>
              <a:t>    END IF;</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    COMMIT; </a:t>
            </a:r>
            <a:r>
              <a:rPr lang="en-CA" sz="1100" dirty="0">
                <a:highlight>
                  <a:srgbClr val="C0C0C0"/>
                </a:highlight>
                <a:latin typeface="Tahoma" panose="020B0604030504040204" pitchFamily="34" charset="0"/>
                <a:ea typeface="Tahoma" panose="020B0604030504040204" pitchFamily="34" charset="0"/>
                <a:cs typeface="Tahoma" panose="020B0604030504040204" pitchFamily="34" charset="0"/>
              </a:rPr>
              <a:t>-- Commit the transaction if successful</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DBMS_OUTPUT.PUT_LINE('Update successful.');</a:t>
            </a:r>
          </a:p>
          <a:p>
            <a:r>
              <a:rPr lang="en-CA" sz="1100" dirty="0">
                <a:latin typeface="Tahoma" panose="020B0604030504040204" pitchFamily="34" charset="0"/>
                <a:ea typeface="Tahoma" panose="020B0604030504040204" pitchFamily="34" charset="0"/>
                <a:cs typeface="Tahoma" panose="020B0604030504040204" pitchFamily="34" charset="0"/>
              </a:rPr>
              <a:t>EXCEPTION</a:t>
            </a:r>
          </a:p>
          <a:p>
            <a:r>
              <a:rPr lang="en-CA" sz="1100" dirty="0">
                <a:latin typeface="Tahoma" panose="020B0604030504040204" pitchFamily="34" charset="0"/>
                <a:ea typeface="Tahoma" panose="020B0604030504040204" pitchFamily="34" charset="0"/>
                <a:cs typeface="Tahoma" panose="020B0604030504040204" pitchFamily="34" charset="0"/>
              </a:rPr>
              <a:t>    WHEN </a:t>
            </a:r>
            <a:r>
              <a:rPr lang="en-CA" sz="1100" dirty="0" err="1">
                <a:latin typeface="Tahoma" panose="020B0604030504040204" pitchFamily="34" charset="0"/>
                <a:ea typeface="Tahoma" panose="020B0604030504040204" pitchFamily="34" charset="0"/>
                <a:cs typeface="Tahoma" panose="020B0604030504040204" pitchFamily="34" charset="0"/>
              </a:rPr>
              <a:t>insufficient_age</a:t>
            </a:r>
            <a:r>
              <a:rPr lang="en-CA" sz="1100" dirty="0">
                <a:latin typeface="Tahoma" panose="020B0604030504040204" pitchFamily="34" charset="0"/>
                <a:ea typeface="Tahoma" panose="020B0604030504040204" pitchFamily="34" charset="0"/>
                <a:cs typeface="Tahoma" panose="020B0604030504040204" pitchFamily="34" charset="0"/>
              </a:rPr>
              <a:t> THEN</a:t>
            </a:r>
          </a:p>
          <a:p>
            <a:r>
              <a:rPr lang="en-CA" sz="1100" dirty="0">
                <a:latin typeface="Tahoma" panose="020B0604030504040204" pitchFamily="34" charset="0"/>
                <a:ea typeface="Tahoma" panose="020B0604030504040204" pitchFamily="34" charset="0"/>
                <a:cs typeface="Tahoma" panose="020B0604030504040204" pitchFamily="34" charset="0"/>
              </a:rPr>
              <a:t>        ROLLBACK TO </a:t>
            </a:r>
            <a:r>
              <a:rPr lang="en-CA" sz="1100" dirty="0" err="1">
                <a:latin typeface="Tahoma" panose="020B0604030504040204" pitchFamily="34" charset="0"/>
                <a:ea typeface="Tahoma" panose="020B0604030504040204" pitchFamily="34" charset="0"/>
                <a:cs typeface="Tahoma" panose="020B0604030504040204" pitchFamily="34" charset="0"/>
              </a:rPr>
              <a:t>before_update</a:t>
            </a:r>
            <a:r>
              <a:rPr lang="en-CA" sz="1100" dirty="0">
                <a:latin typeface="Tahoma" panose="020B0604030504040204" pitchFamily="34" charset="0"/>
                <a:ea typeface="Tahoma" panose="020B0604030504040204" pitchFamily="34" charset="0"/>
                <a:cs typeface="Tahoma" panose="020B0604030504040204" pitchFamily="34" charset="0"/>
              </a:rPr>
              <a:t>;</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DBMS_OUTPUT.PUT_LINE('Transaction rolled back: ' || SQLERRM);</a:t>
            </a:r>
          </a:p>
          <a:p>
            <a:r>
              <a:rPr lang="en-CA" sz="1100" dirty="0">
                <a:latin typeface="Tahoma" panose="020B0604030504040204" pitchFamily="34" charset="0"/>
                <a:ea typeface="Tahoma" panose="020B0604030504040204" pitchFamily="34" charset="0"/>
                <a:cs typeface="Tahoma" panose="020B0604030504040204" pitchFamily="34" charset="0"/>
              </a:rPr>
              <a:t>    WHEN OTHERS THEN</a:t>
            </a:r>
          </a:p>
          <a:p>
            <a:r>
              <a:rPr lang="en-CA" sz="1100" dirty="0">
                <a:latin typeface="Tahoma" panose="020B0604030504040204" pitchFamily="34" charset="0"/>
                <a:ea typeface="Tahoma" panose="020B0604030504040204" pitchFamily="34" charset="0"/>
                <a:cs typeface="Tahoma" panose="020B0604030504040204" pitchFamily="34" charset="0"/>
              </a:rPr>
              <a:t>        ROLLBACK;</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DBMS_OUTPUT.PUT_LINE('Unexpected error: ' || SQLERRM);</a:t>
            </a:r>
          </a:p>
          <a:p>
            <a:r>
              <a:rPr lang="en-CA" sz="1100" dirty="0">
                <a:latin typeface="Tahoma" panose="020B0604030504040204" pitchFamily="34" charset="0"/>
                <a:ea typeface="Tahoma" panose="020B0604030504040204" pitchFamily="34" charset="0"/>
                <a:cs typeface="Tahoma" panose="020B0604030504040204" pitchFamily="34" charset="0"/>
              </a:rPr>
              <a:t>END;</a:t>
            </a:r>
          </a:p>
          <a:p>
            <a:r>
              <a:rPr lang="en-CA" sz="11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1793433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23E19E-A80B-7640-7D0C-6839293CDB5E}"/>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F84A2F65-CE71-7E30-53A0-9EAA6B5AC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DAB5F604-0EC4-ECA5-1D70-A46B21898C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83EB978B-832B-272F-903B-34BFA283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B3518473-5B8E-3523-2621-7988AB1F3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Freeform: Shape 125">
            <a:extLst>
              <a:ext uri="{FF2B5EF4-FFF2-40B4-BE49-F238E27FC236}">
                <a16:creationId xmlns:a16="http://schemas.microsoft.com/office/drawing/2014/main" id="{A2B62BB9-FF7B-55EB-9732-4201235A50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2">
            <a:extLst>
              <a:ext uri="{FF2B5EF4-FFF2-40B4-BE49-F238E27FC236}">
                <a16:creationId xmlns:a16="http://schemas.microsoft.com/office/drawing/2014/main" id="{EAD26537-15E4-6F55-EE13-BA11B753B68D}"/>
              </a:ext>
            </a:extLst>
          </p:cNvPr>
          <p:cNvSpPr>
            <a:spLocks noGrp="1"/>
          </p:cNvSpPr>
          <p:nvPr>
            <p:ph type="ctrTitle"/>
          </p:nvPr>
        </p:nvSpPr>
        <p:spPr>
          <a:xfrm>
            <a:off x="354105" y="2767106"/>
            <a:ext cx="3477666" cy="3071906"/>
          </a:xfrm>
        </p:spPr>
        <p:txBody>
          <a:bodyPr vert="horz" lIns="91440" tIns="45720" rIns="91440" bIns="45720" rtlCol="0" anchor="t">
            <a:normAutofit/>
          </a:bodyPr>
          <a:lstStyle/>
          <a:p>
            <a:pPr algn="l"/>
            <a:r>
              <a:rPr lang="en-CA" sz="2800" b="1" dirty="0">
                <a:solidFill>
                  <a:srgbClr val="FFFFFF"/>
                </a:solidFill>
                <a:latin typeface="Tahoma" panose="020B0604030504040204" pitchFamily="34" charset="0"/>
                <a:ea typeface="Tahoma" panose="020B0604030504040204" pitchFamily="34" charset="0"/>
                <a:cs typeface="Tahoma" panose="020B0604030504040204" pitchFamily="34" charset="0"/>
              </a:rPr>
              <a:t>P</a:t>
            </a:r>
            <a:r>
              <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arameterized PL/SQL procedure to handle updates with error handling and rollback</a:t>
            </a:r>
          </a:p>
        </p:txBody>
      </p:sp>
      <p:sp>
        <p:nvSpPr>
          <p:cNvPr id="5" name="Slide Number Placeholder 4">
            <a:extLst>
              <a:ext uri="{FF2B5EF4-FFF2-40B4-BE49-F238E27FC236}">
                <a16:creationId xmlns:a16="http://schemas.microsoft.com/office/drawing/2014/main" id="{CE24060D-8ADE-8E82-ACE3-BAA999694FEE}"/>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15</a:t>
            </a:fld>
            <a:endParaRPr lang="en-US" sz="1100" dirty="0">
              <a:solidFill>
                <a:schemeClr val="tx1">
                  <a:lumMod val="50000"/>
                  <a:lumOff val="50000"/>
                </a:schemeClr>
              </a:solidFill>
            </a:endParaRPr>
          </a:p>
        </p:txBody>
      </p:sp>
      <p:sp>
        <p:nvSpPr>
          <p:cNvPr id="6" name="TextBox 5">
            <a:extLst>
              <a:ext uri="{FF2B5EF4-FFF2-40B4-BE49-F238E27FC236}">
                <a16:creationId xmlns:a16="http://schemas.microsoft.com/office/drawing/2014/main" id="{3FB9EC17-57DA-93FE-EC02-40B4B9F3735A}"/>
              </a:ext>
            </a:extLst>
          </p:cNvPr>
          <p:cNvSpPr txBox="1"/>
          <p:nvPr/>
        </p:nvSpPr>
        <p:spPr>
          <a:xfrm>
            <a:off x="4072354" y="206701"/>
            <a:ext cx="6096000" cy="563231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CREATE OR REPLACE PROCEDURE </a:t>
            </a:r>
            <a:r>
              <a:rPr lang="en-CA" sz="1200" dirty="0" err="1">
                <a:latin typeface="Tahoma" panose="020B0604030504040204" pitchFamily="34" charset="0"/>
                <a:ea typeface="Tahoma" panose="020B0604030504040204" pitchFamily="34" charset="0"/>
                <a:cs typeface="Tahoma" panose="020B0604030504040204" pitchFamily="34" charset="0"/>
              </a:rPr>
              <a:t>update_student_age</a:t>
            </a:r>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p_student_id</a:t>
            </a:r>
            <a:r>
              <a:rPr lang="en-CA" sz="1200" dirty="0">
                <a:latin typeface="Tahoma" panose="020B0604030504040204" pitchFamily="34" charset="0"/>
                <a:ea typeface="Tahoma" panose="020B0604030504040204" pitchFamily="34" charset="0"/>
                <a:cs typeface="Tahoma" panose="020B0604030504040204" pitchFamily="34" charset="0"/>
              </a:rPr>
              <a:t> IN NUMBER,</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p_new_age</a:t>
            </a:r>
            <a:r>
              <a:rPr lang="en-CA" sz="1200" dirty="0">
                <a:latin typeface="Tahoma" panose="020B0604030504040204" pitchFamily="34" charset="0"/>
                <a:ea typeface="Tahoma" panose="020B0604030504040204" pitchFamily="34" charset="0"/>
                <a:cs typeface="Tahoma" panose="020B0604030504040204" pitchFamily="34" charset="0"/>
              </a:rPr>
              <a:t> IN NUMBER</a:t>
            </a:r>
          </a:p>
          <a:p>
            <a:r>
              <a:rPr lang="en-CA" sz="1200" dirty="0">
                <a:latin typeface="Tahoma" panose="020B0604030504040204" pitchFamily="34" charset="0"/>
                <a:ea typeface="Tahoma" panose="020B0604030504040204" pitchFamily="34" charset="0"/>
                <a:cs typeface="Tahoma" panose="020B0604030504040204" pitchFamily="34" charset="0"/>
              </a:rPr>
              <a:t>) AS</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insufficient_age</a:t>
            </a:r>
            <a:r>
              <a:rPr lang="en-CA" sz="1200" dirty="0">
                <a:latin typeface="Tahoma" panose="020B0604030504040204" pitchFamily="34" charset="0"/>
                <a:ea typeface="Tahoma" panose="020B0604030504040204" pitchFamily="34" charset="0"/>
                <a:cs typeface="Tahoma" panose="020B0604030504040204" pitchFamily="34" charset="0"/>
              </a:rPr>
              <a:t> EXCEPTION;</a:t>
            </a:r>
          </a:p>
          <a:p>
            <a:r>
              <a:rPr lang="en-CA" sz="1200" dirty="0">
                <a:latin typeface="Tahoma" panose="020B0604030504040204" pitchFamily="34" charset="0"/>
                <a:ea typeface="Tahoma" panose="020B0604030504040204" pitchFamily="34" charset="0"/>
                <a:cs typeface="Tahoma" panose="020B0604030504040204" pitchFamily="34" charset="0"/>
              </a:rPr>
              <a:t>    PRAGMA EXCEPTION_INIT(</a:t>
            </a:r>
            <a:r>
              <a:rPr lang="en-CA" sz="1200" dirty="0" err="1">
                <a:solidFill>
                  <a:srgbClr val="FF0000"/>
                </a:solidFill>
                <a:latin typeface="Tahoma" panose="020B0604030504040204" pitchFamily="34" charset="0"/>
                <a:ea typeface="Tahoma" panose="020B0604030504040204" pitchFamily="34" charset="0"/>
                <a:cs typeface="Tahoma" panose="020B0604030504040204" pitchFamily="34" charset="0"/>
              </a:rPr>
              <a:t>insufficient_age</a:t>
            </a:r>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a:solidFill>
                  <a:srgbClr val="92D050"/>
                </a:solidFill>
                <a:latin typeface="Tahoma" panose="020B0604030504040204" pitchFamily="34" charset="0"/>
                <a:ea typeface="Tahoma" panose="020B0604030504040204" pitchFamily="34" charset="0"/>
                <a:cs typeface="Tahoma" panose="020B0604030504040204" pitchFamily="34" charset="0"/>
              </a:rPr>
              <a:t>-20002</a:t>
            </a:r>
            <a:r>
              <a:rPr lang="en-CA" sz="1200" dirty="0">
                <a:latin typeface="Tahoma" panose="020B0604030504040204" pitchFamily="34" charset="0"/>
                <a:ea typeface="Tahoma" panose="020B0604030504040204" pitchFamily="34" charset="0"/>
                <a:cs typeface="Tahoma" panose="020B0604030504040204" pitchFamily="34" charset="0"/>
              </a:rPr>
              <a:t>);</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dirty="0">
                <a:latin typeface="Tahoma" panose="020B0604030504040204" pitchFamily="34" charset="0"/>
                <a:ea typeface="Tahoma" panose="020B0604030504040204" pitchFamily="34" charset="0"/>
                <a:cs typeface="Tahoma" panose="020B0604030504040204" pitchFamily="34" charset="0"/>
              </a:rPr>
              <a:t>    SAVEPOINT </a:t>
            </a:r>
            <a:r>
              <a:rPr lang="en-CA" sz="1200" dirty="0" err="1">
                <a:latin typeface="Tahoma" panose="020B0604030504040204" pitchFamily="34" charset="0"/>
                <a:ea typeface="Tahoma" panose="020B0604030504040204" pitchFamily="34" charset="0"/>
                <a:cs typeface="Tahoma" panose="020B0604030504040204" pitchFamily="34" charset="0"/>
              </a:rPr>
              <a:t>before_update</a:t>
            </a:r>
            <a:r>
              <a:rPr lang="en-CA" sz="1200" dirty="0">
                <a:latin typeface="Tahoma" panose="020B0604030504040204" pitchFamily="34" charset="0"/>
                <a:ea typeface="Tahoma" panose="020B0604030504040204" pitchFamily="34" charset="0"/>
                <a:cs typeface="Tahoma" panose="020B0604030504040204" pitchFamily="34" charset="0"/>
              </a:rPr>
              <a:t>;</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Update the student's age</a:t>
            </a:r>
          </a:p>
          <a:p>
            <a:r>
              <a:rPr lang="en-CA" sz="1200" dirty="0">
                <a:latin typeface="Tahoma" panose="020B0604030504040204" pitchFamily="34" charset="0"/>
                <a:ea typeface="Tahoma" panose="020B0604030504040204" pitchFamily="34" charset="0"/>
                <a:cs typeface="Tahoma" panose="020B0604030504040204" pitchFamily="34" charset="0"/>
              </a:rPr>
              <a:t>    UPDATE students </a:t>
            </a:r>
          </a:p>
          <a:p>
            <a:r>
              <a:rPr lang="en-CA" sz="1200" dirty="0">
                <a:latin typeface="Tahoma" panose="020B0604030504040204" pitchFamily="34" charset="0"/>
                <a:ea typeface="Tahoma" panose="020B0604030504040204" pitchFamily="34" charset="0"/>
                <a:cs typeface="Tahoma" panose="020B0604030504040204" pitchFamily="34" charset="0"/>
              </a:rPr>
              <a:t>    SET age = </a:t>
            </a:r>
            <a:r>
              <a:rPr lang="en-CA" sz="1200" dirty="0" err="1">
                <a:latin typeface="Tahoma" panose="020B0604030504040204" pitchFamily="34" charset="0"/>
                <a:ea typeface="Tahoma" panose="020B0604030504040204" pitchFamily="34" charset="0"/>
                <a:cs typeface="Tahoma" panose="020B0604030504040204" pitchFamily="34" charset="0"/>
              </a:rPr>
              <a:t>p_new_age</a:t>
            </a:r>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WHERE </a:t>
            </a:r>
            <a:r>
              <a:rPr lang="en-CA" sz="1200" dirty="0" err="1">
                <a:latin typeface="Tahoma" panose="020B0604030504040204" pitchFamily="34" charset="0"/>
                <a:ea typeface="Tahoma" panose="020B0604030504040204" pitchFamily="34" charset="0"/>
                <a:cs typeface="Tahoma" panose="020B0604030504040204" pitchFamily="34" charset="0"/>
              </a:rPr>
              <a:t>student_id</a:t>
            </a:r>
            <a:r>
              <a:rPr lang="en-CA" sz="1200" dirty="0">
                <a:latin typeface="Tahoma" panose="020B0604030504040204" pitchFamily="34" charset="0"/>
                <a:ea typeface="Tahoma" panose="020B0604030504040204" pitchFamily="34" charset="0"/>
                <a:cs typeface="Tahoma" panose="020B0604030504040204" pitchFamily="34" charset="0"/>
              </a:rPr>
              <a:t> = </a:t>
            </a:r>
            <a:r>
              <a:rPr lang="en-CA" sz="1200" dirty="0" err="1">
                <a:latin typeface="Tahoma" panose="020B0604030504040204" pitchFamily="34" charset="0"/>
                <a:ea typeface="Tahoma" panose="020B0604030504040204" pitchFamily="34" charset="0"/>
                <a:cs typeface="Tahoma" panose="020B0604030504040204" pitchFamily="34" charset="0"/>
              </a:rPr>
              <a:t>p_student_id</a:t>
            </a:r>
            <a:r>
              <a:rPr lang="en-CA" sz="1200" dirty="0">
                <a:latin typeface="Tahoma" panose="020B0604030504040204" pitchFamily="34" charset="0"/>
                <a:ea typeface="Tahoma" panose="020B0604030504040204" pitchFamily="34" charset="0"/>
                <a:cs typeface="Tahoma" panose="020B0604030504040204" pitchFamily="34" charset="0"/>
              </a:rPr>
              <a:t>;</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Check if age is below the allowed limit (18)</a:t>
            </a:r>
          </a:p>
          <a:p>
            <a:r>
              <a:rPr lang="en-CA" sz="1200" dirty="0">
                <a:latin typeface="Tahoma" panose="020B0604030504040204" pitchFamily="34" charset="0"/>
                <a:ea typeface="Tahoma" panose="020B0604030504040204" pitchFamily="34" charset="0"/>
                <a:cs typeface="Tahoma" panose="020B0604030504040204" pitchFamily="34" charset="0"/>
              </a:rPr>
              <a:t>    IF </a:t>
            </a:r>
            <a:r>
              <a:rPr lang="en-CA" sz="1200" dirty="0" err="1">
                <a:latin typeface="Tahoma" panose="020B0604030504040204" pitchFamily="34" charset="0"/>
                <a:ea typeface="Tahoma" panose="020B0604030504040204" pitchFamily="34" charset="0"/>
                <a:cs typeface="Tahoma" panose="020B0604030504040204" pitchFamily="34" charset="0"/>
              </a:rPr>
              <a:t>p_new_age</a:t>
            </a:r>
            <a:r>
              <a:rPr lang="en-CA" sz="1200" dirty="0">
                <a:latin typeface="Tahoma" panose="020B0604030504040204" pitchFamily="34" charset="0"/>
                <a:ea typeface="Tahoma" panose="020B0604030504040204" pitchFamily="34" charset="0"/>
                <a:cs typeface="Tahoma" panose="020B0604030504040204" pitchFamily="34" charset="0"/>
              </a:rPr>
              <a:t> &lt; 18 THEN</a:t>
            </a:r>
          </a:p>
          <a:p>
            <a:r>
              <a:rPr lang="en-CA" sz="1200" dirty="0">
                <a:latin typeface="Tahoma" panose="020B0604030504040204" pitchFamily="34" charset="0"/>
                <a:ea typeface="Tahoma" panose="020B0604030504040204" pitchFamily="34" charset="0"/>
                <a:cs typeface="Tahoma" panose="020B0604030504040204" pitchFamily="34" charset="0"/>
              </a:rPr>
              <a:t>        RAISE_APPLICATION_ERROR</a:t>
            </a:r>
            <a:r>
              <a:rPr lang="en-CA" sz="1200" dirty="0">
                <a:solidFill>
                  <a:srgbClr val="92D050"/>
                </a:solidFill>
                <a:latin typeface="Tahoma" panose="020B0604030504040204" pitchFamily="34" charset="0"/>
                <a:ea typeface="Tahoma" panose="020B0604030504040204" pitchFamily="34" charset="0"/>
                <a:cs typeface="Tahoma" panose="020B0604030504040204" pitchFamily="34" charset="0"/>
              </a:rPr>
              <a:t>(-20002</a:t>
            </a:r>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a:solidFill>
                  <a:srgbClr val="FF0000"/>
                </a:solidFill>
                <a:latin typeface="Tahoma" panose="020B0604030504040204" pitchFamily="34" charset="0"/>
                <a:ea typeface="Tahoma" panose="020B0604030504040204" pitchFamily="34" charset="0"/>
                <a:cs typeface="Tahoma" panose="020B0604030504040204" pitchFamily="34" charset="0"/>
              </a:rPr>
              <a:t>'Age cannot be below 18.');</a:t>
            </a:r>
          </a:p>
          <a:p>
            <a:r>
              <a:rPr lang="en-CA" sz="1200" dirty="0">
                <a:latin typeface="Tahoma" panose="020B0604030504040204" pitchFamily="34" charset="0"/>
                <a:ea typeface="Tahoma" panose="020B0604030504040204" pitchFamily="34" charset="0"/>
                <a:cs typeface="Tahoma" panose="020B0604030504040204" pitchFamily="34" charset="0"/>
              </a:rPr>
              <a:t>    END IF;</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COMMIT</a:t>
            </a:r>
            <a:r>
              <a:rPr lang="en-CA" sz="1200" i="1" dirty="0">
                <a:latin typeface="Tahoma" panose="020B0604030504040204" pitchFamily="34" charset="0"/>
                <a:ea typeface="Tahoma" panose="020B0604030504040204" pitchFamily="34" charset="0"/>
                <a:cs typeface="Tahoma" panose="020B0604030504040204" pitchFamily="34" charset="0"/>
              </a:rPr>
              <a:t>;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Commit the transaction if successful</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a:t>
            </a:r>
            <a:r>
              <a:rPr lang="en-CA" sz="1200" dirty="0">
                <a:solidFill>
                  <a:srgbClr val="FF0000"/>
                </a:solidFill>
                <a:latin typeface="Tahoma" panose="020B0604030504040204" pitchFamily="34" charset="0"/>
                <a:ea typeface="Tahoma" panose="020B0604030504040204" pitchFamily="34" charset="0"/>
                <a:cs typeface="Tahoma" panose="020B0604030504040204" pitchFamily="34" charset="0"/>
              </a:rPr>
              <a:t>'Update successful.');</a:t>
            </a:r>
          </a:p>
          <a:p>
            <a:r>
              <a:rPr lang="en-CA" sz="1200" dirty="0">
                <a:latin typeface="Tahoma" panose="020B0604030504040204" pitchFamily="34" charset="0"/>
                <a:ea typeface="Tahoma" panose="020B0604030504040204" pitchFamily="34" charset="0"/>
                <a:cs typeface="Tahoma" panose="020B0604030504040204" pitchFamily="34" charset="0"/>
              </a:rPr>
              <a:t>EXCEPTION</a:t>
            </a:r>
          </a:p>
          <a:p>
            <a:r>
              <a:rPr lang="en-CA" sz="1200" dirty="0">
                <a:latin typeface="Tahoma" panose="020B0604030504040204" pitchFamily="34" charset="0"/>
                <a:ea typeface="Tahoma" panose="020B0604030504040204" pitchFamily="34" charset="0"/>
                <a:cs typeface="Tahoma" panose="020B0604030504040204" pitchFamily="34" charset="0"/>
              </a:rPr>
              <a:t>    WHEN </a:t>
            </a:r>
            <a:r>
              <a:rPr lang="en-CA" sz="1200" dirty="0" err="1">
                <a:latin typeface="Tahoma" panose="020B0604030504040204" pitchFamily="34" charset="0"/>
                <a:ea typeface="Tahoma" panose="020B0604030504040204" pitchFamily="34" charset="0"/>
                <a:cs typeface="Tahoma" panose="020B0604030504040204" pitchFamily="34" charset="0"/>
              </a:rPr>
              <a:t>insufficient_age</a:t>
            </a:r>
            <a:r>
              <a:rPr lang="en-CA" sz="1200" dirty="0">
                <a:latin typeface="Tahoma" panose="020B0604030504040204" pitchFamily="34" charset="0"/>
                <a:ea typeface="Tahoma" panose="020B0604030504040204" pitchFamily="34" charset="0"/>
                <a:cs typeface="Tahoma" panose="020B0604030504040204" pitchFamily="34" charset="0"/>
              </a:rPr>
              <a:t> THEN</a:t>
            </a:r>
          </a:p>
          <a:p>
            <a:r>
              <a:rPr lang="en-CA" sz="1200" dirty="0">
                <a:latin typeface="Tahoma" panose="020B0604030504040204" pitchFamily="34" charset="0"/>
                <a:ea typeface="Tahoma" panose="020B0604030504040204" pitchFamily="34" charset="0"/>
                <a:cs typeface="Tahoma" panose="020B0604030504040204" pitchFamily="34" charset="0"/>
              </a:rPr>
              <a:t>        ROLLBACK TO </a:t>
            </a:r>
            <a:r>
              <a:rPr lang="en-CA" sz="1200" dirty="0" err="1">
                <a:latin typeface="Tahoma" panose="020B0604030504040204" pitchFamily="34" charset="0"/>
                <a:ea typeface="Tahoma" panose="020B0604030504040204" pitchFamily="34" charset="0"/>
                <a:cs typeface="Tahoma" panose="020B0604030504040204" pitchFamily="34" charset="0"/>
              </a:rPr>
              <a:t>before_update</a:t>
            </a:r>
            <a:r>
              <a:rPr lang="en-CA" sz="1200" dirty="0">
                <a:latin typeface="Tahoma" panose="020B0604030504040204" pitchFamily="34" charset="0"/>
                <a:ea typeface="Tahoma" panose="020B0604030504040204" pitchFamily="34" charset="0"/>
                <a:cs typeface="Tahoma" panose="020B0604030504040204" pitchFamily="34" charset="0"/>
              </a:rPr>
              <a:t>;</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a:t>
            </a:r>
            <a:r>
              <a:rPr lang="en-CA" sz="1200" dirty="0">
                <a:solidFill>
                  <a:srgbClr val="FF0000"/>
                </a:solidFill>
                <a:latin typeface="Tahoma" panose="020B0604030504040204" pitchFamily="34" charset="0"/>
                <a:ea typeface="Tahoma" panose="020B0604030504040204" pitchFamily="34" charset="0"/>
                <a:cs typeface="Tahoma" panose="020B0604030504040204" pitchFamily="34" charset="0"/>
              </a:rPr>
              <a:t>'Transaction rolled back: ' </a:t>
            </a:r>
            <a:r>
              <a:rPr lang="en-CA" sz="1200" dirty="0">
                <a:latin typeface="Tahoma" panose="020B0604030504040204" pitchFamily="34" charset="0"/>
                <a:ea typeface="Tahoma" panose="020B0604030504040204" pitchFamily="34" charset="0"/>
                <a:cs typeface="Tahoma" panose="020B0604030504040204" pitchFamily="34" charset="0"/>
              </a:rPr>
              <a:t>|| SQLERRM);</a:t>
            </a:r>
          </a:p>
          <a:p>
            <a:r>
              <a:rPr lang="en-CA" sz="1200" dirty="0">
                <a:latin typeface="Tahoma" panose="020B0604030504040204" pitchFamily="34" charset="0"/>
                <a:ea typeface="Tahoma" panose="020B0604030504040204" pitchFamily="34" charset="0"/>
                <a:cs typeface="Tahoma" panose="020B0604030504040204" pitchFamily="34" charset="0"/>
              </a:rPr>
              <a:t>    WHEN OTHERS THEN</a:t>
            </a:r>
          </a:p>
          <a:p>
            <a:r>
              <a:rPr lang="en-CA" sz="1200" dirty="0">
                <a:latin typeface="Tahoma" panose="020B0604030504040204" pitchFamily="34" charset="0"/>
                <a:ea typeface="Tahoma" panose="020B0604030504040204" pitchFamily="34" charset="0"/>
                <a:cs typeface="Tahoma" panose="020B0604030504040204" pitchFamily="34" charset="0"/>
              </a:rPr>
              <a:t>        ROLLBACK;</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a:t>
            </a:r>
            <a:r>
              <a:rPr lang="en-CA" sz="1200" dirty="0">
                <a:solidFill>
                  <a:srgbClr val="FF0000"/>
                </a:solidFill>
                <a:latin typeface="Tahoma" panose="020B0604030504040204" pitchFamily="34" charset="0"/>
                <a:ea typeface="Tahoma" panose="020B0604030504040204" pitchFamily="34" charset="0"/>
                <a:cs typeface="Tahoma" panose="020B0604030504040204" pitchFamily="34" charset="0"/>
              </a:rPr>
              <a:t>'Unexpected error: ' </a:t>
            </a:r>
            <a:r>
              <a:rPr lang="en-CA" sz="1200" dirty="0">
                <a:latin typeface="Tahoma" panose="020B0604030504040204" pitchFamily="34" charset="0"/>
                <a:ea typeface="Tahoma" panose="020B0604030504040204" pitchFamily="34" charset="0"/>
                <a:cs typeface="Tahoma" panose="020B0604030504040204" pitchFamily="34" charset="0"/>
              </a:rPr>
              <a:t>|| SQLERRM);</a:t>
            </a:r>
          </a:p>
          <a:p>
            <a:r>
              <a:rPr lang="en-CA" sz="1200" dirty="0">
                <a:latin typeface="Tahoma" panose="020B0604030504040204" pitchFamily="34" charset="0"/>
                <a:ea typeface="Tahoma" panose="020B0604030504040204" pitchFamily="34" charset="0"/>
                <a:cs typeface="Tahoma" panose="020B0604030504040204" pitchFamily="34" charset="0"/>
              </a:rPr>
              <a:t>END;</a:t>
            </a:r>
          </a:p>
          <a:p>
            <a:r>
              <a:rPr lang="en-CA" sz="1200" dirty="0">
                <a:latin typeface="Tahoma" panose="020B0604030504040204" pitchFamily="34" charset="0"/>
                <a:ea typeface="Tahoma" panose="020B0604030504040204" pitchFamily="34" charset="0"/>
                <a:cs typeface="Tahoma" panose="020B0604030504040204" pitchFamily="34" charset="0"/>
              </a:rPr>
              <a:t>/</a:t>
            </a:r>
          </a:p>
        </p:txBody>
      </p:sp>
      <p:sp>
        <p:nvSpPr>
          <p:cNvPr id="2" name="Rectangle 1">
            <a:extLst>
              <a:ext uri="{FF2B5EF4-FFF2-40B4-BE49-F238E27FC236}">
                <a16:creationId xmlns:a16="http://schemas.microsoft.com/office/drawing/2014/main" id="{F06FBAD1-7EB6-BD8E-9864-551A04A40570}"/>
              </a:ext>
            </a:extLst>
          </p:cNvPr>
          <p:cNvSpPr>
            <a:spLocks noChangeArrowheads="1"/>
          </p:cNvSpPr>
          <p:nvPr/>
        </p:nvSpPr>
        <p:spPr bwMode="auto">
          <a:xfrm>
            <a:off x="5694847" y="5963785"/>
            <a:ext cx="611257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Summary of Best Practices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1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Place COMMIT inside the main block (before exceptions).</a:t>
            </a:r>
            <a:br>
              <a:rPr kumimoji="0" lang="en-US" altLang="en-US" sz="11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1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1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Use ROLLBACK only in exception handling.</a:t>
            </a:r>
            <a:br>
              <a:rPr kumimoji="0" lang="en-US" altLang="en-US" sz="11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1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1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Never COMMIT after handling an exception, as the transaction is already undone.</a:t>
            </a:r>
            <a:endParaRPr kumimoji="0" lang="en-US" altLang="en-US" sz="11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8195" name="Picture 3" descr="Danger — Wikipédia">
            <a:extLst>
              <a:ext uri="{FF2B5EF4-FFF2-40B4-BE49-F238E27FC236}">
                <a16:creationId xmlns:a16="http://schemas.microsoft.com/office/drawing/2014/main" id="{4A2772F6-CEF6-B5E5-5C87-8BA051C5E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988" y="6150466"/>
            <a:ext cx="599816" cy="529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975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53FDC8-096C-D975-BBD6-330F66EB9034}"/>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A90CFF21-E904-E8FE-1572-1AEA86CEF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986E68F0-23E8-1CF7-99BE-B637C4BFE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832B28A0-60DA-4C7D-E609-C2DC2A15E5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3D41C114-0923-0749-D86E-DF887C7B2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Freeform: Shape 125">
            <a:extLst>
              <a:ext uri="{FF2B5EF4-FFF2-40B4-BE49-F238E27FC236}">
                <a16:creationId xmlns:a16="http://schemas.microsoft.com/office/drawing/2014/main" id="{B99FA48F-459A-BCE0-F7FF-295403DDB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2">
            <a:extLst>
              <a:ext uri="{FF2B5EF4-FFF2-40B4-BE49-F238E27FC236}">
                <a16:creationId xmlns:a16="http://schemas.microsoft.com/office/drawing/2014/main" id="{5F26C3E9-85F0-C1B2-8ADD-27F8082C3145}"/>
              </a:ext>
            </a:extLst>
          </p:cNvPr>
          <p:cNvSpPr>
            <a:spLocks noGrp="1"/>
          </p:cNvSpPr>
          <p:nvPr>
            <p:ph type="ctrTitle"/>
          </p:nvPr>
        </p:nvSpPr>
        <p:spPr>
          <a:xfrm>
            <a:off x="145144" y="2767106"/>
            <a:ext cx="3862330" cy="3071906"/>
          </a:xfrm>
        </p:spPr>
        <p:txBody>
          <a:bodyPr vert="horz" lIns="91440" tIns="45720" rIns="91440" bIns="45720" rtlCol="0" anchor="t">
            <a:normAutofit/>
          </a:bodyPr>
          <a:lstStyle/>
          <a:p>
            <a:pPr algn="l"/>
            <a:r>
              <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What Happens If You Move COMMIT Under EXCEPTION?</a:t>
            </a:r>
            <a:br>
              <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rPr>
            </a:br>
            <a:endPar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BFF3674B-4BA8-AEE6-C58F-17A9CA8ED2D8}"/>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16</a:t>
            </a:fld>
            <a:endParaRPr lang="en-US" sz="1100" dirty="0">
              <a:solidFill>
                <a:schemeClr val="tx1">
                  <a:lumMod val="50000"/>
                  <a:lumOff val="50000"/>
                </a:schemeClr>
              </a:solidFill>
            </a:endParaRPr>
          </a:p>
        </p:txBody>
      </p:sp>
      <p:sp>
        <p:nvSpPr>
          <p:cNvPr id="7" name="TextBox 6">
            <a:extLst>
              <a:ext uri="{FF2B5EF4-FFF2-40B4-BE49-F238E27FC236}">
                <a16:creationId xmlns:a16="http://schemas.microsoft.com/office/drawing/2014/main" id="{9DCDC35A-BB54-D25F-5577-D6FCEE07E0E3}"/>
              </a:ext>
            </a:extLst>
          </p:cNvPr>
          <p:cNvSpPr txBox="1"/>
          <p:nvPr/>
        </p:nvSpPr>
        <p:spPr>
          <a:xfrm>
            <a:off x="5265965" y="1811321"/>
            <a:ext cx="6662383"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Key Issues and Consequences:</a:t>
            </a:r>
          </a:p>
          <a:p>
            <a:pPr lvl="1">
              <a:buFont typeface="+mj-lt"/>
              <a:buAutoNum type="arabicPeriod"/>
            </a:pPr>
            <a:endParaRPr lang="en-CA" sz="1200" b="1" dirty="0">
              <a:latin typeface="Tahoma" panose="020B0604030504040204" pitchFamily="34" charset="0"/>
              <a:ea typeface="Tahoma" panose="020B0604030504040204" pitchFamily="34" charset="0"/>
              <a:cs typeface="Tahoma" panose="020B0604030504040204" pitchFamily="34" charset="0"/>
            </a:endParaRPr>
          </a:p>
          <a:p>
            <a:pPr lvl="1">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Successful Execution Still Requires a Commit</a:t>
            </a:r>
            <a:endParaRPr lang="en-CA" sz="1200" dirty="0">
              <a:latin typeface="Tahoma" panose="020B0604030504040204" pitchFamily="34" charset="0"/>
              <a:ea typeface="Tahoma" panose="020B0604030504040204" pitchFamily="34" charset="0"/>
              <a:cs typeface="Tahoma" panose="020B0604030504040204" pitchFamily="34" charset="0"/>
            </a:endParaRPr>
          </a:p>
          <a:p>
            <a:pPr marL="1200150" lvl="2" indent="-28575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If the procedure runs </a:t>
            </a:r>
            <a:r>
              <a:rPr lang="en-CA" sz="1200" b="1" dirty="0">
                <a:latin typeface="Tahoma" panose="020B0604030504040204" pitchFamily="34" charset="0"/>
                <a:ea typeface="Tahoma" panose="020B0604030504040204" pitchFamily="34" charset="0"/>
                <a:cs typeface="Tahoma" panose="020B0604030504040204" pitchFamily="34" charset="0"/>
              </a:rPr>
              <a:t>without errors</a:t>
            </a:r>
            <a:r>
              <a:rPr lang="en-CA" sz="1200" dirty="0">
                <a:latin typeface="Tahoma" panose="020B0604030504040204" pitchFamily="34" charset="0"/>
                <a:ea typeface="Tahoma" panose="020B0604030504040204" pitchFamily="34" charset="0"/>
                <a:cs typeface="Tahoma" panose="020B0604030504040204" pitchFamily="34" charset="0"/>
              </a:rPr>
              <a:t>, there will be </a:t>
            </a:r>
            <a:r>
              <a:rPr lang="en-CA" sz="1200" b="1" dirty="0">
                <a:latin typeface="Tahoma" panose="020B0604030504040204" pitchFamily="34" charset="0"/>
                <a:ea typeface="Tahoma" panose="020B0604030504040204" pitchFamily="34" charset="0"/>
                <a:cs typeface="Tahoma" panose="020B0604030504040204" pitchFamily="34" charset="0"/>
              </a:rPr>
              <a:t>no explicit COMMIT</a:t>
            </a:r>
            <a:r>
              <a:rPr lang="en-CA" sz="1200" dirty="0">
                <a:latin typeface="Tahoma" panose="020B0604030504040204" pitchFamily="34" charset="0"/>
                <a:ea typeface="Tahoma" panose="020B0604030504040204" pitchFamily="34" charset="0"/>
                <a:cs typeface="Tahoma" panose="020B0604030504040204" pitchFamily="34" charset="0"/>
              </a:rPr>
              <a:t> before reaching the exception block.</a:t>
            </a:r>
          </a:p>
          <a:p>
            <a:pPr marL="1200150" lvl="2" indent="-28575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This means </a:t>
            </a:r>
            <a:r>
              <a:rPr lang="en-CA" sz="1200" b="1" dirty="0">
                <a:latin typeface="Tahoma" panose="020B0604030504040204" pitchFamily="34" charset="0"/>
                <a:ea typeface="Tahoma" panose="020B0604030504040204" pitchFamily="34" charset="0"/>
                <a:cs typeface="Tahoma" panose="020B0604030504040204" pitchFamily="34" charset="0"/>
              </a:rPr>
              <a:t>if no exception occurs, the update is not committed</a:t>
            </a:r>
            <a:r>
              <a:rPr lang="en-CA" sz="1200" dirty="0">
                <a:latin typeface="Tahoma" panose="020B0604030504040204" pitchFamily="34" charset="0"/>
                <a:ea typeface="Tahoma" panose="020B0604030504040204" pitchFamily="34" charset="0"/>
                <a:cs typeface="Tahoma" panose="020B0604030504040204" pitchFamily="34" charset="0"/>
              </a:rPr>
              <a:t>, and the session may </a:t>
            </a:r>
            <a:r>
              <a:rPr lang="en-CA" sz="1200" b="1" dirty="0">
                <a:latin typeface="Tahoma" panose="020B0604030504040204" pitchFamily="34" charset="0"/>
                <a:ea typeface="Tahoma" panose="020B0604030504040204" pitchFamily="34" charset="0"/>
                <a:cs typeface="Tahoma" panose="020B0604030504040204" pitchFamily="34" charset="0"/>
              </a:rPr>
              <a:t>retain an open transaction</a:t>
            </a:r>
            <a:r>
              <a:rPr lang="en-CA" sz="1200" dirty="0">
                <a:latin typeface="Tahoma" panose="020B0604030504040204" pitchFamily="34" charset="0"/>
                <a:ea typeface="Tahoma" panose="020B0604030504040204" pitchFamily="34" charset="0"/>
                <a:cs typeface="Tahoma" panose="020B0604030504040204" pitchFamily="34" charset="0"/>
              </a:rPr>
              <a:t>.</a:t>
            </a:r>
          </a:p>
          <a:p>
            <a:pPr lvl="1">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Committing After a Rollback is Risky</a:t>
            </a:r>
            <a:endParaRPr lang="en-CA" sz="1200" dirty="0">
              <a:latin typeface="Tahoma" panose="020B0604030504040204" pitchFamily="34" charset="0"/>
              <a:ea typeface="Tahoma" panose="020B0604030504040204" pitchFamily="34" charset="0"/>
              <a:cs typeface="Tahoma" panose="020B0604030504040204" pitchFamily="34" charset="0"/>
            </a:endParaRPr>
          </a:p>
          <a:p>
            <a:pPr marL="1200150" lvl="2" indent="-28575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If an error occurs and you </a:t>
            </a:r>
            <a:r>
              <a:rPr lang="en-CA" sz="1200" b="1" dirty="0">
                <a:latin typeface="Tahoma" panose="020B0604030504040204" pitchFamily="34" charset="0"/>
                <a:ea typeface="Tahoma" panose="020B0604030504040204" pitchFamily="34" charset="0"/>
                <a:cs typeface="Tahoma" panose="020B0604030504040204" pitchFamily="34" charset="0"/>
              </a:rPr>
              <a:t>ROLLBACK</a:t>
            </a:r>
            <a:r>
              <a:rPr lang="en-CA" sz="1200" dirty="0">
                <a:latin typeface="Tahoma" panose="020B0604030504040204" pitchFamily="34" charset="0"/>
                <a:ea typeface="Tahoma" panose="020B0604030504040204" pitchFamily="34" charset="0"/>
                <a:cs typeface="Tahoma" panose="020B0604030504040204" pitchFamily="34" charset="0"/>
              </a:rPr>
              <a:t>, then calling COMMIT afterward </a:t>
            </a:r>
            <a:r>
              <a:rPr lang="en-CA" sz="1200" b="1" dirty="0">
                <a:latin typeface="Tahoma" panose="020B0604030504040204" pitchFamily="34" charset="0"/>
                <a:ea typeface="Tahoma" panose="020B0604030504040204" pitchFamily="34" charset="0"/>
                <a:cs typeface="Tahoma" panose="020B0604030504040204" pitchFamily="34" charset="0"/>
              </a:rPr>
              <a:t>makes no sense</a:t>
            </a:r>
            <a:r>
              <a:rPr lang="en-CA" sz="1200" dirty="0">
                <a:latin typeface="Tahoma" panose="020B0604030504040204" pitchFamily="34" charset="0"/>
                <a:ea typeface="Tahoma" panose="020B0604030504040204" pitchFamily="34" charset="0"/>
                <a:cs typeface="Tahoma" panose="020B0604030504040204" pitchFamily="34" charset="0"/>
              </a:rPr>
              <a:t> because there is </a:t>
            </a:r>
            <a:r>
              <a:rPr lang="en-CA" sz="1200" b="1" dirty="0">
                <a:latin typeface="Tahoma" panose="020B0604030504040204" pitchFamily="34" charset="0"/>
                <a:ea typeface="Tahoma" panose="020B0604030504040204" pitchFamily="34" charset="0"/>
                <a:cs typeface="Tahoma" panose="020B0604030504040204" pitchFamily="34" charset="0"/>
              </a:rPr>
              <a:t>nothing left to commit</a:t>
            </a:r>
            <a:r>
              <a:rPr lang="en-CA" sz="1200" dirty="0">
                <a:latin typeface="Tahoma" panose="020B0604030504040204" pitchFamily="34" charset="0"/>
                <a:ea typeface="Tahoma" panose="020B0604030504040204" pitchFamily="34" charset="0"/>
                <a:cs typeface="Tahoma" panose="020B0604030504040204" pitchFamily="34" charset="0"/>
              </a:rPr>
              <a:t>—the rollback has already undone all changes.</a:t>
            </a:r>
          </a:p>
          <a:p>
            <a:pPr marL="1200150" lvl="2" indent="-28575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This could also </a:t>
            </a:r>
            <a:r>
              <a:rPr lang="en-CA" sz="1200" b="1" dirty="0">
                <a:latin typeface="Tahoma" panose="020B0604030504040204" pitchFamily="34" charset="0"/>
                <a:ea typeface="Tahoma" panose="020B0604030504040204" pitchFamily="34" charset="0"/>
                <a:cs typeface="Tahoma" panose="020B0604030504040204" pitchFamily="34" charset="0"/>
              </a:rPr>
              <a:t>override</a:t>
            </a:r>
            <a:r>
              <a:rPr lang="en-CA" sz="1200" dirty="0">
                <a:latin typeface="Tahoma" panose="020B0604030504040204" pitchFamily="34" charset="0"/>
                <a:ea typeface="Tahoma" panose="020B0604030504040204" pitchFamily="34" charset="0"/>
                <a:cs typeface="Tahoma" panose="020B0604030504040204" pitchFamily="34" charset="0"/>
              </a:rPr>
              <a:t> the intended rollback behavior.</a:t>
            </a:r>
          </a:p>
          <a:p>
            <a:pPr lvl="1">
              <a:buFont typeface="+mj-lt"/>
              <a:buAutoNum type="arabicPeriod"/>
            </a:pPr>
            <a:r>
              <a:rPr lang="en-CA" sz="1200" b="1" dirty="0">
                <a:latin typeface="Tahoma" panose="020B0604030504040204" pitchFamily="34" charset="0"/>
                <a:ea typeface="Tahoma" panose="020B0604030504040204" pitchFamily="34" charset="0"/>
                <a:cs typeface="Tahoma" panose="020B0604030504040204" pitchFamily="34" charset="0"/>
              </a:rPr>
              <a:t>Possible Data Integrity Issues</a:t>
            </a:r>
            <a:endParaRPr lang="en-CA" sz="1200" dirty="0">
              <a:latin typeface="Tahoma" panose="020B0604030504040204" pitchFamily="34" charset="0"/>
              <a:ea typeface="Tahoma" panose="020B0604030504040204" pitchFamily="34" charset="0"/>
              <a:cs typeface="Tahoma" panose="020B0604030504040204" pitchFamily="34" charset="0"/>
            </a:endParaRPr>
          </a:p>
          <a:p>
            <a:pPr marL="1200150" lvl="2" indent="-28575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If an exception occurs, but the COMMIT is still executed, you might commit a </a:t>
            </a:r>
            <a:r>
              <a:rPr lang="en-CA" sz="1200" b="1" dirty="0">
                <a:latin typeface="Tahoma" panose="020B0604030504040204" pitchFamily="34" charset="0"/>
                <a:ea typeface="Tahoma" panose="020B0604030504040204" pitchFamily="34" charset="0"/>
                <a:cs typeface="Tahoma" panose="020B0604030504040204" pitchFamily="34" charset="0"/>
              </a:rPr>
              <a:t>partial transaction</a:t>
            </a:r>
            <a:r>
              <a:rPr lang="en-CA" sz="1200" dirty="0">
                <a:latin typeface="Tahoma" panose="020B0604030504040204" pitchFamily="34" charset="0"/>
                <a:ea typeface="Tahoma" panose="020B0604030504040204" pitchFamily="34" charset="0"/>
                <a:cs typeface="Tahoma" panose="020B0604030504040204" pitchFamily="34" charset="0"/>
              </a:rPr>
              <a:t> instead of rolling back properly.</a:t>
            </a:r>
          </a:p>
          <a:p>
            <a:pPr marL="1200150" lvl="2" indent="-28575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Example: If the update is executed but later fails due to an exception (like </a:t>
            </a:r>
            <a:r>
              <a:rPr lang="en-CA" sz="1200" dirty="0" err="1">
                <a:latin typeface="Tahoma" panose="020B0604030504040204" pitchFamily="34" charset="0"/>
                <a:ea typeface="Tahoma" panose="020B0604030504040204" pitchFamily="34" charset="0"/>
                <a:cs typeface="Tahoma" panose="020B0604030504040204" pitchFamily="34" charset="0"/>
              </a:rPr>
              <a:t>insufficient_age</a:t>
            </a:r>
            <a:r>
              <a:rPr lang="en-CA" sz="1200" dirty="0">
                <a:latin typeface="Tahoma" panose="020B0604030504040204" pitchFamily="34" charset="0"/>
                <a:ea typeface="Tahoma" panose="020B0604030504040204" pitchFamily="34" charset="0"/>
                <a:cs typeface="Tahoma" panose="020B0604030504040204" pitchFamily="34" charset="0"/>
              </a:rPr>
              <a:t>), the rollback should fully revert changes, not allow any committed state.</a:t>
            </a:r>
          </a:p>
        </p:txBody>
      </p:sp>
      <p:pic>
        <p:nvPicPr>
          <p:cNvPr id="9218" name="Picture 2" descr="Notepad - Notebook App - Apps on Google ...">
            <a:extLst>
              <a:ext uri="{FF2B5EF4-FFF2-40B4-BE49-F238E27FC236}">
                <a16:creationId xmlns:a16="http://schemas.microsoft.com/office/drawing/2014/main" id="{D040C06A-C245-4308-B57D-54A4C6DD0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0572" y="2709459"/>
            <a:ext cx="1637971" cy="162004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CB743E21-A404-10F3-D02F-2AF56EAC5D83}"/>
              </a:ext>
            </a:extLst>
          </p:cNvPr>
          <p:cNvSpPr>
            <a:spLocks noChangeArrowheads="1"/>
          </p:cNvSpPr>
          <p:nvPr/>
        </p:nvSpPr>
        <p:spPr bwMode="auto">
          <a:xfrm>
            <a:off x="4246938" y="478712"/>
            <a:ext cx="76838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If you move COMMIT inside 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EXCEPTION</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block (after handling all exceptions), the behavior of your procedure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changes significantly</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it could introduce unintended side effects.</a:t>
            </a:r>
          </a:p>
        </p:txBody>
      </p:sp>
    </p:spTree>
    <p:extLst>
      <p:ext uri="{BB962C8B-B14F-4D97-AF65-F5344CB8AC3E}">
        <p14:creationId xmlns:p14="http://schemas.microsoft.com/office/powerpoint/2010/main" val="1828259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B58CB6-2FA7-65E9-035C-00F1BD4D6232}"/>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4C735B1E-5E82-3003-6912-7F2ADB6959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0B71035-29FA-CD0E-5D09-46CFBFAD5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1DFFE46F-0C63-669F-58DA-577C0EFF6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097397A0-F164-903F-909C-68C25DCAB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994445E-7779-6736-2950-78C8A894C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2C49E72-7F97-EF36-85AE-C7C4B3C76870}"/>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dirty="0">
                <a:solidFill>
                  <a:srgbClr val="FFFFFF"/>
                </a:solidFill>
                <a:latin typeface="Tahoma" panose="020B0604030504040204" pitchFamily="34" charset="0"/>
                <a:ea typeface="Tahoma" panose="020B0604030504040204" pitchFamily="34" charset="0"/>
                <a:cs typeface="Tahoma" panose="020B0604030504040204" pitchFamily="34" charset="0"/>
              </a:rPr>
              <a:t>Example - Logging Errors with SQLERRM</a:t>
            </a:r>
          </a:p>
        </p:txBody>
      </p:sp>
      <p:sp>
        <p:nvSpPr>
          <p:cNvPr id="5" name="Slide Number Placeholder 4">
            <a:extLst>
              <a:ext uri="{FF2B5EF4-FFF2-40B4-BE49-F238E27FC236}">
                <a16:creationId xmlns:a16="http://schemas.microsoft.com/office/drawing/2014/main" id="{85CDD581-21AD-3C08-2398-0334A054AEF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17</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26E7A437-3E42-01B7-CFD3-57844901F7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6" name="Rectangle 1">
            <a:extLst>
              <a:ext uri="{FF2B5EF4-FFF2-40B4-BE49-F238E27FC236}">
                <a16:creationId xmlns:a16="http://schemas.microsoft.com/office/drawing/2014/main" id="{C1A2AE58-C8F2-68B1-084E-2A8A24981FE5}"/>
              </a:ext>
            </a:extLst>
          </p:cNvPr>
          <p:cNvSpPr>
            <a:spLocks noChangeArrowheads="1"/>
          </p:cNvSpPr>
          <p:nvPr/>
        </p:nvSpPr>
        <p:spPr bwMode="auto">
          <a:xfrm>
            <a:off x="-3" y="1786024"/>
            <a:ext cx="72605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If you want 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store errors in an error log table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you can use SQLERRM inside an EXCEPTION block:</a:t>
            </a:r>
          </a:p>
        </p:txBody>
      </p:sp>
      <p:sp>
        <p:nvSpPr>
          <p:cNvPr id="7" name="Rectangle 2">
            <a:extLst>
              <a:ext uri="{FF2B5EF4-FFF2-40B4-BE49-F238E27FC236}">
                <a16:creationId xmlns:a16="http://schemas.microsoft.com/office/drawing/2014/main" id="{C859AF48-CCBE-DDFF-5D76-77644275E1B1}"/>
              </a:ext>
            </a:extLst>
          </p:cNvPr>
          <p:cNvSpPr>
            <a:spLocks noChangeArrowheads="1"/>
          </p:cNvSpPr>
          <p:nvPr/>
        </p:nvSpPr>
        <p:spPr bwMode="auto">
          <a:xfrm>
            <a:off x="5328975" y="3759359"/>
            <a:ext cx="4642340" cy="461665"/>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lvl="2" eaLnBrk="0" fontAlgn="base" hangingPunct="0">
              <a:spcBef>
                <a:spcPct val="0"/>
              </a:spcBef>
              <a:spcAft>
                <a:spcPct val="0"/>
              </a:spcAft>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Why is this useful?</a:t>
            </a:r>
            <a:endPar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a:p>
            <a:pPr lvl="2" eaLnBrk="0" fontAlgn="base" hangingPunct="0">
              <a:spcBef>
                <a:spcPct val="0"/>
              </a:spcBef>
              <a:spcAft>
                <a:spcPct val="0"/>
              </a:spcAft>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Stores error messages in </a:t>
            </a:r>
            <a:r>
              <a:rPr kumimoji="0" lang="en-US" altLang="en-US" sz="1200" b="0" i="0" u="none" strike="noStrike" cap="none" normalizeH="0" baseline="0" dirty="0" err="1">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error_log</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for debugging.</a:t>
            </a:r>
          </a:p>
        </p:txBody>
      </p:sp>
      <p:sp>
        <p:nvSpPr>
          <p:cNvPr id="2" name="TextBox 1">
            <a:extLst>
              <a:ext uri="{FF2B5EF4-FFF2-40B4-BE49-F238E27FC236}">
                <a16:creationId xmlns:a16="http://schemas.microsoft.com/office/drawing/2014/main" id="{DA88F20E-4F71-B10B-0961-04D8E6E4BB44}"/>
              </a:ext>
            </a:extLst>
          </p:cNvPr>
          <p:cNvSpPr txBox="1"/>
          <p:nvPr/>
        </p:nvSpPr>
        <p:spPr>
          <a:xfrm>
            <a:off x="43541" y="2258304"/>
            <a:ext cx="6052457" cy="330859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100" dirty="0">
                <a:latin typeface="Tahoma" panose="020B0604030504040204" pitchFamily="34" charset="0"/>
                <a:ea typeface="Tahoma" panose="020B0604030504040204" pitchFamily="34" charset="0"/>
                <a:cs typeface="Tahoma" panose="020B0604030504040204" pitchFamily="34" charset="0"/>
              </a:rPr>
              <a:t>CREATE TABLE </a:t>
            </a:r>
            <a:r>
              <a:rPr lang="en-CA" sz="1100" dirty="0" err="1">
                <a:latin typeface="Tahoma" panose="020B0604030504040204" pitchFamily="34" charset="0"/>
                <a:ea typeface="Tahoma" panose="020B0604030504040204" pitchFamily="34" charset="0"/>
                <a:cs typeface="Tahoma" panose="020B0604030504040204" pitchFamily="34" charset="0"/>
              </a:rPr>
              <a:t>error_log</a:t>
            </a:r>
            <a:r>
              <a:rPr lang="en-CA" sz="1100" dirty="0">
                <a:latin typeface="Tahoma" panose="020B0604030504040204" pitchFamily="34" charset="0"/>
                <a:ea typeface="Tahoma" panose="020B0604030504040204" pitchFamily="34" charset="0"/>
                <a:cs typeface="Tahoma" panose="020B0604030504040204" pitchFamily="34" charset="0"/>
              </a:rPr>
              <a:t> (</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error_id</a:t>
            </a:r>
            <a:r>
              <a:rPr lang="en-CA" sz="1100" dirty="0">
                <a:latin typeface="Tahoma" panose="020B0604030504040204" pitchFamily="34" charset="0"/>
                <a:ea typeface="Tahoma" panose="020B0604030504040204" pitchFamily="34" charset="0"/>
                <a:cs typeface="Tahoma" panose="020B0604030504040204" pitchFamily="34" charset="0"/>
              </a:rPr>
              <a:t> NUMBER GENERATED ALWAYS AS IDENTITY,</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error_message</a:t>
            </a:r>
            <a:r>
              <a:rPr lang="en-CA" sz="1100" dirty="0">
                <a:latin typeface="Tahoma" panose="020B0604030504040204" pitchFamily="34" charset="0"/>
                <a:ea typeface="Tahoma" panose="020B0604030504040204" pitchFamily="34" charset="0"/>
                <a:cs typeface="Tahoma" panose="020B0604030504040204" pitchFamily="34" charset="0"/>
              </a:rPr>
              <a:t> VARCHAR2(4000),</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error_time</a:t>
            </a:r>
            <a:r>
              <a:rPr lang="en-CA" sz="1100" dirty="0">
                <a:latin typeface="Tahoma" panose="020B0604030504040204" pitchFamily="34" charset="0"/>
                <a:ea typeface="Tahoma" panose="020B0604030504040204" pitchFamily="34" charset="0"/>
                <a:cs typeface="Tahoma" panose="020B0604030504040204" pitchFamily="34" charset="0"/>
              </a:rPr>
              <a:t> TIMESTAMP DEFAULT SYSTIMESTAMP</a:t>
            </a:r>
          </a:p>
          <a:p>
            <a:r>
              <a:rPr lang="en-CA" sz="1100" dirty="0">
                <a:latin typeface="Tahoma" panose="020B0604030504040204" pitchFamily="34" charset="0"/>
                <a:ea typeface="Tahoma" panose="020B0604030504040204" pitchFamily="34" charset="0"/>
                <a:cs typeface="Tahoma" panose="020B0604030504040204" pitchFamily="34" charset="0"/>
              </a:rPr>
              <a:t>);</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CREATE OR REPLACE PROCEDURE </a:t>
            </a:r>
            <a:r>
              <a:rPr lang="en-CA" sz="1100" dirty="0" err="1">
                <a:latin typeface="Tahoma" panose="020B0604030504040204" pitchFamily="34" charset="0"/>
                <a:ea typeface="Tahoma" panose="020B0604030504040204" pitchFamily="34" charset="0"/>
                <a:cs typeface="Tahoma" panose="020B0604030504040204" pitchFamily="34" charset="0"/>
              </a:rPr>
              <a:t>insert_student</a:t>
            </a:r>
            <a:r>
              <a:rPr lang="en-CA" sz="1100" dirty="0">
                <a:latin typeface="Tahoma" panose="020B0604030504040204" pitchFamily="34" charset="0"/>
                <a:ea typeface="Tahoma" panose="020B0604030504040204" pitchFamily="34" charset="0"/>
                <a:cs typeface="Tahoma" panose="020B0604030504040204" pitchFamily="34" charset="0"/>
              </a:rPr>
              <a:t>(</a:t>
            </a:r>
            <a:r>
              <a:rPr lang="en-CA" sz="1100" dirty="0" err="1">
                <a:latin typeface="Tahoma" panose="020B0604030504040204" pitchFamily="34" charset="0"/>
                <a:ea typeface="Tahoma" panose="020B0604030504040204" pitchFamily="34" charset="0"/>
                <a:cs typeface="Tahoma" panose="020B0604030504040204" pitchFamily="34" charset="0"/>
              </a:rPr>
              <a:t>p_name</a:t>
            </a:r>
            <a:r>
              <a:rPr lang="en-CA" sz="1100" dirty="0">
                <a:latin typeface="Tahoma" panose="020B0604030504040204" pitchFamily="34" charset="0"/>
                <a:ea typeface="Tahoma" panose="020B0604030504040204" pitchFamily="34" charset="0"/>
                <a:cs typeface="Tahoma" panose="020B0604030504040204" pitchFamily="34" charset="0"/>
              </a:rPr>
              <a:t> IN VARCHAR2, </a:t>
            </a:r>
            <a:r>
              <a:rPr lang="en-CA" sz="1100" dirty="0" err="1">
                <a:latin typeface="Tahoma" panose="020B0604030504040204" pitchFamily="34" charset="0"/>
                <a:ea typeface="Tahoma" panose="020B0604030504040204" pitchFamily="34" charset="0"/>
                <a:cs typeface="Tahoma" panose="020B0604030504040204" pitchFamily="34" charset="0"/>
              </a:rPr>
              <a:t>p_age</a:t>
            </a:r>
            <a:r>
              <a:rPr lang="en-CA" sz="1100" dirty="0">
                <a:latin typeface="Tahoma" panose="020B0604030504040204" pitchFamily="34" charset="0"/>
                <a:ea typeface="Tahoma" panose="020B0604030504040204" pitchFamily="34" charset="0"/>
                <a:cs typeface="Tahoma" panose="020B0604030504040204" pitchFamily="34" charset="0"/>
              </a:rPr>
              <a:t> IN NUMBER) AS</a:t>
            </a:r>
          </a:p>
          <a:p>
            <a:r>
              <a:rPr lang="en-CA" sz="1100" dirty="0">
                <a:latin typeface="Tahoma" panose="020B0604030504040204" pitchFamily="34" charset="0"/>
                <a:ea typeface="Tahoma" panose="020B0604030504040204" pitchFamily="34" charset="0"/>
                <a:cs typeface="Tahoma" panose="020B0604030504040204" pitchFamily="34" charset="0"/>
              </a:rPr>
              <a:t>BEGIN</a:t>
            </a:r>
          </a:p>
          <a:p>
            <a:r>
              <a:rPr lang="en-CA" sz="1100" dirty="0">
                <a:latin typeface="Tahoma" panose="020B0604030504040204" pitchFamily="34" charset="0"/>
                <a:ea typeface="Tahoma" panose="020B0604030504040204" pitchFamily="34" charset="0"/>
                <a:cs typeface="Tahoma" panose="020B0604030504040204" pitchFamily="34" charset="0"/>
              </a:rPr>
              <a:t>    INSERT INTO students (name, age) VALUES (</a:t>
            </a:r>
            <a:r>
              <a:rPr lang="en-CA" sz="1100" dirty="0" err="1">
                <a:latin typeface="Tahoma" panose="020B0604030504040204" pitchFamily="34" charset="0"/>
                <a:ea typeface="Tahoma" panose="020B0604030504040204" pitchFamily="34" charset="0"/>
                <a:cs typeface="Tahoma" panose="020B0604030504040204" pitchFamily="34" charset="0"/>
              </a:rPr>
              <a:t>p_name</a:t>
            </a:r>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p_age</a:t>
            </a:r>
            <a:r>
              <a:rPr lang="en-CA" sz="1100" dirty="0">
                <a:latin typeface="Tahoma" panose="020B0604030504040204" pitchFamily="34" charset="0"/>
                <a:ea typeface="Tahoma" panose="020B0604030504040204" pitchFamily="34" charset="0"/>
                <a:cs typeface="Tahoma" panose="020B0604030504040204" pitchFamily="34" charset="0"/>
              </a:rPr>
              <a:t>);</a:t>
            </a:r>
          </a:p>
          <a:p>
            <a:r>
              <a:rPr lang="en-CA" sz="1100" dirty="0">
                <a:latin typeface="Tahoma" panose="020B0604030504040204" pitchFamily="34" charset="0"/>
                <a:ea typeface="Tahoma" panose="020B0604030504040204" pitchFamily="34" charset="0"/>
                <a:cs typeface="Tahoma" panose="020B0604030504040204" pitchFamily="34" charset="0"/>
              </a:rPr>
              <a:t>    COMMIT;</a:t>
            </a:r>
          </a:p>
          <a:p>
            <a:r>
              <a:rPr lang="en-CA" sz="1100" dirty="0">
                <a:latin typeface="Tahoma" panose="020B0604030504040204" pitchFamily="34" charset="0"/>
                <a:ea typeface="Tahoma" panose="020B0604030504040204" pitchFamily="34" charset="0"/>
                <a:cs typeface="Tahoma" panose="020B0604030504040204" pitchFamily="34" charset="0"/>
              </a:rPr>
              <a:t>EXCEPTION</a:t>
            </a:r>
          </a:p>
          <a:p>
            <a:r>
              <a:rPr lang="en-CA" sz="1100" dirty="0">
                <a:latin typeface="Tahoma" panose="020B0604030504040204" pitchFamily="34" charset="0"/>
                <a:ea typeface="Tahoma" panose="020B0604030504040204" pitchFamily="34" charset="0"/>
                <a:cs typeface="Tahoma" panose="020B0604030504040204" pitchFamily="34" charset="0"/>
              </a:rPr>
              <a:t>    WHEN OTHERS THEN</a:t>
            </a:r>
          </a:p>
          <a:p>
            <a:r>
              <a:rPr lang="en-CA" sz="1100" dirty="0">
                <a:latin typeface="Tahoma" panose="020B0604030504040204" pitchFamily="34" charset="0"/>
                <a:ea typeface="Tahoma" panose="020B0604030504040204" pitchFamily="34" charset="0"/>
                <a:cs typeface="Tahoma" panose="020B0604030504040204" pitchFamily="34" charset="0"/>
              </a:rPr>
              <a:t>        INSERT INTO </a:t>
            </a:r>
            <a:r>
              <a:rPr lang="en-CA" sz="1100" dirty="0" err="1">
                <a:latin typeface="Tahoma" panose="020B0604030504040204" pitchFamily="34" charset="0"/>
                <a:ea typeface="Tahoma" panose="020B0604030504040204" pitchFamily="34" charset="0"/>
                <a:cs typeface="Tahoma" panose="020B0604030504040204" pitchFamily="34" charset="0"/>
              </a:rPr>
              <a:t>error_log</a:t>
            </a:r>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error_message</a:t>
            </a:r>
            <a:r>
              <a:rPr lang="en-CA" sz="1100" dirty="0">
                <a:latin typeface="Tahoma" panose="020B0604030504040204" pitchFamily="34" charset="0"/>
                <a:ea typeface="Tahoma" panose="020B0604030504040204" pitchFamily="34" charset="0"/>
                <a:cs typeface="Tahoma" panose="020B0604030504040204" pitchFamily="34" charset="0"/>
              </a:rPr>
              <a:t>) VALUES (SQLERRM);</a:t>
            </a:r>
          </a:p>
          <a:p>
            <a:r>
              <a:rPr lang="en-CA" sz="1100" dirty="0">
                <a:latin typeface="Tahoma" panose="020B0604030504040204" pitchFamily="34" charset="0"/>
                <a:ea typeface="Tahoma" panose="020B0604030504040204" pitchFamily="34" charset="0"/>
                <a:cs typeface="Tahoma" panose="020B0604030504040204" pitchFamily="34" charset="0"/>
              </a:rPr>
              <a:t>        ROLLBACK;</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DBMS_OUTPUT.PUT_LINE('Error logged: ' || SQLERRM);</a:t>
            </a:r>
          </a:p>
          <a:p>
            <a:r>
              <a:rPr lang="en-CA" sz="1100" dirty="0">
                <a:latin typeface="Tahoma" panose="020B0604030504040204" pitchFamily="34" charset="0"/>
                <a:ea typeface="Tahoma" panose="020B0604030504040204" pitchFamily="34" charset="0"/>
                <a:cs typeface="Tahoma" panose="020B0604030504040204" pitchFamily="34" charset="0"/>
              </a:rPr>
              <a:t>END;</a:t>
            </a:r>
          </a:p>
          <a:p>
            <a:r>
              <a:rPr lang="en-CA" sz="1100" dirty="0">
                <a:latin typeface="Tahoma" panose="020B0604030504040204" pitchFamily="34" charset="0"/>
                <a:ea typeface="Tahoma" panose="020B0604030504040204" pitchFamily="34" charset="0"/>
                <a:cs typeface="Tahoma" panose="020B0604030504040204" pitchFamily="34" charset="0"/>
              </a:rPr>
              <a:t>/</a:t>
            </a:r>
          </a:p>
          <a:p>
            <a:endParaRPr lang="en-CA" sz="1100" dirty="0">
              <a:latin typeface="Tahoma" panose="020B0604030504040204" pitchFamily="34" charset="0"/>
              <a:ea typeface="Tahoma" panose="020B0604030504040204" pitchFamily="34" charset="0"/>
              <a:cs typeface="Tahoma" panose="020B0604030504040204" pitchFamily="34" charset="0"/>
            </a:endParaRPr>
          </a:p>
        </p:txBody>
      </p:sp>
      <p:sp>
        <p:nvSpPr>
          <p:cNvPr id="9" name="Rectangle 3">
            <a:extLst>
              <a:ext uri="{FF2B5EF4-FFF2-40B4-BE49-F238E27FC236}">
                <a16:creationId xmlns:a16="http://schemas.microsoft.com/office/drawing/2014/main" id="{D26D5C78-78E6-3F97-1340-61E13DF36B08}"/>
              </a:ext>
            </a:extLst>
          </p:cNvPr>
          <p:cNvSpPr>
            <a:spLocks noChangeArrowheads="1"/>
          </p:cNvSpPr>
          <p:nvPr/>
        </p:nvSpPr>
        <p:spPr bwMode="auto">
          <a:xfrm>
            <a:off x="6400802" y="4570112"/>
            <a:ext cx="574765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Best Practices When Using SQLERRM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Use inside WHEN OTHERS to capture unknown errors.</a:t>
            </a:r>
            <a:b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Combine with SQLCODE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(which returns the error number).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Log errors in a table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rather than just printing them.</a:t>
            </a:r>
            <a:b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Do not rely solely on WHEN OTHERS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handle specific exceptions where possible.</a:t>
            </a:r>
          </a:p>
        </p:txBody>
      </p:sp>
      <p:sp>
        <p:nvSpPr>
          <p:cNvPr id="11" name="TextBox 10">
            <a:extLst>
              <a:ext uri="{FF2B5EF4-FFF2-40B4-BE49-F238E27FC236}">
                <a16:creationId xmlns:a16="http://schemas.microsoft.com/office/drawing/2014/main" id="{C68568CC-0779-F6D0-58ED-25322A9E9793}"/>
              </a:ext>
            </a:extLst>
          </p:cNvPr>
          <p:cNvSpPr txBox="1"/>
          <p:nvPr/>
        </p:nvSpPr>
        <p:spPr>
          <a:xfrm>
            <a:off x="6488525" y="5216305"/>
            <a:ext cx="4779025" cy="277274"/>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DBMS_OUTPUT.PUT_LINE('Error ' || SQLCODE || ': ' || SQLERRM); </a:t>
            </a:r>
          </a:p>
        </p:txBody>
      </p:sp>
    </p:spTree>
    <p:extLst>
      <p:ext uri="{BB962C8B-B14F-4D97-AF65-F5344CB8AC3E}">
        <p14:creationId xmlns:p14="http://schemas.microsoft.com/office/powerpoint/2010/main" val="3638387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6821D-E0CA-C7A3-38C1-06A8160AD969}"/>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9C0C4859-E5AF-70A0-3DD9-258F656A3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20EC9A54-C37D-1DA3-5A31-8EB44383A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E80160A6-BC24-3005-C878-CBBCAA627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EADD2DBC-F3A5-824A-CD5D-27D907FA9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DCB7F367-D380-8EAF-1BF2-91D41329C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043221A-D1D2-3255-F42D-53970DD02ACE}"/>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Exception or Error Handling in PL/SQL - Examples</a:t>
            </a:r>
          </a:p>
        </p:txBody>
      </p:sp>
      <p:sp>
        <p:nvSpPr>
          <p:cNvPr id="5" name="Slide Number Placeholder 4">
            <a:extLst>
              <a:ext uri="{FF2B5EF4-FFF2-40B4-BE49-F238E27FC236}">
                <a16:creationId xmlns:a16="http://schemas.microsoft.com/office/drawing/2014/main" id="{F402123F-4C9A-60F3-29F7-4D1DDE867F16}"/>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18</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43255CA8-1FCA-47AE-C410-11437A6BD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8" name="TextBox 7">
            <a:extLst>
              <a:ext uri="{FF2B5EF4-FFF2-40B4-BE49-F238E27FC236}">
                <a16:creationId xmlns:a16="http://schemas.microsoft.com/office/drawing/2014/main" id="{DCCAC433-9896-997A-559D-346876F413E4}"/>
              </a:ext>
            </a:extLst>
          </p:cNvPr>
          <p:cNvSpPr txBox="1"/>
          <p:nvPr/>
        </p:nvSpPr>
        <p:spPr>
          <a:xfrm>
            <a:off x="5013316" y="1993603"/>
            <a:ext cx="5140332" cy="338554"/>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600" b="1" dirty="0">
                <a:latin typeface="Tahoma" panose="020B0604030504040204" pitchFamily="34" charset="0"/>
                <a:ea typeface="Tahoma" panose="020B0604030504040204" pitchFamily="34" charset="0"/>
                <a:cs typeface="Tahoma" panose="020B0604030504040204" pitchFamily="34" charset="0"/>
              </a:rPr>
              <a:t>                Example with Predefined Exception </a:t>
            </a:r>
          </a:p>
        </p:txBody>
      </p:sp>
      <p:sp>
        <p:nvSpPr>
          <p:cNvPr id="10" name="TextBox 9">
            <a:extLst>
              <a:ext uri="{FF2B5EF4-FFF2-40B4-BE49-F238E27FC236}">
                <a16:creationId xmlns:a16="http://schemas.microsoft.com/office/drawing/2014/main" id="{0B968879-3286-E74D-0025-8D05C8F6F942}"/>
              </a:ext>
            </a:extLst>
          </p:cNvPr>
          <p:cNvSpPr txBox="1"/>
          <p:nvPr/>
        </p:nvSpPr>
        <p:spPr>
          <a:xfrm>
            <a:off x="2146161" y="5203196"/>
            <a:ext cx="6093500" cy="338554"/>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sz="1600" b="1" dirty="0">
                <a:latin typeface="Tahoma" panose="020B0604030504040204" pitchFamily="34" charset="0"/>
                <a:ea typeface="Tahoma" panose="020B0604030504040204" pitchFamily="34" charset="0"/>
                <a:cs typeface="Tahoma" panose="020B0604030504040204" pitchFamily="34" charset="0"/>
              </a:rPr>
              <a:t>Example with User-Defined Exception</a:t>
            </a:r>
            <a:endParaRPr lang="en-CA" sz="1600" b="1"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B69AE644-13ED-4D57-7E6E-94DCBD9867B7}"/>
              </a:ext>
            </a:extLst>
          </p:cNvPr>
          <p:cNvSpPr txBox="1"/>
          <p:nvPr/>
        </p:nvSpPr>
        <p:spPr>
          <a:xfrm>
            <a:off x="127068" y="1622745"/>
            <a:ext cx="5849257"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DECLARE</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l_num</a:t>
            </a:r>
            <a:r>
              <a:rPr lang="en-CA" sz="1200" dirty="0">
                <a:latin typeface="Tahoma" panose="020B0604030504040204" pitchFamily="34" charset="0"/>
                <a:ea typeface="Tahoma" panose="020B0604030504040204" pitchFamily="34" charset="0"/>
                <a:cs typeface="Tahoma" panose="020B0604030504040204" pitchFamily="34" charset="0"/>
              </a:rPr>
              <a:t> NUMBER;  -- Declare a variable to hold the salary</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Attempt to select salary for employee with ID 1001</a:t>
            </a:r>
          </a:p>
          <a:p>
            <a:r>
              <a:rPr lang="en-CA" sz="1200" dirty="0">
                <a:latin typeface="Tahoma" panose="020B0604030504040204" pitchFamily="34" charset="0"/>
                <a:ea typeface="Tahoma" panose="020B0604030504040204" pitchFamily="34" charset="0"/>
                <a:cs typeface="Tahoma" panose="020B0604030504040204" pitchFamily="34" charset="0"/>
              </a:rPr>
              <a:t>NO_DATA_FOUND or TOO_MANY_ROWS</a:t>
            </a:r>
          </a:p>
          <a:p>
            <a:r>
              <a:rPr lang="en-CA" sz="1200" dirty="0">
                <a:latin typeface="Tahoma" panose="020B0604030504040204" pitchFamily="34" charset="0"/>
                <a:ea typeface="Tahoma" panose="020B0604030504040204" pitchFamily="34" charset="0"/>
                <a:cs typeface="Tahoma" panose="020B0604030504040204" pitchFamily="34" charset="0"/>
              </a:rPr>
              <a:t>   SELECT salary INTO </a:t>
            </a:r>
            <a:r>
              <a:rPr lang="en-CA" sz="1200" dirty="0" err="1">
                <a:latin typeface="Tahoma" panose="020B0604030504040204" pitchFamily="34" charset="0"/>
                <a:ea typeface="Tahoma" panose="020B0604030504040204" pitchFamily="34" charset="0"/>
                <a:cs typeface="Tahoma" panose="020B0604030504040204" pitchFamily="34" charset="0"/>
              </a:rPr>
              <a:t>l_num</a:t>
            </a:r>
            <a:r>
              <a:rPr lang="en-CA" sz="1200" dirty="0">
                <a:latin typeface="Tahoma" panose="020B0604030504040204" pitchFamily="34" charset="0"/>
                <a:ea typeface="Tahoma" panose="020B0604030504040204" pitchFamily="34" charset="0"/>
                <a:cs typeface="Tahoma" panose="020B0604030504040204" pitchFamily="34" charset="0"/>
              </a:rPr>
              <a:t> FROM employees WHERE </a:t>
            </a:r>
            <a:r>
              <a:rPr lang="en-CA" sz="1200" dirty="0" err="1">
                <a:latin typeface="Tahoma" panose="020B0604030504040204" pitchFamily="34" charset="0"/>
                <a:ea typeface="Tahoma" panose="020B0604030504040204" pitchFamily="34" charset="0"/>
                <a:cs typeface="Tahoma" panose="020B0604030504040204" pitchFamily="34" charset="0"/>
              </a:rPr>
              <a:t>employee_id</a:t>
            </a:r>
            <a:r>
              <a:rPr lang="en-CA" sz="1200" dirty="0">
                <a:latin typeface="Tahoma" panose="020B0604030504040204" pitchFamily="34" charset="0"/>
                <a:ea typeface="Tahoma" panose="020B0604030504040204" pitchFamily="34" charset="0"/>
                <a:cs typeface="Tahoma" panose="020B0604030504040204" pitchFamily="34" charset="0"/>
              </a:rPr>
              <a:t> = 1001;</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EXCEPTION</a:t>
            </a: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Handle the case where no employee is found with the specified ID</a:t>
            </a:r>
          </a:p>
          <a:p>
            <a:r>
              <a:rPr lang="en-CA" sz="1200" dirty="0">
                <a:latin typeface="Tahoma" panose="020B0604030504040204" pitchFamily="34" charset="0"/>
                <a:ea typeface="Tahoma" panose="020B0604030504040204" pitchFamily="34" charset="0"/>
                <a:cs typeface="Tahoma" panose="020B0604030504040204" pitchFamily="34" charset="0"/>
              </a:rPr>
              <a:t>   WHEN NO_DATA_FOUND THEN</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DBMS_OUTPUT.PUT_LINE('No employee found with ID 1001');</a:t>
            </a:r>
          </a:p>
          <a:p>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Handle the case where multiple employees are found with the same ID</a:t>
            </a:r>
          </a:p>
          <a:p>
            <a:r>
              <a:rPr lang="en-CA" sz="1200" dirty="0">
                <a:latin typeface="Tahoma" panose="020B0604030504040204" pitchFamily="34" charset="0"/>
                <a:ea typeface="Tahoma" panose="020B0604030504040204" pitchFamily="34" charset="0"/>
                <a:cs typeface="Tahoma" panose="020B0604030504040204" pitchFamily="34" charset="0"/>
              </a:rPr>
              <a:t>   WHEN TOO_MANY_ROWS THEN</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DBMS_OUTPUT.PUT_LINE('More than one employee found with the same ID');</a:t>
            </a:r>
          </a:p>
          <a:p>
            <a:r>
              <a:rPr lang="en-CA" sz="1200" dirty="0">
                <a:latin typeface="Tahoma" panose="020B0604030504040204" pitchFamily="34" charset="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CCD7CF86-F844-88E0-3F0A-C6BDD270DC83}"/>
              </a:ext>
            </a:extLst>
          </p:cNvPr>
          <p:cNvSpPr txBox="1"/>
          <p:nvPr/>
        </p:nvSpPr>
        <p:spPr>
          <a:xfrm>
            <a:off x="6440536" y="3131753"/>
            <a:ext cx="5624395"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DECLARE</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l_num</a:t>
            </a:r>
            <a:r>
              <a:rPr lang="en-CA" sz="1200" dirty="0">
                <a:latin typeface="Tahoma" panose="020B0604030504040204" pitchFamily="34" charset="0"/>
                <a:ea typeface="Tahoma" panose="020B0604030504040204" pitchFamily="34" charset="0"/>
                <a:cs typeface="Tahoma" panose="020B0604030504040204" pitchFamily="34" charset="0"/>
              </a:rPr>
              <a:t> NUMBER;  -- Declare a variable to hold the salary</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Attempt to select salary for employee with ID 1001</a:t>
            </a: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This SELECT INTO statement can raise exceptions like </a:t>
            </a:r>
            <a:r>
              <a:rPr lang="en-CA" sz="1200" dirty="0">
                <a:latin typeface="Tahoma" panose="020B0604030504040204" pitchFamily="34" charset="0"/>
                <a:ea typeface="Tahoma" panose="020B0604030504040204" pitchFamily="34" charset="0"/>
                <a:cs typeface="Tahoma" panose="020B0604030504040204" pitchFamily="34" charset="0"/>
              </a:rPr>
              <a:t>NO_DATA_FOUND or TOO_MANY_ROWS</a:t>
            </a:r>
          </a:p>
          <a:p>
            <a:r>
              <a:rPr lang="en-CA" sz="1200" dirty="0">
                <a:latin typeface="Tahoma" panose="020B0604030504040204" pitchFamily="34" charset="0"/>
                <a:ea typeface="Tahoma" panose="020B0604030504040204" pitchFamily="34" charset="0"/>
                <a:cs typeface="Tahoma" panose="020B0604030504040204" pitchFamily="34" charset="0"/>
              </a:rPr>
              <a:t>   SELECT salary INTO </a:t>
            </a:r>
            <a:r>
              <a:rPr lang="en-CA" sz="1200" dirty="0" err="1">
                <a:latin typeface="Tahoma" panose="020B0604030504040204" pitchFamily="34" charset="0"/>
                <a:ea typeface="Tahoma" panose="020B0604030504040204" pitchFamily="34" charset="0"/>
                <a:cs typeface="Tahoma" panose="020B0604030504040204" pitchFamily="34" charset="0"/>
              </a:rPr>
              <a:t>l_num</a:t>
            </a:r>
            <a:r>
              <a:rPr lang="en-CA" sz="1200" dirty="0">
                <a:latin typeface="Tahoma" panose="020B0604030504040204" pitchFamily="34" charset="0"/>
                <a:ea typeface="Tahoma" panose="020B0604030504040204" pitchFamily="34" charset="0"/>
                <a:cs typeface="Tahoma" panose="020B0604030504040204" pitchFamily="34" charset="0"/>
              </a:rPr>
              <a:t> FROM employees WHERE </a:t>
            </a:r>
            <a:r>
              <a:rPr lang="en-CA" sz="1200" dirty="0" err="1">
                <a:latin typeface="Tahoma" panose="020B0604030504040204" pitchFamily="34" charset="0"/>
                <a:ea typeface="Tahoma" panose="020B0604030504040204" pitchFamily="34" charset="0"/>
                <a:cs typeface="Tahoma" panose="020B0604030504040204" pitchFamily="34" charset="0"/>
              </a:rPr>
              <a:t>employee_id</a:t>
            </a:r>
            <a:r>
              <a:rPr lang="en-CA" sz="1200" dirty="0">
                <a:latin typeface="Tahoma" panose="020B0604030504040204" pitchFamily="34" charset="0"/>
                <a:ea typeface="Tahoma" panose="020B0604030504040204" pitchFamily="34" charset="0"/>
                <a:cs typeface="Tahoma" panose="020B0604030504040204" pitchFamily="34" charset="0"/>
              </a:rPr>
              <a:t> = 1001;</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EXCEPTION</a:t>
            </a:r>
          </a:p>
          <a:p>
            <a:r>
              <a:rPr lang="en-CA" sz="1200" dirty="0">
                <a:highlight>
                  <a:srgbClr val="C0C0C0"/>
                </a:highlight>
                <a:latin typeface="Tahoma" panose="020B0604030504040204" pitchFamily="34" charset="0"/>
                <a:ea typeface="Tahoma" panose="020B0604030504040204" pitchFamily="34" charset="0"/>
                <a:cs typeface="Tahoma" panose="020B0604030504040204" pitchFamily="34" charset="0"/>
              </a:rPr>
              <a:t>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Handle the case where no employee is found with the specified ID</a:t>
            </a:r>
          </a:p>
          <a:p>
            <a:r>
              <a:rPr lang="en-CA" sz="1200" dirty="0">
                <a:latin typeface="Tahoma" panose="020B0604030504040204" pitchFamily="34" charset="0"/>
                <a:ea typeface="Tahoma" panose="020B0604030504040204" pitchFamily="34" charset="0"/>
                <a:cs typeface="Tahoma" panose="020B0604030504040204" pitchFamily="34" charset="0"/>
              </a:rPr>
              <a:t>   WHEN NO_DATA_FOUND THEN</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DBMS_OUTPUT.PUT_LINE('No employee found with ID 1001');</a:t>
            </a:r>
          </a:p>
          <a:p>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i="1" dirty="0">
                <a:latin typeface="Tahoma" panose="020B0604030504040204" pitchFamily="34" charset="0"/>
                <a:ea typeface="Tahoma" panose="020B0604030504040204" pitchFamily="34" charset="0"/>
                <a:cs typeface="Tahoma" panose="020B0604030504040204" pitchFamily="34" charset="0"/>
              </a:rPr>
              <a:t>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Handle the case where multiple employees are found with the same ID</a:t>
            </a:r>
          </a:p>
          <a:p>
            <a:r>
              <a:rPr lang="en-CA" sz="1200" i="1" dirty="0">
                <a:latin typeface="Tahoma" panose="020B0604030504040204" pitchFamily="34" charset="0"/>
                <a:ea typeface="Tahoma" panose="020B0604030504040204" pitchFamily="34" charset="0"/>
                <a:cs typeface="Tahoma" panose="020B0604030504040204" pitchFamily="34" charset="0"/>
              </a:rPr>
              <a:t> </a:t>
            </a:r>
            <a:r>
              <a:rPr lang="en-CA" sz="1200" dirty="0">
                <a:latin typeface="Tahoma" panose="020B0604030504040204" pitchFamily="34" charset="0"/>
                <a:ea typeface="Tahoma" panose="020B0604030504040204" pitchFamily="34" charset="0"/>
                <a:cs typeface="Tahoma" panose="020B0604030504040204" pitchFamily="34" charset="0"/>
              </a:rPr>
              <a:t>  WHEN TOO_MANY_ROWS THEN</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DBMS_OUTPUT.PUT_LINE('More than one employee found with the same ID');</a:t>
            </a:r>
          </a:p>
          <a:p>
            <a:r>
              <a:rPr lang="en-CA" sz="1200" dirty="0">
                <a:latin typeface="Tahoma" panose="020B0604030504040204" pitchFamily="34" charset="0"/>
                <a:ea typeface="Tahoma" panose="020B0604030504040204" pitchFamily="34" charset="0"/>
                <a:cs typeface="Tahoma" panose="020B0604030504040204" pitchFamily="34" charset="0"/>
              </a:rPr>
              <a:t>END;</a:t>
            </a:r>
          </a:p>
        </p:txBody>
      </p:sp>
    </p:spTree>
    <p:extLst>
      <p:ext uri="{BB962C8B-B14F-4D97-AF65-F5344CB8AC3E}">
        <p14:creationId xmlns:p14="http://schemas.microsoft.com/office/powerpoint/2010/main" val="1520520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Catch-All Exception in PL/SQL – WHEN OTHERS</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19</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6" y="6264989"/>
            <a:ext cx="885288" cy="451802"/>
          </a:xfrm>
          <a:prstGeom prst="rect">
            <a:avLst/>
          </a:prstGeom>
        </p:spPr>
      </p:pic>
      <p:sp>
        <p:nvSpPr>
          <p:cNvPr id="7" name="Rectangle 2">
            <a:extLst>
              <a:ext uri="{FF2B5EF4-FFF2-40B4-BE49-F238E27FC236}">
                <a16:creationId xmlns:a16="http://schemas.microsoft.com/office/drawing/2014/main" id="{1E83F3B0-5323-26B3-892B-05BE451360EF}"/>
              </a:ext>
            </a:extLst>
          </p:cNvPr>
          <p:cNvSpPr>
            <a:spLocks noChangeArrowheads="1"/>
          </p:cNvSpPr>
          <p:nvPr/>
        </p:nvSpPr>
        <p:spPr bwMode="auto">
          <a:xfrm>
            <a:off x="16707" y="1787789"/>
            <a:ext cx="121356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Catch-All Exception</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 PL/SQL is handled using the WHEN OTHERS clause in the EXCEPTION block. This allows you to catch and handle any exceptions that are not explicitly handled by other WHEN clauses. The WHEN OTHERS exception is useful when you want to capture unexpected errors or when you don't need to handle each possible error individually.</a:t>
            </a: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1" name="Diagram 10">
            <a:extLst>
              <a:ext uri="{FF2B5EF4-FFF2-40B4-BE49-F238E27FC236}">
                <a16:creationId xmlns:a16="http://schemas.microsoft.com/office/drawing/2014/main" id="{1E40994E-47FE-9E46-2A86-20D3D425DF81}"/>
              </a:ext>
            </a:extLst>
          </p:cNvPr>
          <p:cNvGraphicFramePr/>
          <p:nvPr>
            <p:extLst>
              <p:ext uri="{D42A27DB-BD31-4B8C-83A1-F6EECF244321}">
                <p14:modId xmlns:p14="http://schemas.microsoft.com/office/powerpoint/2010/main" val="2213058284"/>
              </p:ext>
            </p:extLst>
          </p:nvPr>
        </p:nvGraphicFramePr>
        <p:xfrm>
          <a:off x="-394060" y="2033072"/>
          <a:ext cx="8903420" cy="3727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FD88673D-CC8A-F2D0-7302-B5528B1C2E42}"/>
              </a:ext>
            </a:extLst>
          </p:cNvPr>
          <p:cNvSpPr txBox="1"/>
          <p:nvPr/>
        </p:nvSpPr>
        <p:spPr>
          <a:xfrm>
            <a:off x="8774213" y="2797543"/>
            <a:ext cx="3113307" cy="276999"/>
          </a:xfrm>
          <a:prstGeom prst="rect">
            <a:avLst/>
          </a:prstGeom>
          <a:noFill/>
        </p:spPr>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Structure of WHEN OTHERS</a:t>
            </a:r>
            <a:endParaRPr lang="en-CA" sz="1200" b="1"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F84AE7FA-E0BC-C56E-BD37-4CCCB67DC455}"/>
              </a:ext>
            </a:extLst>
          </p:cNvPr>
          <p:cNvSpPr txBox="1"/>
          <p:nvPr/>
        </p:nvSpPr>
        <p:spPr>
          <a:xfrm>
            <a:off x="8577184" y="3111753"/>
            <a:ext cx="3507367"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Main executable block</a:t>
            </a:r>
          </a:p>
          <a:p>
            <a:r>
              <a:rPr lang="en-CA" sz="1200" dirty="0">
                <a:latin typeface="Tahoma" panose="020B0604030504040204" pitchFamily="34" charset="0"/>
                <a:ea typeface="Tahoma" panose="020B0604030504040204" pitchFamily="34" charset="0"/>
                <a:cs typeface="Tahoma" panose="020B0604030504040204" pitchFamily="34" charset="0"/>
              </a:rPr>
              <a:t>EXCEPTION</a:t>
            </a:r>
          </a:p>
          <a:p>
            <a:r>
              <a:rPr lang="en-CA" sz="1200" dirty="0">
                <a:latin typeface="Tahoma" panose="020B0604030504040204" pitchFamily="34" charset="0"/>
                <a:ea typeface="Tahoma" panose="020B0604030504040204" pitchFamily="34" charset="0"/>
                <a:cs typeface="Tahoma" panose="020B0604030504040204" pitchFamily="34" charset="0"/>
              </a:rPr>
              <a:t>   WHEN OTHERS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Handle any exceptions that are not explicitly handled</a:t>
            </a:r>
          </a:p>
          <a:p>
            <a:r>
              <a:rPr lang="en-CA" sz="1200" dirty="0">
                <a:latin typeface="Tahoma" panose="020B0604030504040204" pitchFamily="34" charset="0"/>
                <a:ea typeface="Tahoma" panose="020B0604030504040204" pitchFamily="34" charset="0"/>
                <a:cs typeface="Tahoma" panose="020B0604030504040204" pitchFamily="34" charset="0"/>
              </a:rPr>
              <a:t>END;</a:t>
            </a:r>
          </a:p>
          <a:p>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60884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Catch-All Exception in PL/SQL – WHEN OTHERS/Example</a:t>
            </a:r>
            <a:b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 </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20</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6" y="6425754"/>
            <a:ext cx="885288" cy="451802"/>
          </a:xfrm>
          <a:prstGeom prst="rect">
            <a:avLst/>
          </a:prstGeom>
        </p:spPr>
      </p:pic>
      <p:sp>
        <p:nvSpPr>
          <p:cNvPr id="16" name="TextBox 15">
            <a:extLst>
              <a:ext uri="{FF2B5EF4-FFF2-40B4-BE49-F238E27FC236}">
                <a16:creationId xmlns:a16="http://schemas.microsoft.com/office/drawing/2014/main" id="{FBA6A730-72A7-24F7-9AEF-29C3668689F5}"/>
              </a:ext>
            </a:extLst>
          </p:cNvPr>
          <p:cNvSpPr txBox="1"/>
          <p:nvPr/>
        </p:nvSpPr>
        <p:spPr>
          <a:xfrm>
            <a:off x="4636573" y="2611548"/>
            <a:ext cx="3818744" cy="276999"/>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                       Example of Using WHEN OTHERS</a:t>
            </a:r>
          </a:p>
        </p:txBody>
      </p:sp>
      <p:graphicFrame>
        <p:nvGraphicFramePr>
          <p:cNvPr id="17" name="Diagram 16">
            <a:extLst>
              <a:ext uri="{FF2B5EF4-FFF2-40B4-BE49-F238E27FC236}">
                <a16:creationId xmlns:a16="http://schemas.microsoft.com/office/drawing/2014/main" id="{9C1E146C-680A-CA31-5FA3-E5D3ADF48450}"/>
              </a:ext>
            </a:extLst>
          </p:cNvPr>
          <p:cNvGraphicFramePr/>
          <p:nvPr>
            <p:extLst>
              <p:ext uri="{D42A27DB-BD31-4B8C-83A1-F6EECF244321}">
                <p14:modId xmlns:p14="http://schemas.microsoft.com/office/powerpoint/2010/main" val="2549999848"/>
              </p:ext>
            </p:extLst>
          </p:nvPr>
        </p:nvGraphicFramePr>
        <p:xfrm>
          <a:off x="6348591" y="3512005"/>
          <a:ext cx="5826703" cy="49288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F68ACE35-1B6E-AA9A-20E6-5C538CEA8DB3}"/>
              </a:ext>
            </a:extLst>
          </p:cNvPr>
          <p:cNvSpPr txBox="1"/>
          <p:nvPr/>
        </p:nvSpPr>
        <p:spPr>
          <a:xfrm>
            <a:off x="195202" y="1646402"/>
            <a:ext cx="5416385" cy="32316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Attempt to divide by zero (this will raise a ZERO_DIVIDE exception)</a:t>
            </a:r>
          </a:p>
          <a:p>
            <a:r>
              <a:rPr lang="en-CA" sz="1200" dirty="0">
                <a:latin typeface="Tahoma" panose="020B0604030504040204" pitchFamily="34" charset="0"/>
                <a:ea typeface="Tahoma" panose="020B0604030504040204" pitchFamily="34" charset="0"/>
                <a:cs typeface="Tahoma" panose="020B0604030504040204" pitchFamily="34" charset="0"/>
              </a:rPr>
              <a:t>   DECLARE</a:t>
            </a:r>
          </a:p>
          <a:p>
            <a:r>
              <a:rPr lang="en-CA" sz="1200" dirty="0">
                <a:latin typeface="Tahoma" panose="020B0604030504040204" pitchFamily="34" charset="0"/>
                <a:ea typeface="Tahoma" panose="020B0604030504040204" pitchFamily="34" charset="0"/>
                <a:cs typeface="Tahoma" panose="020B0604030504040204" pitchFamily="34" charset="0"/>
              </a:rPr>
              <a:t>      num1 NUMBER := 10;</a:t>
            </a:r>
          </a:p>
          <a:p>
            <a:r>
              <a:rPr lang="en-CA" sz="1200" dirty="0">
                <a:latin typeface="Tahoma" panose="020B0604030504040204" pitchFamily="34" charset="0"/>
                <a:ea typeface="Tahoma" panose="020B0604030504040204" pitchFamily="34" charset="0"/>
                <a:cs typeface="Tahoma" panose="020B0604030504040204" pitchFamily="34" charset="0"/>
              </a:rPr>
              <a:t>      num2 NUMBER := 0;</a:t>
            </a:r>
          </a:p>
          <a:p>
            <a:r>
              <a:rPr lang="en-CA" sz="1200" dirty="0">
                <a:latin typeface="Tahoma" panose="020B0604030504040204" pitchFamily="34" charset="0"/>
                <a:ea typeface="Tahoma" panose="020B0604030504040204" pitchFamily="34" charset="0"/>
                <a:cs typeface="Tahoma" panose="020B0604030504040204" pitchFamily="34" charset="0"/>
              </a:rPr>
              <a:t>      result NUMBER;</a:t>
            </a:r>
          </a:p>
          <a:p>
            <a:r>
              <a:rPr lang="en-CA" sz="1200" dirty="0">
                <a:latin typeface="Tahoma" panose="020B0604030504040204" pitchFamily="34" charset="0"/>
                <a:ea typeface="Tahoma" panose="020B0604030504040204" pitchFamily="34" charset="0"/>
                <a:cs typeface="Tahoma" panose="020B0604030504040204" pitchFamily="34" charset="0"/>
              </a:rPr>
              <a:t>   BEGIN</a:t>
            </a:r>
          </a:p>
          <a:p>
            <a:r>
              <a:rPr lang="en-CA" sz="1200" dirty="0">
                <a:latin typeface="Tahoma" panose="020B0604030504040204" pitchFamily="34" charset="0"/>
                <a:ea typeface="Tahoma" panose="020B0604030504040204" pitchFamily="34" charset="0"/>
                <a:cs typeface="Tahoma" panose="020B0604030504040204" pitchFamily="34" charset="0"/>
              </a:rPr>
              <a:t>      result := num1 / num2;  </a:t>
            </a:r>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This line will raise an exception</a:t>
            </a:r>
          </a:p>
          <a:p>
            <a:r>
              <a:rPr lang="en-CA" sz="1200" dirty="0">
                <a:latin typeface="Tahoma" panose="020B0604030504040204" pitchFamily="34" charset="0"/>
                <a:ea typeface="Tahoma" panose="020B0604030504040204" pitchFamily="34" charset="0"/>
                <a:cs typeface="Tahoma" panose="020B0604030504040204" pitchFamily="34" charset="0"/>
              </a:rPr>
              <a:t>   END;</a:t>
            </a:r>
          </a:p>
          <a:p>
            <a:r>
              <a:rPr lang="en-CA" sz="1200" dirty="0">
                <a:latin typeface="Tahoma" panose="020B0604030504040204" pitchFamily="34" charset="0"/>
                <a:ea typeface="Tahoma" panose="020B0604030504040204" pitchFamily="34" charset="0"/>
                <a:cs typeface="Tahoma" panose="020B0604030504040204" pitchFamily="34" charset="0"/>
              </a:rPr>
              <a:t>EXCEPTION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Catch all unhandled exceptions (like division by zero)</a:t>
            </a:r>
          </a:p>
          <a:p>
            <a:r>
              <a:rPr lang="en-CA" sz="1200" dirty="0">
                <a:latin typeface="Tahoma" panose="020B0604030504040204" pitchFamily="34" charset="0"/>
                <a:ea typeface="Tahoma" panose="020B0604030504040204" pitchFamily="34" charset="0"/>
                <a:cs typeface="Tahoma" panose="020B0604030504040204" pitchFamily="34" charset="0"/>
              </a:rPr>
              <a:t>   WHEN OTHERS THEN</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DBMS_OUTPUT.PUT_LINE('An unexpected error occurred.');</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Optionally log the error code and message</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DBMS_OUTPUT.PUT_LINE('Error Code: ' || SQLCODE);</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DBMS_OUTPUT.PUT_LINE('Error Message: ' || SQLERRM);</a:t>
            </a:r>
          </a:p>
          <a:p>
            <a:r>
              <a:rPr lang="en-CA" sz="1200" dirty="0">
                <a:latin typeface="Tahoma" panose="020B0604030504040204" pitchFamily="34" charset="0"/>
                <a:ea typeface="Tahoma" panose="020B0604030504040204" pitchFamily="34" charset="0"/>
                <a:cs typeface="Tahoma" panose="020B0604030504040204" pitchFamily="34" charset="0"/>
              </a:rPr>
              <a:t>END;</a:t>
            </a:r>
          </a:p>
        </p:txBody>
      </p:sp>
    </p:spTree>
    <p:extLst>
      <p:ext uri="{BB962C8B-B14F-4D97-AF65-F5344CB8AC3E}">
        <p14:creationId xmlns:p14="http://schemas.microsoft.com/office/powerpoint/2010/main" val="273398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Exception Handling – Extra Examples</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21</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6" y="6425754"/>
            <a:ext cx="885288" cy="451802"/>
          </a:xfrm>
          <a:prstGeom prst="rect">
            <a:avLst/>
          </a:prstGeom>
        </p:spPr>
      </p:pic>
      <p:sp>
        <p:nvSpPr>
          <p:cNvPr id="16" name="TextBox 15">
            <a:extLst>
              <a:ext uri="{FF2B5EF4-FFF2-40B4-BE49-F238E27FC236}">
                <a16:creationId xmlns:a16="http://schemas.microsoft.com/office/drawing/2014/main" id="{FBA6A730-72A7-24F7-9AEF-29C3668689F5}"/>
              </a:ext>
            </a:extLst>
          </p:cNvPr>
          <p:cNvSpPr txBox="1"/>
          <p:nvPr/>
        </p:nvSpPr>
        <p:spPr>
          <a:xfrm>
            <a:off x="5774906" y="2465583"/>
            <a:ext cx="5492644" cy="646331"/>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lvl="1"/>
            <a:r>
              <a:rPr lang="en-CA" sz="1200" b="1" dirty="0">
                <a:latin typeface="Tahoma" panose="020B0604030504040204" pitchFamily="34" charset="0"/>
                <a:ea typeface="Tahoma" panose="020B0604030504040204" pitchFamily="34" charset="0"/>
                <a:cs typeface="Tahoma" panose="020B0604030504040204" pitchFamily="34" charset="0"/>
              </a:rPr>
              <a:t>Predefined Exceptions</a:t>
            </a:r>
          </a:p>
          <a:p>
            <a:pPr lvl="1"/>
            <a:r>
              <a:rPr lang="en-CA" sz="1200" dirty="0">
                <a:latin typeface="Tahoma" panose="020B0604030504040204" pitchFamily="34" charset="0"/>
                <a:ea typeface="Tahoma" panose="020B0604030504040204" pitchFamily="34" charset="0"/>
                <a:cs typeface="Tahoma" panose="020B0604030504040204" pitchFamily="34" charset="0"/>
              </a:rPr>
              <a:t>These are exceptions that are automatically raised by PL/SQL when certain conditions occur.</a:t>
            </a:r>
          </a:p>
        </p:txBody>
      </p:sp>
      <p:sp>
        <p:nvSpPr>
          <p:cNvPr id="6" name="TextBox 5">
            <a:extLst>
              <a:ext uri="{FF2B5EF4-FFF2-40B4-BE49-F238E27FC236}">
                <a16:creationId xmlns:a16="http://schemas.microsoft.com/office/drawing/2014/main" id="{B513EC21-37F9-8666-FB8F-F3CF2201F5FC}"/>
              </a:ext>
            </a:extLst>
          </p:cNvPr>
          <p:cNvSpPr txBox="1"/>
          <p:nvPr/>
        </p:nvSpPr>
        <p:spPr>
          <a:xfrm>
            <a:off x="594890" y="5406788"/>
            <a:ext cx="3909400" cy="646331"/>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User-Defined Exceptions</a:t>
            </a:r>
          </a:p>
          <a:p>
            <a:r>
              <a:rPr lang="en-CA" sz="1200" dirty="0">
                <a:latin typeface="Tahoma" panose="020B0604030504040204" pitchFamily="34" charset="0"/>
                <a:ea typeface="Tahoma" panose="020B0604030504040204" pitchFamily="34" charset="0"/>
                <a:cs typeface="Tahoma" panose="020B0604030504040204" pitchFamily="34" charset="0"/>
              </a:rPr>
              <a:t>You can define your own exceptions to handle specific error cases.</a:t>
            </a:r>
          </a:p>
        </p:txBody>
      </p:sp>
      <p:sp>
        <p:nvSpPr>
          <p:cNvPr id="8" name="TextBox 7">
            <a:extLst>
              <a:ext uri="{FF2B5EF4-FFF2-40B4-BE49-F238E27FC236}">
                <a16:creationId xmlns:a16="http://schemas.microsoft.com/office/drawing/2014/main" id="{1200E115-EC90-1589-A3C2-C75602321F6C}"/>
              </a:ext>
            </a:extLst>
          </p:cNvPr>
          <p:cNvSpPr txBox="1"/>
          <p:nvPr/>
        </p:nvSpPr>
        <p:spPr>
          <a:xfrm>
            <a:off x="184346" y="1660106"/>
            <a:ext cx="6096000" cy="24622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100" b="0" dirty="0">
                <a:latin typeface="Tahoma" panose="020B0604030504040204" pitchFamily="34" charset="0"/>
                <a:ea typeface="Tahoma" panose="020B0604030504040204" pitchFamily="34" charset="0"/>
                <a:cs typeface="Tahoma" panose="020B0604030504040204" pitchFamily="34" charset="0"/>
              </a:rPr>
              <a:t>DECLARE</a:t>
            </a:r>
          </a:p>
          <a:p>
            <a:r>
              <a:rPr lang="en-CA" sz="1100" b="0" dirty="0">
                <a:latin typeface="Tahoma" panose="020B0604030504040204" pitchFamily="34" charset="0"/>
                <a:ea typeface="Tahoma" panose="020B0604030504040204" pitchFamily="34" charset="0"/>
                <a:cs typeface="Tahoma" panose="020B0604030504040204" pitchFamily="34" charset="0"/>
              </a:rPr>
              <a:t>    </a:t>
            </a:r>
            <a:r>
              <a:rPr lang="en-CA" sz="1100" b="0" dirty="0" err="1">
                <a:latin typeface="Tahoma" panose="020B0604030504040204" pitchFamily="34" charset="0"/>
                <a:ea typeface="Tahoma" panose="020B0604030504040204" pitchFamily="34" charset="0"/>
                <a:cs typeface="Tahoma" panose="020B0604030504040204" pitchFamily="34" charset="0"/>
              </a:rPr>
              <a:t>v_name</a:t>
            </a:r>
            <a:r>
              <a:rPr lang="en-CA" sz="1100" b="0" dirty="0">
                <a:latin typeface="Tahoma" panose="020B0604030504040204" pitchFamily="34" charset="0"/>
                <a:ea typeface="Tahoma" panose="020B0604030504040204" pitchFamily="34" charset="0"/>
                <a:cs typeface="Tahoma" panose="020B0604030504040204" pitchFamily="34" charset="0"/>
              </a:rPr>
              <a:t> VARCHAR2(50);  </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Declare a variable '</a:t>
            </a:r>
            <a:r>
              <a:rPr lang="en-CA" sz="1100" b="0" i="1" dirty="0" err="1">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v_name</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of type VARCHAR2 to store the employee's first name</a:t>
            </a:r>
          </a:p>
          <a:p>
            <a:r>
              <a:rPr lang="en-CA" sz="1100" b="0" dirty="0">
                <a:latin typeface="Tahoma" panose="020B0604030504040204" pitchFamily="34" charset="0"/>
                <a:ea typeface="Tahoma" panose="020B0604030504040204" pitchFamily="34" charset="0"/>
                <a:cs typeface="Tahoma" panose="020B0604030504040204" pitchFamily="34" charset="0"/>
              </a:rPr>
              <a:t>BEGIN</a:t>
            </a:r>
          </a:p>
          <a:p>
            <a:r>
              <a:rPr lang="en-CA" sz="1100" b="0" dirty="0">
                <a:latin typeface="Tahoma" panose="020B0604030504040204" pitchFamily="34" charset="0"/>
                <a:ea typeface="Tahoma" panose="020B0604030504040204" pitchFamily="34" charset="0"/>
                <a:cs typeface="Tahoma" panose="020B0604030504040204" pitchFamily="34" charset="0"/>
              </a:rPr>
              <a:t>    SELECT </a:t>
            </a:r>
            <a:r>
              <a:rPr lang="en-CA" sz="1100" b="0" dirty="0" err="1">
                <a:latin typeface="Tahoma" panose="020B0604030504040204" pitchFamily="34" charset="0"/>
                <a:ea typeface="Tahoma" panose="020B0604030504040204" pitchFamily="34" charset="0"/>
                <a:cs typeface="Tahoma" panose="020B0604030504040204" pitchFamily="34" charset="0"/>
              </a:rPr>
              <a:t>first_name</a:t>
            </a:r>
            <a:r>
              <a:rPr lang="en-CA" sz="1100" b="0" dirty="0">
                <a:latin typeface="Tahoma" panose="020B0604030504040204" pitchFamily="34" charset="0"/>
                <a:ea typeface="Tahoma" panose="020B0604030504040204" pitchFamily="34" charset="0"/>
                <a:cs typeface="Tahoma" panose="020B0604030504040204" pitchFamily="34" charset="0"/>
              </a:rPr>
              <a:t> INTO </a:t>
            </a:r>
            <a:r>
              <a:rPr lang="en-CA" sz="1100" b="0" dirty="0" err="1">
                <a:latin typeface="Tahoma" panose="020B0604030504040204" pitchFamily="34" charset="0"/>
                <a:ea typeface="Tahoma" panose="020B0604030504040204" pitchFamily="34" charset="0"/>
                <a:cs typeface="Tahoma" panose="020B0604030504040204" pitchFamily="34" charset="0"/>
              </a:rPr>
              <a:t>v_name</a:t>
            </a:r>
            <a:r>
              <a:rPr lang="en-CA" sz="1100" b="0" dirty="0">
                <a:latin typeface="Tahoma" panose="020B0604030504040204" pitchFamily="34" charset="0"/>
                <a:ea typeface="Tahoma" panose="020B0604030504040204" pitchFamily="34" charset="0"/>
                <a:cs typeface="Tahoma" panose="020B0604030504040204" pitchFamily="34" charset="0"/>
              </a:rPr>
              <a:t>  </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Select the '</a:t>
            </a:r>
            <a:r>
              <a:rPr lang="en-CA" sz="1100" b="0" i="1" dirty="0" err="1">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first_name</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from the 'employees' table and store it in '</a:t>
            </a:r>
            <a:r>
              <a:rPr lang="en-CA" sz="1100" b="0" i="1" dirty="0" err="1">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v_name</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a:t>
            </a:r>
          </a:p>
          <a:p>
            <a:r>
              <a:rPr lang="en-CA" sz="1100" b="0" dirty="0">
                <a:latin typeface="Tahoma" panose="020B0604030504040204" pitchFamily="34" charset="0"/>
                <a:ea typeface="Tahoma" panose="020B0604030504040204" pitchFamily="34" charset="0"/>
                <a:cs typeface="Tahoma" panose="020B0604030504040204" pitchFamily="34" charset="0"/>
              </a:rPr>
              <a:t>    FROM employees </a:t>
            </a:r>
          </a:p>
          <a:p>
            <a:r>
              <a:rPr lang="en-CA" sz="1100" b="0" dirty="0">
                <a:latin typeface="Tahoma" panose="020B0604030504040204" pitchFamily="34" charset="0"/>
                <a:ea typeface="Tahoma" panose="020B0604030504040204" pitchFamily="34" charset="0"/>
                <a:cs typeface="Tahoma" panose="020B0604030504040204" pitchFamily="34" charset="0"/>
              </a:rPr>
              <a:t>    WHERE </a:t>
            </a:r>
            <a:r>
              <a:rPr lang="en-CA" sz="1100" b="0" dirty="0" err="1">
                <a:latin typeface="Tahoma" panose="020B0604030504040204" pitchFamily="34" charset="0"/>
                <a:ea typeface="Tahoma" panose="020B0604030504040204" pitchFamily="34" charset="0"/>
                <a:cs typeface="Tahoma" panose="020B0604030504040204" pitchFamily="34" charset="0"/>
              </a:rPr>
              <a:t>employee_id</a:t>
            </a:r>
            <a:r>
              <a:rPr lang="en-CA" sz="1100" b="0" dirty="0">
                <a:latin typeface="Tahoma" panose="020B0604030504040204" pitchFamily="34" charset="0"/>
                <a:ea typeface="Tahoma" panose="020B0604030504040204" pitchFamily="34" charset="0"/>
                <a:cs typeface="Tahoma" panose="020B0604030504040204" pitchFamily="34" charset="0"/>
              </a:rPr>
              <a:t> = 9999;  </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The query looks for an employee with '</a:t>
            </a:r>
            <a:r>
              <a:rPr lang="en-CA" sz="1100" b="0" i="1" dirty="0" err="1">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employee_id</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9999</a:t>
            </a:r>
          </a:p>
          <a:p>
            <a:r>
              <a:rPr lang="en-CA" sz="1100" b="0" dirty="0">
                <a:latin typeface="Tahoma" panose="020B0604030504040204" pitchFamily="34" charset="0"/>
                <a:ea typeface="Tahoma" panose="020B0604030504040204" pitchFamily="34" charset="0"/>
                <a:cs typeface="Tahoma" panose="020B0604030504040204" pitchFamily="34" charset="0"/>
              </a:rPr>
              <a:t>EXCEPTION</a:t>
            </a:r>
          </a:p>
          <a:p>
            <a:r>
              <a:rPr lang="en-CA" sz="1100" b="0" dirty="0">
                <a:latin typeface="Tahoma" panose="020B0604030504040204" pitchFamily="34" charset="0"/>
                <a:ea typeface="Tahoma" panose="020B0604030504040204" pitchFamily="34" charset="0"/>
                <a:cs typeface="Tahoma" panose="020B0604030504040204" pitchFamily="34" charset="0"/>
              </a:rPr>
              <a:t>    WHEN NO_DATA_FOUND THEN  </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Handle the exception if no row is returned by the query</a:t>
            </a:r>
          </a:p>
          <a:p>
            <a:r>
              <a:rPr lang="en-CA" sz="1100" b="0" dirty="0">
                <a:latin typeface="Tahoma" panose="020B0604030504040204" pitchFamily="34" charset="0"/>
                <a:ea typeface="Tahoma" panose="020B0604030504040204" pitchFamily="34" charset="0"/>
                <a:cs typeface="Tahoma" panose="020B0604030504040204" pitchFamily="34" charset="0"/>
              </a:rPr>
              <a:t>        DBMS_OUTPUT.PUT_LINE('No employee found with that ID.');  </a:t>
            </a:r>
            <a:r>
              <a:rPr lang="en-CA" sz="1100" b="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Print an error message when no data is found</a:t>
            </a:r>
          </a:p>
          <a:p>
            <a:r>
              <a:rPr lang="en-CA" sz="1100" b="0" dirty="0">
                <a:latin typeface="Tahoma" panose="020B0604030504040204" pitchFamily="34" charset="0"/>
                <a:ea typeface="Tahoma" panose="020B0604030504040204" pitchFamily="34" charset="0"/>
                <a:cs typeface="Tahoma" panose="020B0604030504040204" pitchFamily="34" charset="0"/>
              </a:rPr>
              <a:t>END;</a:t>
            </a:r>
          </a:p>
          <a:p>
            <a:r>
              <a:rPr lang="en-CA" sz="1100" b="0" dirty="0">
                <a:latin typeface="Tahoma" panose="020B0604030504040204" pitchFamily="34" charset="0"/>
                <a:ea typeface="Tahoma" panose="020B0604030504040204" pitchFamily="34" charset="0"/>
                <a:cs typeface="Tahoma" panose="020B0604030504040204" pitchFamily="34" charset="0"/>
              </a:rPr>
              <a:t>/</a:t>
            </a:r>
          </a:p>
        </p:txBody>
      </p:sp>
      <p:sp>
        <p:nvSpPr>
          <p:cNvPr id="10" name="TextBox 9">
            <a:extLst>
              <a:ext uri="{FF2B5EF4-FFF2-40B4-BE49-F238E27FC236}">
                <a16:creationId xmlns:a16="http://schemas.microsoft.com/office/drawing/2014/main" id="{98FC220A-FA46-2E1F-AB2A-0BB08A2F2A85}"/>
              </a:ext>
            </a:extLst>
          </p:cNvPr>
          <p:cNvSpPr txBox="1"/>
          <p:nvPr/>
        </p:nvSpPr>
        <p:spPr>
          <a:xfrm>
            <a:off x="4504290" y="4503516"/>
            <a:ext cx="7424058"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100" dirty="0">
                <a:latin typeface="Tahoma" panose="020B0604030504040204" pitchFamily="34" charset="0"/>
                <a:ea typeface="Tahoma" panose="020B0604030504040204" pitchFamily="34" charset="0"/>
                <a:cs typeface="Tahoma" panose="020B0604030504040204" pitchFamily="34" charset="0"/>
              </a:rPr>
              <a:t>DECLARE</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v_salary</a:t>
            </a:r>
            <a:r>
              <a:rPr lang="en-CA" sz="1100" dirty="0">
                <a:latin typeface="Tahoma" panose="020B0604030504040204" pitchFamily="34" charset="0"/>
                <a:ea typeface="Tahoma" panose="020B0604030504040204" pitchFamily="34" charset="0"/>
                <a:cs typeface="Tahoma" panose="020B0604030504040204" pitchFamily="34" charset="0"/>
              </a:rPr>
              <a:t> NUMBER := 4000;</a:t>
            </a:r>
            <a:r>
              <a:rPr lang="en-CA" sz="1100" i="1" dirty="0">
                <a:latin typeface="Tahoma" panose="020B0604030504040204" pitchFamily="34" charset="0"/>
                <a:ea typeface="Tahoma" panose="020B0604030504040204" pitchFamily="34" charset="0"/>
                <a:cs typeface="Tahoma" panose="020B0604030504040204" pitchFamily="34" charset="0"/>
              </a:rPr>
              <a:t>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Declare a variable '</a:t>
            </a:r>
            <a:r>
              <a:rPr lang="en-CA" sz="1100" i="1" dirty="0" err="1">
                <a:highlight>
                  <a:srgbClr val="C0C0C0"/>
                </a:highlight>
                <a:latin typeface="Tahoma" panose="020B0604030504040204" pitchFamily="34" charset="0"/>
                <a:ea typeface="Tahoma" panose="020B0604030504040204" pitchFamily="34" charset="0"/>
                <a:cs typeface="Tahoma" panose="020B0604030504040204" pitchFamily="34" charset="0"/>
              </a:rPr>
              <a:t>v_salary</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of type NUMBER and initialize it to 4000</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e_high_salary</a:t>
            </a:r>
            <a:r>
              <a:rPr lang="en-CA" sz="1100" dirty="0">
                <a:latin typeface="Tahoma" panose="020B0604030504040204" pitchFamily="34" charset="0"/>
                <a:ea typeface="Tahoma" panose="020B0604030504040204" pitchFamily="34" charset="0"/>
                <a:cs typeface="Tahoma" panose="020B0604030504040204" pitchFamily="34" charset="0"/>
              </a:rPr>
              <a:t> EXCEPTION;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Declare a custom exception '</a:t>
            </a:r>
            <a:r>
              <a:rPr lang="en-CA" sz="1100" i="1" dirty="0" err="1">
                <a:highlight>
                  <a:srgbClr val="C0C0C0"/>
                </a:highlight>
                <a:latin typeface="Tahoma" panose="020B0604030504040204" pitchFamily="34" charset="0"/>
                <a:ea typeface="Tahoma" panose="020B0604030504040204" pitchFamily="34" charset="0"/>
                <a:cs typeface="Tahoma" panose="020B0604030504040204" pitchFamily="34" charset="0"/>
              </a:rPr>
              <a:t>e_high_salary</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a:t>
            </a:r>
          </a:p>
          <a:p>
            <a:r>
              <a:rPr lang="en-CA" sz="1100" dirty="0">
                <a:latin typeface="Tahoma" panose="020B0604030504040204" pitchFamily="34" charset="0"/>
                <a:ea typeface="Tahoma" panose="020B0604030504040204" pitchFamily="34" charset="0"/>
                <a:cs typeface="Tahoma" panose="020B0604030504040204" pitchFamily="34" charset="0"/>
              </a:rPr>
              <a:t>BEGIN</a:t>
            </a:r>
          </a:p>
          <a:p>
            <a:r>
              <a:rPr lang="en-CA" sz="1100" dirty="0">
                <a:latin typeface="Tahoma" panose="020B0604030504040204" pitchFamily="34" charset="0"/>
                <a:ea typeface="Tahoma" panose="020B0604030504040204" pitchFamily="34" charset="0"/>
                <a:cs typeface="Tahoma" panose="020B0604030504040204" pitchFamily="34" charset="0"/>
              </a:rPr>
              <a:t>    IF </a:t>
            </a:r>
            <a:r>
              <a:rPr lang="en-CA" sz="1100" dirty="0" err="1">
                <a:latin typeface="Tahoma" panose="020B0604030504040204" pitchFamily="34" charset="0"/>
                <a:ea typeface="Tahoma" panose="020B0604030504040204" pitchFamily="34" charset="0"/>
                <a:cs typeface="Tahoma" panose="020B0604030504040204" pitchFamily="34" charset="0"/>
              </a:rPr>
              <a:t>v_salary</a:t>
            </a:r>
            <a:r>
              <a:rPr lang="en-CA" sz="1100" dirty="0">
                <a:latin typeface="Tahoma" panose="020B0604030504040204" pitchFamily="34" charset="0"/>
                <a:ea typeface="Tahoma" panose="020B0604030504040204" pitchFamily="34" charset="0"/>
                <a:cs typeface="Tahoma" panose="020B0604030504040204" pitchFamily="34" charset="0"/>
              </a:rPr>
              <a:t> &gt; 3000 THEN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Check if '</a:t>
            </a:r>
            <a:r>
              <a:rPr lang="en-CA" sz="1100" i="1" dirty="0" err="1">
                <a:highlight>
                  <a:srgbClr val="C0C0C0"/>
                </a:highlight>
                <a:latin typeface="Tahoma" panose="020B0604030504040204" pitchFamily="34" charset="0"/>
                <a:ea typeface="Tahoma" panose="020B0604030504040204" pitchFamily="34" charset="0"/>
                <a:cs typeface="Tahoma" panose="020B0604030504040204" pitchFamily="34" charset="0"/>
              </a:rPr>
              <a:t>v_salary</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is greater than 3000</a:t>
            </a:r>
          </a:p>
          <a:p>
            <a:r>
              <a:rPr lang="en-CA" sz="1100" dirty="0">
                <a:latin typeface="Tahoma" panose="020B0604030504040204" pitchFamily="34" charset="0"/>
                <a:ea typeface="Tahoma" panose="020B0604030504040204" pitchFamily="34" charset="0"/>
                <a:cs typeface="Tahoma" panose="020B0604030504040204" pitchFamily="34" charset="0"/>
              </a:rPr>
              <a:t>        RAISE </a:t>
            </a:r>
            <a:r>
              <a:rPr lang="en-CA" sz="1100" dirty="0" err="1">
                <a:latin typeface="Tahoma" panose="020B0604030504040204" pitchFamily="34" charset="0"/>
                <a:ea typeface="Tahoma" panose="020B0604030504040204" pitchFamily="34" charset="0"/>
                <a:cs typeface="Tahoma" panose="020B0604030504040204" pitchFamily="34" charset="0"/>
              </a:rPr>
              <a:t>e_high_salary</a:t>
            </a:r>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Raise the custom exception '</a:t>
            </a:r>
            <a:r>
              <a:rPr lang="en-CA" sz="1100" i="1" dirty="0" err="1">
                <a:highlight>
                  <a:srgbClr val="C0C0C0"/>
                </a:highlight>
                <a:latin typeface="Tahoma" panose="020B0604030504040204" pitchFamily="34" charset="0"/>
                <a:ea typeface="Tahoma" panose="020B0604030504040204" pitchFamily="34" charset="0"/>
                <a:cs typeface="Tahoma" panose="020B0604030504040204" pitchFamily="34" charset="0"/>
              </a:rPr>
              <a:t>e_high_salary</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a:t>
            </a:r>
          </a:p>
          <a:p>
            <a:r>
              <a:rPr lang="en-CA" sz="1100" dirty="0">
                <a:latin typeface="Tahoma" panose="020B0604030504040204" pitchFamily="34" charset="0"/>
                <a:ea typeface="Tahoma" panose="020B0604030504040204" pitchFamily="34" charset="0"/>
                <a:cs typeface="Tahoma" panose="020B0604030504040204" pitchFamily="34" charset="0"/>
              </a:rPr>
              <a:t>    END IF;</a:t>
            </a:r>
          </a:p>
          <a:p>
            <a:r>
              <a:rPr lang="en-CA" sz="1100" dirty="0">
                <a:latin typeface="Tahoma" panose="020B0604030504040204" pitchFamily="34" charset="0"/>
                <a:ea typeface="Tahoma" panose="020B0604030504040204" pitchFamily="34" charset="0"/>
                <a:cs typeface="Tahoma" panose="020B0604030504040204" pitchFamily="34" charset="0"/>
              </a:rPr>
              <a:t>EXCEPTION</a:t>
            </a:r>
          </a:p>
          <a:p>
            <a:r>
              <a:rPr lang="en-CA" sz="1100" dirty="0">
                <a:latin typeface="Tahoma" panose="020B0604030504040204" pitchFamily="34" charset="0"/>
                <a:ea typeface="Tahoma" panose="020B0604030504040204" pitchFamily="34" charset="0"/>
                <a:cs typeface="Tahoma" panose="020B0604030504040204" pitchFamily="34" charset="0"/>
              </a:rPr>
              <a:t>    WHEN </a:t>
            </a:r>
            <a:r>
              <a:rPr lang="en-CA" sz="1100" dirty="0" err="1">
                <a:latin typeface="Tahoma" panose="020B0604030504040204" pitchFamily="34" charset="0"/>
                <a:ea typeface="Tahoma" panose="020B0604030504040204" pitchFamily="34" charset="0"/>
                <a:cs typeface="Tahoma" panose="020B0604030504040204" pitchFamily="34" charset="0"/>
              </a:rPr>
              <a:t>e_high_salary</a:t>
            </a:r>
            <a:r>
              <a:rPr lang="en-CA" sz="1100" dirty="0">
                <a:latin typeface="Tahoma" panose="020B0604030504040204" pitchFamily="34" charset="0"/>
                <a:ea typeface="Tahoma" panose="020B0604030504040204" pitchFamily="34" charset="0"/>
                <a:cs typeface="Tahoma" panose="020B0604030504040204" pitchFamily="34" charset="0"/>
              </a:rPr>
              <a:t> THEN  -- Handle the custom exception '</a:t>
            </a:r>
            <a:r>
              <a:rPr lang="en-CA" sz="1100" dirty="0" err="1">
                <a:latin typeface="Tahoma" panose="020B0604030504040204" pitchFamily="34" charset="0"/>
                <a:ea typeface="Tahoma" panose="020B0604030504040204" pitchFamily="34" charset="0"/>
                <a:cs typeface="Tahoma" panose="020B0604030504040204" pitchFamily="34" charset="0"/>
              </a:rPr>
              <a:t>e_high_salary</a:t>
            </a:r>
            <a:r>
              <a:rPr lang="en-CA" sz="1100" dirty="0">
                <a:latin typeface="Tahoma" panose="020B0604030504040204" pitchFamily="34" charset="0"/>
                <a:ea typeface="Tahoma" panose="020B0604030504040204" pitchFamily="34" charset="0"/>
                <a:cs typeface="Tahoma" panose="020B0604030504040204" pitchFamily="34" charset="0"/>
              </a:rPr>
              <a:t>'</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DBMS_OUTPUT.PUT_LINE('Salary exceeds the limit.');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Print the message 'Salary exceeds the limit.'</a:t>
            </a:r>
          </a:p>
          <a:p>
            <a:r>
              <a:rPr lang="en-CA" sz="1100" dirty="0">
                <a:latin typeface="Tahoma" panose="020B0604030504040204" pitchFamily="34" charset="0"/>
                <a:ea typeface="Tahoma" panose="020B0604030504040204" pitchFamily="34" charset="0"/>
                <a:cs typeface="Tahoma" panose="020B0604030504040204" pitchFamily="34" charset="0"/>
              </a:rPr>
              <a:t>END;</a:t>
            </a:r>
          </a:p>
          <a:p>
            <a:r>
              <a:rPr lang="en-CA" sz="11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776919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Exception Handling – Extra Examples</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22</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6" y="6425754"/>
            <a:ext cx="885288" cy="451802"/>
          </a:xfrm>
          <a:prstGeom prst="rect">
            <a:avLst/>
          </a:prstGeom>
        </p:spPr>
      </p:pic>
      <p:sp>
        <p:nvSpPr>
          <p:cNvPr id="6" name="TextBox 5">
            <a:extLst>
              <a:ext uri="{FF2B5EF4-FFF2-40B4-BE49-F238E27FC236}">
                <a16:creationId xmlns:a16="http://schemas.microsoft.com/office/drawing/2014/main" id="{76868959-4130-C5FA-079B-C19135B91C27}"/>
              </a:ext>
            </a:extLst>
          </p:cNvPr>
          <p:cNvSpPr txBox="1"/>
          <p:nvPr/>
        </p:nvSpPr>
        <p:spPr>
          <a:xfrm>
            <a:off x="75347" y="1789872"/>
            <a:ext cx="10287854"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DECLARE</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v_salary</a:t>
            </a:r>
            <a:r>
              <a:rPr lang="en-CA" sz="1200" dirty="0">
                <a:latin typeface="Tahoma" panose="020B0604030504040204" pitchFamily="34" charset="0"/>
                <a:ea typeface="Tahoma" panose="020B0604030504040204" pitchFamily="34" charset="0"/>
                <a:cs typeface="Tahoma" panose="020B0604030504040204" pitchFamily="34" charset="0"/>
              </a:rPr>
              <a:t> NUMBER := 4000;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Declare a variable '</a:t>
            </a:r>
            <a:r>
              <a:rPr lang="en-CA" sz="1200" i="1" dirty="0" err="1">
                <a:highlight>
                  <a:srgbClr val="C0C0C0"/>
                </a:highlight>
                <a:latin typeface="Tahoma" panose="020B0604030504040204" pitchFamily="34" charset="0"/>
                <a:ea typeface="Tahoma" panose="020B0604030504040204" pitchFamily="34" charset="0"/>
                <a:cs typeface="Tahoma" panose="020B0604030504040204" pitchFamily="34" charset="0"/>
              </a:rPr>
              <a:t>v_salary</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of type NUMBER and initialize it to 4000</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dirty="0">
                <a:latin typeface="Tahoma" panose="020B0604030504040204" pitchFamily="34" charset="0"/>
                <a:ea typeface="Tahoma" panose="020B0604030504040204" pitchFamily="34" charset="0"/>
                <a:cs typeface="Tahoma" panose="020B0604030504040204" pitchFamily="34" charset="0"/>
              </a:rPr>
              <a:t>    IF </a:t>
            </a:r>
            <a:r>
              <a:rPr lang="en-CA" sz="1200" dirty="0" err="1">
                <a:latin typeface="Tahoma" panose="020B0604030504040204" pitchFamily="34" charset="0"/>
                <a:ea typeface="Tahoma" panose="020B0604030504040204" pitchFamily="34" charset="0"/>
                <a:cs typeface="Tahoma" panose="020B0604030504040204" pitchFamily="34" charset="0"/>
              </a:rPr>
              <a:t>v_salary</a:t>
            </a:r>
            <a:r>
              <a:rPr lang="en-CA" sz="1200" dirty="0">
                <a:latin typeface="Tahoma" panose="020B0604030504040204" pitchFamily="34" charset="0"/>
                <a:ea typeface="Tahoma" panose="020B0604030504040204" pitchFamily="34" charset="0"/>
                <a:cs typeface="Tahoma" panose="020B0604030504040204" pitchFamily="34" charset="0"/>
              </a:rPr>
              <a:t> &gt; 3000 THEN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Check if '</a:t>
            </a:r>
            <a:r>
              <a:rPr lang="en-CA" sz="1200" i="1" dirty="0" err="1">
                <a:highlight>
                  <a:srgbClr val="C0C0C0"/>
                </a:highlight>
                <a:latin typeface="Tahoma" panose="020B0604030504040204" pitchFamily="34" charset="0"/>
                <a:ea typeface="Tahoma" panose="020B0604030504040204" pitchFamily="34" charset="0"/>
                <a:cs typeface="Tahoma" panose="020B0604030504040204" pitchFamily="34" charset="0"/>
              </a:rPr>
              <a:t>v_salary</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is greater than 3000</a:t>
            </a:r>
          </a:p>
          <a:p>
            <a:r>
              <a:rPr lang="en-CA" sz="1200" dirty="0">
                <a:latin typeface="Tahoma" panose="020B0604030504040204" pitchFamily="34" charset="0"/>
                <a:ea typeface="Tahoma" panose="020B0604030504040204" pitchFamily="34" charset="0"/>
                <a:cs typeface="Tahoma" panose="020B0604030504040204" pitchFamily="34" charset="0"/>
              </a:rPr>
              <a:t>        RAISE_APPLICATION_ERROR(-20001, 'Salary exceeds the limit.');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Raise an application error with code -20001 and a custom error message</a:t>
            </a:r>
          </a:p>
          <a:p>
            <a:r>
              <a:rPr lang="en-CA" sz="1200" dirty="0">
                <a:latin typeface="Tahoma" panose="020B0604030504040204" pitchFamily="34" charset="0"/>
                <a:ea typeface="Tahoma" panose="020B0604030504040204" pitchFamily="34" charset="0"/>
                <a:cs typeface="Tahoma" panose="020B0604030504040204" pitchFamily="34" charset="0"/>
              </a:rPr>
              <a:t>    END IF;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End of the IF condition</a:t>
            </a:r>
          </a:p>
          <a:p>
            <a:r>
              <a:rPr lang="en-CA" sz="1200" dirty="0">
                <a:latin typeface="Tahoma" panose="020B0604030504040204" pitchFamily="34" charset="0"/>
                <a:ea typeface="Tahoma" panose="020B0604030504040204" pitchFamily="34" charset="0"/>
                <a:cs typeface="Tahoma" panose="020B0604030504040204" pitchFamily="34" charset="0"/>
              </a:rPr>
              <a:t>END;</a:t>
            </a:r>
          </a:p>
          <a:p>
            <a:r>
              <a:rPr lang="en-CA" sz="1200" dirty="0">
                <a:latin typeface="Tahoma" panose="020B0604030504040204" pitchFamily="34" charset="0"/>
                <a:ea typeface="Tahoma" panose="020B0604030504040204" pitchFamily="34" charset="0"/>
                <a:cs typeface="Tahoma" panose="020B0604030504040204" pitchFamily="34" charset="0"/>
              </a:rPr>
              <a:t>/</a:t>
            </a:r>
          </a:p>
        </p:txBody>
      </p:sp>
      <p:sp>
        <p:nvSpPr>
          <p:cNvPr id="16" name="TextBox 15">
            <a:extLst>
              <a:ext uri="{FF2B5EF4-FFF2-40B4-BE49-F238E27FC236}">
                <a16:creationId xmlns:a16="http://schemas.microsoft.com/office/drawing/2014/main" id="{FBA6A730-72A7-24F7-9AEF-29C3668689F5}"/>
              </a:ext>
            </a:extLst>
          </p:cNvPr>
          <p:cNvSpPr txBox="1"/>
          <p:nvPr/>
        </p:nvSpPr>
        <p:spPr>
          <a:xfrm>
            <a:off x="8115300" y="3036804"/>
            <a:ext cx="4076700" cy="646331"/>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RAISE_APPLICATION_ERROR</a:t>
            </a:r>
          </a:p>
          <a:p>
            <a:r>
              <a:rPr lang="en-CA" sz="1200" dirty="0">
                <a:latin typeface="Tahoma" panose="020B0604030504040204" pitchFamily="34" charset="0"/>
                <a:ea typeface="Tahoma" panose="020B0604030504040204" pitchFamily="34" charset="0"/>
                <a:cs typeface="Tahoma" panose="020B0604030504040204" pitchFamily="34" charset="0"/>
              </a:rPr>
              <a:t>This function allows you to create custom error messages.</a:t>
            </a:r>
          </a:p>
        </p:txBody>
      </p:sp>
    </p:spTree>
    <p:extLst>
      <p:ext uri="{BB962C8B-B14F-4D97-AF65-F5344CB8AC3E}">
        <p14:creationId xmlns:p14="http://schemas.microsoft.com/office/powerpoint/2010/main" val="411230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AF6476-CAAA-944E-FC58-00629CE37315}"/>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D0FDFBF3-136B-655E-2768-1EE89624E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E3397CB-724E-6B26-DEE4-C0814BA54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11579BB-6DAC-C23E-7B68-3CC64058B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6B57C2EC-D343-45CE-A3FC-2E2CB7344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BCFF1BE1-8BF0-CB0E-505B-7953CDB88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03AD5E7E-0753-B5B6-FD9C-76A8E6397E18}"/>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Question for Students</a:t>
            </a:r>
          </a:p>
        </p:txBody>
      </p:sp>
      <p:sp>
        <p:nvSpPr>
          <p:cNvPr id="5" name="Slide Number Placeholder 4">
            <a:extLst>
              <a:ext uri="{FF2B5EF4-FFF2-40B4-BE49-F238E27FC236}">
                <a16:creationId xmlns:a16="http://schemas.microsoft.com/office/drawing/2014/main" id="{F1078929-66F1-945C-9CD9-022D7A0E081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23</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67487E-3D50-E67C-563E-5BDE6BBBE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6" y="6425754"/>
            <a:ext cx="885288" cy="451802"/>
          </a:xfrm>
          <a:prstGeom prst="rect">
            <a:avLst/>
          </a:prstGeom>
        </p:spPr>
      </p:pic>
      <p:sp>
        <p:nvSpPr>
          <p:cNvPr id="8" name="TextBox 7">
            <a:extLst>
              <a:ext uri="{FF2B5EF4-FFF2-40B4-BE49-F238E27FC236}">
                <a16:creationId xmlns:a16="http://schemas.microsoft.com/office/drawing/2014/main" id="{DDAA3614-5377-1E62-FFA8-BE7DF5690E22}"/>
              </a:ext>
            </a:extLst>
          </p:cNvPr>
          <p:cNvSpPr txBox="1"/>
          <p:nvPr/>
        </p:nvSpPr>
        <p:spPr>
          <a:xfrm>
            <a:off x="232228" y="5602342"/>
            <a:ext cx="10363200" cy="27699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b="1" dirty="0">
                <a:latin typeface="Tahoma" panose="020B0604030504040204" pitchFamily="34" charset="0"/>
                <a:ea typeface="Tahoma" panose="020B0604030504040204" pitchFamily="34" charset="0"/>
                <a:cs typeface="Tahoma" panose="020B0604030504040204" pitchFamily="34" charset="0"/>
              </a:rPr>
              <a:t>Bonus Challenge:</a:t>
            </a:r>
            <a:r>
              <a:rPr lang="en-CA" sz="1200" dirty="0">
                <a:latin typeface="Tahoma" panose="020B0604030504040204" pitchFamily="34" charset="0"/>
                <a:ea typeface="Tahoma" panose="020B0604030504040204" pitchFamily="34" charset="0"/>
                <a:cs typeface="Tahoma" panose="020B0604030504040204" pitchFamily="34" charset="0"/>
              </a:rPr>
              <a:t> Modify the procedure to return the tax amount as a function instead of using an OUT parameter. 🚀</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68E30050-274A-82FB-B3E4-E578D9911FCF}"/>
              </a:ext>
            </a:extLst>
          </p:cNvPr>
          <p:cNvSpPr txBox="1"/>
          <p:nvPr/>
        </p:nvSpPr>
        <p:spPr>
          <a:xfrm>
            <a:off x="1582057" y="2935054"/>
            <a:ext cx="3599542" cy="276999"/>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Tax Amount= (Purchase </a:t>
            </a:r>
            <a:r>
              <a:rPr lang="en-CA" sz="1200" dirty="0" err="1">
                <a:latin typeface="Tahoma" panose="020B0604030504040204" pitchFamily="34" charset="0"/>
                <a:ea typeface="Tahoma" panose="020B0604030504040204" pitchFamily="34" charset="0"/>
                <a:cs typeface="Tahoma" panose="020B0604030504040204" pitchFamily="34" charset="0"/>
              </a:rPr>
              <a:t>Amount×Tax</a:t>
            </a:r>
            <a:r>
              <a:rPr lang="en-CA" sz="1200" dirty="0">
                <a:latin typeface="Tahoma" panose="020B0604030504040204" pitchFamily="34" charset="0"/>
                <a:ea typeface="Tahoma" panose="020B0604030504040204" pitchFamily="34" charset="0"/>
                <a:cs typeface="Tahoma" panose="020B0604030504040204" pitchFamily="34" charset="0"/>
              </a:rPr>
              <a:t> Rate)/100</a:t>
            </a:r>
          </a:p>
        </p:txBody>
      </p:sp>
      <p:pic>
        <p:nvPicPr>
          <p:cNvPr id="12291" name="Picture 3" descr="Learn about Question Mark (?) - Uses ...">
            <a:extLst>
              <a:ext uri="{FF2B5EF4-FFF2-40B4-BE49-F238E27FC236}">
                <a16:creationId xmlns:a16="http://schemas.microsoft.com/office/drawing/2014/main" id="{C38C896B-CEB8-6A1C-64D3-DC8F753A3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8692" y="1783111"/>
            <a:ext cx="4458679" cy="30489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6836DE6-1729-0E8C-CEF4-209998A8294A}"/>
              </a:ext>
            </a:extLst>
          </p:cNvPr>
          <p:cNvSpPr>
            <a:spLocks noChangeArrowheads="1"/>
          </p:cNvSpPr>
          <p:nvPr/>
        </p:nvSpPr>
        <p:spPr bwMode="auto">
          <a:xfrm>
            <a:off x="275770" y="1763555"/>
            <a:ext cx="956491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You are tasked with developing a PL/SQL procedure that calculates the tax on a purchase amount based on a given tax rate. The procedure should ensure that: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purchase amount and tax rate must be non-negative.</a:t>
            </a: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If either value is negative, the procedure should display an error message and set the tax amount to 0.</a:t>
            </a: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If valid values are provided, the procedure should compute the tax using the formula:</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200" dirty="0">
              <a:latin typeface="Tahoma" panose="020B0604030504040204" pitchFamily="34" charset="0"/>
              <a:ea typeface="Tahoma" panose="020B0604030504040204" pitchFamily="34" charset="0"/>
              <a:cs typeface="Tahoma" panose="020B0604030504040204" pitchFamily="34" charset="0"/>
            </a:endParaRPr>
          </a:p>
          <a:p>
            <a:pPr marR="0" lvl="0" algn="l" defTabSz="914400" rtl="0" eaLnBrk="0" fontAlgn="base" latinLnBrk="0" hangingPunct="0">
              <a:lnSpc>
                <a:spcPct val="100000"/>
              </a:lnSpc>
              <a:spcBef>
                <a:spcPct val="0"/>
              </a:spcBef>
              <a:spcAft>
                <a:spcPct val="0"/>
              </a:spcAft>
              <a:buClrTx/>
              <a:buSzTx/>
              <a:tabLst/>
            </a:pPr>
            <a:br>
              <a:rPr lang="en-US" altLang="en-US" sz="1200" dirty="0">
                <a:latin typeface="Tahoma" panose="020B0604030504040204" pitchFamily="34" charset="0"/>
                <a:ea typeface="Tahoma" panose="020B0604030504040204" pitchFamily="34" charset="0"/>
                <a:cs typeface="Tahoma" panose="020B0604030504040204" pitchFamily="34" charset="0"/>
              </a:rPr>
            </a:br>
            <a:endParaRPr lang="en-US" altLang="en-US"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a:t>
            </a:r>
            <a:endParaRPr lang="en-US" altLang="en-US" sz="1200" dirty="0">
              <a:latin typeface="Tahoma" panose="020B0604030504040204" pitchFamily="34" charset="0"/>
              <a:ea typeface="Tahoma" panose="020B0604030504040204" pitchFamily="34" charset="0"/>
              <a:cs typeface="Tahoma" panose="020B060403050404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1200" b="1" dirty="0">
                <a:latin typeface="Tahoma" panose="020B0604030504040204" pitchFamily="34" charset="0"/>
                <a:ea typeface="Tahoma" panose="020B0604030504040204" pitchFamily="34" charset="0"/>
                <a:cs typeface="Tahoma" panose="020B0604030504040204" pitchFamily="34" charset="0"/>
              </a:rPr>
              <a:t>4.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In case of any unexpected errors, the procedure should handle them gracefully and output an appropriate error message.</a:t>
            </a: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Task:</a:t>
            </a:r>
            <a:b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Write a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 procedure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named </a:t>
            </a:r>
            <a:r>
              <a:rPr kumimoji="0" lang="en-US" altLang="en-US" sz="1200" b="0" i="1"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compute_sales_tax</a:t>
            </a:r>
            <a:r>
              <a:rPr kumimoji="0" lang="en-US" altLang="en-US" sz="1200" b="0" i="1"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that follows the above conditions. Then, write an anonymous block to call this procedure, passing a purchase amount of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750</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a tax rate of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8%</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display the calculated tax.</a:t>
            </a:r>
          </a:p>
        </p:txBody>
      </p:sp>
    </p:spTree>
    <p:extLst>
      <p:ext uri="{BB962C8B-B14F-4D97-AF65-F5344CB8AC3E}">
        <p14:creationId xmlns:p14="http://schemas.microsoft.com/office/powerpoint/2010/main" val="3850179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Procedure to Calculate Tax for a Purchase</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pPr>
                <a:spcAft>
                  <a:spcPts val="600"/>
                </a:spcAft>
              </a:pPr>
              <a:t>24</a:t>
            </a:fld>
            <a:endParaRPr lang="en-US" sz="11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7088" y="6116536"/>
            <a:ext cx="885288" cy="451802"/>
          </a:xfrm>
          <a:prstGeom prst="rect">
            <a:avLst/>
          </a:prstGeom>
        </p:spPr>
      </p:pic>
      <p:sp>
        <p:nvSpPr>
          <p:cNvPr id="8" name="TextBox 7">
            <a:extLst>
              <a:ext uri="{FF2B5EF4-FFF2-40B4-BE49-F238E27FC236}">
                <a16:creationId xmlns:a16="http://schemas.microsoft.com/office/drawing/2014/main" id="{F442027A-22E3-66EB-51A4-639E937CA606}"/>
              </a:ext>
            </a:extLst>
          </p:cNvPr>
          <p:cNvSpPr txBox="1"/>
          <p:nvPr/>
        </p:nvSpPr>
        <p:spPr>
          <a:xfrm>
            <a:off x="6375052" y="2215533"/>
            <a:ext cx="1740247" cy="276999"/>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       Procedure</a:t>
            </a:r>
            <a:endParaRPr lang="en-US" sz="1200" b="1"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5862E981-3F1B-A7D8-AE4F-4D75DF96A72E}"/>
              </a:ext>
            </a:extLst>
          </p:cNvPr>
          <p:cNvSpPr txBox="1"/>
          <p:nvPr/>
        </p:nvSpPr>
        <p:spPr>
          <a:xfrm>
            <a:off x="86415" y="1622745"/>
            <a:ext cx="6519052" cy="48320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100" dirty="0">
                <a:latin typeface="Tahoma" panose="020B0604030504040204" pitchFamily="34" charset="0"/>
                <a:ea typeface="Tahoma" panose="020B0604030504040204" pitchFamily="34" charset="0"/>
                <a:cs typeface="Tahoma" panose="020B0604030504040204" pitchFamily="34" charset="0"/>
              </a:rPr>
              <a:t>CREATE OR REPLACE PROCEDURE </a:t>
            </a:r>
            <a:r>
              <a:rPr lang="en-CA" sz="1100" dirty="0" err="1">
                <a:latin typeface="Tahoma" panose="020B0604030504040204" pitchFamily="34" charset="0"/>
                <a:ea typeface="Tahoma" panose="020B0604030504040204" pitchFamily="34" charset="0"/>
                <a:cs typeface="Tahoma" panose="020B0604030504040204" pitchFamily="34" charset="0"/>
              </a:rPr>
              <a:t>calculate_tax</a:t>
            </a:r>
            <a:r>
              <a:rPr lang="en-CA" sz="1100" dirty="0">
                <a:latin typeface="Tahoma" panose="020B0604030504040204" pitchFamily="34" charset="0"/>
                <a:ea typeface="Tahoma" panose="020B0604030504040204" pitchFamily="34" charset="0"/>
                <a:cs typeface="Tahoma" panose="020B0604030504040204" pitchFamily="34" charset="0"/>
              </a:rPr>
              <a:t> (</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p_purchase_amount</a:t>
            </a:r>
            <a:r>
              <a:rPr lang="en-CA" sz="1100" dirty="0">
                <a:latin typeface="Tahoma" panose="020B0604030504040204" pitchFamily="34" charset="0"/>
                <a:ea typeface="Tahoma" panose="020B0604030504040204" pitchFamily="34" charset="0"/>
                <a:cs typeface="Tahoma" panose="020B0604030504040204" pitchFamily="34" charset="0"/>
              </a:rPr>
              <a:t> IN NUMBER,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Input: Purchase amount</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p_tax_rate</a:t>
            </a:r>
            <a:r>
              <a:rPr lang="en-CA" sz="1100" dirty="0">
                <a:latin typeface="Tahoma" panose="020B0604030504040204" pitchFamily="34" charset="0"/>
                <a:ea typeface="Tahoma" panose="020B0604030504040204" pitchFamily="34" charset="0"/>
                <a:cs typeface="Tahoma" panose="020B0604030504040204" pitchFamily="34" charset="0"/>
              </a:rPr>
              <a:t>        IN NUMBER,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Input: Tax rate as a percentage (e.g., 10 for 10%)</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p_tax_amount</a:t>
            </a:r>
            <a:r>
              <a:rPr lang="en-CA" sz="1100" dirty="0">
                <a:latin typeface="Tahoma" panose="020B0604030504040204" pitchFamily="34" charset="0"/>
                <a:ea typeface="Tahoma" panose="020B0604030504040204" pitchFamily="34" charset="0"/>
                <a:cs typeface="Tahoma" panose="020B0604030504040204" pitchFamily="34" charset="0"/>
              </a:rPr>
              <a:t>      OUT NUMBER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Output: Calculated tax amount</a:t>
            </a:r>
          </a:p>
          <a:p>
            <a:r>
              <a:rPr lang="en-CA" sz="1100" dirty="0">
                <a:latin typeface="Tahoma" panose="020B0604030504040204" pitchFamily="34" charset="0"/>
                <a:ea typeface="Tahoma" panose="020B0604030504040204" pitchFamily="34" charset="0"/>
                <a:cs typeface="Tahoma" panose="020B0604030504040204" pitchFamily="34" charset="0"/>
              </a:rPr>
              <a:t>) IS</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BEGIN</a:t>
            </a:r>
          </a:p>
          <a:p>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 Check if purchase amount or tax rate is negative</a:t>
            </a:r>
          </a:p>
          <a:p>
            <a:r>
              <a:rPr lang="en-CA" sz="1100" dirty="0">
                <a:latin typeface="Tahoma" panose="020B0604030504040204" pitchFamily="34" charset="0"/>
                <a:ea typeface="Tahoma" panose="020B0604030504040204" pitchFamily="34" charset="0"/>
                <a:cs typeface="Tahoma" panose="020B0604030504040204" pitchFamily="34" charset="0"/>
              </a:rPr>
              <a:t>   IF </a:t>
            </a:r>
            <a:r>
              <a:rPr lang="en-CA" sz="1100" dirty="0" err="1">
                <a:latin typeface="Tahoma" panose="020B0604030504040204" pitchFamily="34" charset="0"/>
                <a:ea typeface="Tahoma" panose="020B0604030504040204" pitchFamily="34" charset="0"/>
                <a:cs typeface="Tahoma" panose="020B0604030504040204" pitchFamily="34" charset="0"/>
              </a:rPr>
              <a:t>p_purchase_amount</a:t>
            </a:r>
            <a:r>
              <a:rPr lang="en-CA" sz="1100" dirty="0">
                <a:latin typeface="Tahoma" panose="020B0604030504040204" pitchFamily="34" charset="0"/>
                <a:ea typeface="Tahoma" panose="020B0604030504040204" pitchFamily="34" charset="0"/>
                <a:cs typeface="Tahoma" panose="020B0604030504040204" pitchFamily="34" charset="0"/>
              </a:rPr>
              <a:t> &lt; 0 THEN</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DBMS_OUTPUT.PUT_LINE('Error: Purchase amount cannot be negative.');</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p_tax_amount</a:t>
            </a:r>
            <a:r>
              <a:rPr lang="en-CA" sz="1100" dirty="0">
                <a:latin typeface="Tahoma" panose="020B0604030504040204" pitchFamily="34" charset="0"/>
                <a:ea typeface="Tahoma" panose="020B0604030504040204" pitchFamily="34" charset="0"/>
                <a:cs typeface="Tahoma" panose="020B0604030504040204" pitchFamily="34" charset="0"/>
              </a:rPr>
              <a:t> := 0;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Set tax amount to 0 if invalid</a:t>
            </a:r>
          </a:p>
          <a:p>
            <a:r>
              <a:rPr lang="en-CA" sz="1100" dirty="0">
                <a:latin typeface="Tahoma" panose="020B0604030504040204" pitchFamily="34" charset="0"/>
                <a:ea typeface="Tahoma" panose="020B0604030504040204" pitchFamily="34" charset="0"/>
                <a:cs typeface="Tahoma" panose="020B0604030504040204" pitchFamily="34" charset="0"/>
              </a:rPr>
              <a:t>   ELSIF </a:t>
            </a:r>
            <a:r>
              <a:rPr lang="en-CA" sz="1100" dirty="0" err="1">
                <a:latin typeface="Tahoma" panose="020B0604030504040204" pitchFamily="34" charset="0"/>
                <a:ea typeface="Tahoma" panose="020B0604030504040204" pitchFamily="34" charset="0"/>
                <a:cs typeface="Tahoma" panose="020B0604030504040204" pitchFamily="34" charset="0"/>
              </a:rPr>
              <a:t>p_tax_rate</a:t>
            </a:r>
            <a:r>
              <a:rPr lang="en-CA" sz="1100" dirty="0">
                <a:latin typeface="Tahoma" panose="020B0604030504040204" pitchFamily="34" charset="0"/>
                <a:ea typeface="Tahoma" panose="020B0604030504040204" pitchFamily="34" charset="0"/>
                <a:cs typeface="Tahoma" panose="020B0604030504040204" pitchFamily="34" charset="0"/>
              </a:rPr>
              <a:t> &lt; 0 THEN</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DBMS_OUTPUT.PUT_LINE('Error: Tax rate cannot be negative.');</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p_tax_amount</a:t>
            </a:r>
            <a:r>
              <a:rPr lang="en-CA" sz="1100" dirty="0">
                <a:latin typeface="Tahoma" panose="020B0604030504040204" pitchFamily="34" charset="0"/>
                <a:ea typeface="Tahoma" panose="020B0604030504040204" pitchFamily="34" charset="0"/>
                <a:cs typeface="Tahoma" panose="020B0604030504040204" pitchFamily="34" charset="0"/>
              </a:rPr>
              <a:t> := 0;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Set tax amount to 0 if invalid</a:t>
            </a:r>
          </a:p>
          <a:p>
            <a:r>
              <a:rPr lang="en-CA" sz="1100" dirty="0">
                <a:latin typeface="Tahoma" panose="020B0604030504040204" pitchFamily="34" charset="0"/>
                <a:ea typeface="Tahoma" panose="020B0604030504040204" pitchFamily="34" charset="0"/>
                <a:cs typeface="Tahoma" panose="020B0604030504040204" pitchFamily="34" charset="0"/>
              </a:rPr>
              <a:t>   ELSE</a:t>
            </a:r>
          </a:p>
          <a:p>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 Calculate the tax based on the purchase amount and tax rate</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p_tax_amount</a:t>
            </a:r>
            <a:r>
              <a:rPr lang="en-CA" sz="1100" dirty="0">
                <a:latin typeface="Tahoma" panose="020B0604030504040204" pitchFamily="34" charset="0"/>
                <a:ea typeface="Tahoma" panose="020B0604030504040204" pitchFamily="34" charset="0"/>
                <a:cs typeface="Tahoma" panose="020B0604030504040204" pitchFamily="34" charset="0"/>
              </a:rPr>
              <a:t> := (</a:t>
            </a:r>
            <a:r>
              <a:rPr lang="en-CA" sz="1100" dirty="0" err="1">
                <a:latin typeface="Tahoma" panose="020B0604030504040204" pitchFamily="34" charset="0"/>
                <a:ea typeface="Tahoma" panose="020B0604030504040204" pitchFamily="34" charset="0"/>
                <a:cs typeface="Tahoma" panose="020B0604030504040204" pitchFamily="34" charset="0"/>
              </a:rPr>
              <a:t>p_purchase_amount</a:t>
            </a:r>
            <a:r>
              <a:rPr lang="en-CA" sz="1100" dirty="0">
                <a:latin typeface="Tahoma" panose="020B0604030504040204" pitchFamily="34" charset="0"/>
                <a:ea typeface="Tahoma" panose="020B0604030504040204" pitchFamily="34" charset="0"/>
                <a:cs typeface="Tahoma" panose="020B0604030504040204" pitchFamily="34" charset="0"/>
              </a:rPr>
              <a:t> * </a:t>
            </a:r>
            <a:r>
              <a:rPr lang="en-CA" sz="1100" dirty="0" err="1">
                <a:latin typeface="Tahoma" panose="020B0604030504040204" pitchFamily="34" charset="0"/>
                <a:ea typeface="Tahoma" panose="020B0604030504040204" pitchFamily="34" charset="0"/>
                <a:cs typeface="Tahoma" panose="020B0604030504040204" pitchFamily="34" charset="0"/>
              </a:rPr>
              <a:t>p_tax_rate</a:t>
            </a:r>
            <a:r>
              <a:rPr lang="en-CA" sz="1100" dirty="0">
                <a:latin typeface="Tahoma" panose="020B0604030504040204" pitchFamily="34" charset="0"/>
                <a:ea typeface="Tahoma" panose="020B0604030504040204" pitchFamily="34" charset="0"/>
                <a:cs typeface="Tahoma" panose="020B0604030504040204" pitchFamily="34" charset="0"/>
              </a:rPr>
              <a:t>) / 100;</a:t>
            </a:r>
          </a:p>
          <a:p>
            <a:r>
              <a:rPr lang="en-CA" sz="1100" dirty="0">
                <a:latin typeface="Tahoma" panose="020B0604030504040204" pitchFamily="34" charset="0"/>
                <a:ea typeface="Tahoma" panose="020B0604030504040204" pitchFamily="34" charset="0"/>
                <a:cs typeface="Tahoma" panose="020B0604030504040204" pitchFamily="34" charset="0"/>
              </a:rPr>
              <a:t>   END IF;</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EXCEPTION</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Handle any unexpected errors</a:t>
            </a:r>
          </a:p>
          <a:p>
            <a:r>
              <a:rPr lang="en-CA" sz="1100" dirty="0">
                <a:latin typeface="Tahoma" panose="020B0604030504040204" pitchFamily="34" charset="0"/>
                <a:ea typeface="Tahoma" panose="020B0604030504040204" pitchFamily="34" charset="0"/>
                <a:cs typeface="Tahoma" panose="020B0604030504040204" pitchFamily="34" charset="0"/>
              </a:rPr>
              <a:t>   WHEN OTHERS THEN</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DBMS_OUTPUT.PUT_LINE('An unexpected error occurred while calculating tax.');</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DBMS_OUTPUT.PUT_LINE('Error Code: ' || SQLCODE);</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DBMS_OUTPUT.PUT_LINE('Error Message: ' || SQLERRM);</a:t>
            </a:r>
          </a:p>
          <a:p>
            <a:r>
              <a:rPr lang="en-CA" sz="1100" dirty="0">
                <a:latin typeface="Tahoma" panose="020B0604030504040204" pitchFamily="34" charset="0"/>
                <a:ea typeface="Tahoma" panose="020B0604030504040204" pitchFamily="34" charset="0"/>
                <a:cs typeface="Tahoma" panose="020B0604030504040204" pitchFamily="34" charset="0"/>
              </a:rPr>
              <a:t>      </a:t>
            </a:r>
            <a:r>
              <a:rPr lang="en-CA" sz="1100" dirty="0" err="1">
                <a:latin typeface="Tahoma" panose="020B0604030504040204" pitchFamily="34" charset="0"/>
                <a:ea typeface="Tahoma" panose="020B0604030504040204" pitchFamily="34" charset="0"/>
                <a:cs typeface="Tahoma" panose="020B0604030504040204" pitchFamily="34" charset="0"/>
              </a:rPr>
              <a:t>p_tax_amount</a:t>
            </a:r>
            <a:r>
              <a:rPr lang="en-CA" sz="1100" dirty="0">
                <a:latin typeface="Tahoma" panose="020B0604030504040204" pitchFamily="34" charset="0"/>
                <a:ea typeface="Tahoma" panose="020B0604030504040204" pitchFamily="34" charset="0"/>
                <a:cs typeface="Tahoma" panose="020B0604030504040204" pitchFamily="34" charset="0"/>
              </a:rPr>
              <a:t> := 0;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Set tax amount to 0 in case of an error</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END </a:t>
            </a:r>
            <a:r>
              <a:rPr lang="en-CA" sz="1100" dirty="0" err="1">
                <a:latin typeface="Tahoma" panose="020B0604030504040204" pitchFamily="34" charset="0"/>
                <a:ea typeface="Tahoma" panose="020B0604030504040204" pitchFamily="34" charset="0"/>
                <a:cs typeface="Tahoma" panose="020B0604030504040204" pitchFamily="34" charset="0"/>
              </a:rPr>
              <a:t>calculate_tax</a:t>
            </a:r>
            <a:r>
              <a:rPr lang="en-CA" sz="1100" dirty="0">
                <a:latin typeface="Tahoma" panose="020B0604030504040204" pitchFamily="34" charset="0"/>
                <a:ea typeface="Tahoma" panose="020B0604030504040204" pitchFamily="34" charset="0"/>
                <a:cs typeface="Tahoma" panose="020B0604030504040204" pitchFamily="34" charset="0"/>
              </a:rPr>
              <a:t>;</a:t>
            </a:r>
          </a:p>
        </p:txBody>
      </p:sp>
      <p:sp>
        <p:nvSpPr>
          <p:cNvPr id="11" name="TextBox 10">
            <a:extLst>
              <a:ext uri="{FF2B5EF4-FFF2-40B4-BE49-F238E27FC236}">
                <a16:creationId xmlns:a16="http://schemas.microsoft.com/office/drawing/2014/main" id="{3AE586DF-85D2-1B8B-C156-F20C5566C55A}"/>
              </a:ext>
            </a:extLst>
          </p:cNvPr>
          <p:cNvSpPr txBox="1"/>
          <p:nvPr/>
        </p:nvSpPr>
        <p:spPr>
          <a:xfrm>
            <a:off x="6923314" y="3146485"/>
            <a:ext cx="5182271"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DECLARE</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v_tax_amount</a:t>
            </a:r>
            <a:r>
              <a:rPr lang="en-CA" sz="1200" dirty="0">
                <a:latin typeface="Tahoma" panose="020B0604030504040204" pitchFamily="34" charset="0"/>
                <a:ea typeface="Tahoma" panose="020B0604030504040204" pitchFamily="34" charset="0"/>
                <a:cs typeface="Tahoma" panose="020B0604030504040204" pitchFamily="34" charset="0"/>
              </a:rPr>
              <a:t> NUMBER;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Variable to hold the calculated tax amount</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dirty="0">
                <a:latin typeface="Tahoma" panose="020B0604030504040204" pitchFamily="34" charset="0"/>
                <a:ea typeface="Tahoma" panose="020B0604030504040204" pitchFamily="34" charset="0"/>
                <a:cs typeface="Tahoma" panose="020B0604030504040204" pitchFamily="34" charset="0"/>
              </a:rPr>
              <a:t>   -- Call the procedure and pass the purchase amount and tax rate</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calculate_tax</a:t>
            </a:r>
            <a:r>
              <a:rPr lang="en-CA" sz="1200" dirty="0">
                <a:latin typeface="Tahoma" panose="020B0604030504040204" pitchFamily="34" charset="0"/>
                <a:ea typeface="Tahoma" panose="020B0604030504040204" pitchFamily="34" charset="0"/>
                <a:cs typeface="Tahoma" panose="020B0604030504040204" pitchFamily="34" charset="0"/>
              </a:rPr>
              <a:t>(500, 10, </a:t>
            </a:r>
            <a:r>
              <a:rPr lang="en-CA" sz="1200" dirty="0" err="1">
                <a:latin typeface="Tahoma" panose="020B0604030504040204" pitchFamily="34" charset="0"/>
                <a:ea typeface="Tahoma" panose="020B0604030504040204" pitchFamily="34" charset="0"/>
                <a:cs typeface="Tahoma" panose="020B0604030504040204" pitchFamily="34" charset="0"/>
              </a:rPr>
              <a:t>v_tax_amount</a:t>
            </a:r>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-- 500 is the purchase amount, 10% is the tax rate</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 Output the calculated tax amount</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DBMS_OUTPUT.PUT_LINE('The calculated tax is: ' || </a:t>
            </a:r>
            <a:r>
              <a:rPr lang="en-CA" sz="1200" dirty="0" err="1">
                <a:latin typeface="Tahoma" panose="020B0604030504040204" pitchFamily="34" charset="0"/>
                <a:ea typeface="Tahoma" panose="020B0604030504040204" pitchFamily="34" charset="0"/>
                <a:cs typeface="Tahoma" panose="020B0604030504040204" pitchFamily="34" charset="0"/>
              </a:rPr>
              <a:t>v_tax_amount</a:t>
            </a:r>
            <a:r>
              <a:rPr lang="en-CA" sz="1200" dirty="0">
                <a:latin typeface="Tahoma" panose="020B0604030504040204" pitchFamily="34" charset="0"/>
                <a:ea typeface="Tahoma" panose="020B0604030504040204" pitchFamily="34" charset="0"/>
                <a:cs typeface="Tahoma" panose="020B0604030504040204" pitchFamily="34" charset="0"/>
              </a:rPr>
              <a:t>);</a:t>
            </a:r>
          </a:p>
          <a:p>
            <a:r>
              <a:rPr lang="en-CA" sz="1200" dirty="0">
                <a:latin typeface="Tahoma" panose="020B0604030504040204" pitchFamily="34" charset="0"/>
                <a:ea typeface="Tahoma" panose="020B0604030504040204" pitchFamily="34" charset="0"/>
                <a:cs typeface="Tahoma" panose="020B0604030504040204" pitchFamily="34" charset="0"/>
              </a:rPr>
              <a:t>END;</a:t>
            </a:r>
          </a:p>
        </p:txBody>
      </p:sp>
      <p:sp>
        <p:nvSpPr>
          <p:cNvPr id="7" name="TextBox 6">
            <a:extLst>
              <a:ext uri="{FF2B5EF4-FFF2-40B4-BE49-F238E27FC236}">
                <a16:creationId xmlns:a16="http://schemas.microsoft.com/office/drawing/2014/main" id="{D3E0ADFA-F550-D2D0-AC47-C26C85A681E7}"/>
              </a:ext>
            </a:extLst>
          </p:cNvPr>
          <p:cNvSpPr txBox="1"/>
          <p:nvPr/>
        </p:nvSpPr>
        <p:spPr>
          <a:xfrm>
            <a:off x="9033340" y="2911980"/>
            <a:ext cx="3072245" cy="276999"/>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Example of Calling the Procedure</a:t>
            </a:r>
            <a:endParaRPr lang="en-US" sz="12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18440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F3E790-3973-3CA8-EC48-DE17F5F2720C}"/>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08A10A4D-2A32-2DE5-FBED-D4B9D294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DA92991F-A26F-41FF-C2B8-344811E72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F42F82A6-46F1-0051-C543-08FFBCB39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810CC14D-F1FE-D8F5-5B79-A484DD93D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BD96469C-87C5-1E91-D971-D27E881E7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5FBA1E06-59D3-7F78-8458-5548B268DD3F}"/>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Condition Statement (If &amp; Case) </a:t>
            </a:r>
          </a:p>
        </p:txBody>
      </p:sp>
      <p:sp>
        <p:nvSpPr>
          <p:cNvPr id="5" name="Slide Number Placeholder 4">
            <a:extLst>
              <a:ext uri="{FF2B5EF4-FFF2-40B4-BE49-F238E27FC236}">
                <a16:creationId xmlns:a16="http://schemas.microsoft.com/office/drawing/2014/main" id="{012ED601-FF12-130B-630A-8D19E9B9E60A}"/>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25</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8BDAAF42-13AD-471D-771E-8CCE9DF41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7" name="TextBox 6">
            <a:extLst>
              <a:ext uri="{FF2B5EF4-FFF2-40B4-BE49-F238E27FC236}">
                <a16:creationId xmlns:a16="http://schemas.microsoft.com/office/drawing/2014/main" id="{AF364B9D-AA4E-93C4-7C1A-B7FB62629BFD}"/>
              </a:ext>
            </a:extLst>
          </p:cNvPr>
          <p:cNvSpPr txBox="1"/>
          <p:nvPr/>
        </p:nvSpPr>
        <p:spPr>
          <a:xfrm>
            <a:off x="13843" y="1732880"/>
            <a:ext cx="11253707" cy="646331"/>
          </a:xfrm>
          <a:prstGeom prst="rect">
            <a:avLst/>
          </a:prstGeom>
          <a:noFill/>
        </p:spPr>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In PL/SQL, conditions are fundamental to controlling the flow of execution. They allow you to execute specific blocks of code based on whether a particular condition is true or false. The two primary types of conditional statements in PL/SQL are </a:t>
            </a:r>
            <a:r>
              <a:rPr lang="en-CA" sz="1200" b="1" dirty="0">
                <a:latin typeface="Tahoma" panose="020B0604030504040204" pitchFamily="34" charset="0"/>
                <a:ea typeface="Tahoma" panose="020B0604030504040204" pitchFamily="34" charset="0"/>
                <a:cs typeface="Tahoma" panose="020B0604030504040204" pitchFamily="34" charset="0"/>
              </a:rPr>
              <a:t>IF statements</a:t>
            </a:r>
            <a:r>
              <a:rPr lang="en-CA" sz="1200" dirty="0">
                <a:latin typeface="Tahoma" panose="020B0604030504040204" pitchFamily="34" charset="0"/>
                <a:ea typeface="Tahoma" panose="020B0604030504040204" pitchFamily="34" charset="0"/>
                <a:cs typeface="Tahoma" panose="020B0604030504040204" pitchFamily="34" charset="0"/>
              </a:rPr>
              <a:t> and </a:t>
            </a:r>
            <a:r>
              <a:rPr lang="en-CA" sz="1200" b="1" dirty="0">
                <a:latin typeface="Tahoma" panose="020B0604030504040204" pitchFamily="34" charset="0"/>
                <a:ea typeface="Tahoma" panose="020B0604030504040204" pitchFamily="34" charset="0"/>
                <a:cs typeface="Tahoma" panose="020B0604030504040204" pitchFamily="34" charset="0"/>
              </a:rPr>
              <a:t>CASE</a:t>
            </a:r>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b="1" dirty="0">
                <a:latin typeface="Tahoma" panose="020B0604030504040204" pitchFamily="34" charset="0"/>
                <a:ea typeface="Tahoma" panose="020B0604030504040204" pitchFamily="34" charset="0"/>
                <a:cs typeface="Tahoma" panose="020B0604030504040204" pitchFamily="34" charset="0"/>
              </a:rPr>
              <a:t>statements</a:t>
            </a:r>
            <a:r>
              <a:rPr lang="en-CA" sz="1200" dirty="0">
                <a:latin typeface="Tahoma" panose="020B0604030504040204" pitchFamily="34" charset="0"/>
                <a:ea typeface="Tahoma" panose="020B0604030504040204" pitchFamily="34" charset="0"/>
                <a:cs typeface="Tahoma" panose="020B0604030504040204" pitchFamily="34" charset="0"/>
              </a:rPr>
              <a:t>. Here's a detailed overview of each, along with examples.</a:t>
            </a:r>
          </a:p>
        </p:txBody>
      </p:sp>
      <p:pic>
        <p:nvPicPr>
          <p:cNvPr id="9" name="Picture 8">
            <a:extLst>
              <a:ext uri="{FF2B5EF4-FFF2-40B4-BE49-F238E27FC236}">
                <a16:creationId xmlns:a16="http://schemas.microsoft.com/office/drawing/2014/main" id="{28A2A432-C9D7-29E2-1009-AE2227FD0A60}"/>
              </a:ext>
            </a:extLst>
          </p:cNvPr>
          <p:cNvPicPr>
            <a:picLocks noChangeAspect="1"/>
          </p:cNvPicPr>
          <p:nvPr/>
        </p:nvPicPr>
        <p:blipFill>
          <a:blip r:embed="rId4"/>
          <a:stretch>
            <a:fillRect/>
          </a:stretch>
        </p:blipFill>
        <p:spPr>
          <a:xfrm>
            <a:off x="6923227" y="3732957"/>
            <a:ext cx="2714172" cy="2794000"/>
          </a:xfrm>
          <a:prstGeom prst="rect">
            <a:avLst/>
          </a:prstGeom>
        </p:spPr>
      </p:pic>
      <p:pic>
        <p:nvPicPr>
          <p:cNvPr id="12" name="Picture 11">
            <a:extLst>
              <a:ext uri="{FF2B5EF4-FFF2-40B4-BE49-F238E27FC236}">
                <a16:creationId xmlns:a16="http://schemas.microsoft.com/office/drawing/2014/main" id="{DD4D36AD-3FF5-2C00-58D6-A67196C797DD}"/>
              </a:ext>
            </a:extLst>
          </p:cNvPr>
          <p:cNvPicPr>
            <a:picLocks noChangeAspect="1"/>
          </p:cNvPicPr>
          <p:nvPr/>
        </p:nvPicPr>
        <p:blipFill>
          <a:blip r:embed="rId5"/>
          <a:stretch>
            <a:fillRect/>
          </a:stretch>
        </p:blipFill>
        <p:spPr>
          <a:xfrm>
            <a:off x="-826208" y="2402895"/>
            <a:ext cx="4041694" cy="4160567"/>
          </a:xfrm>
          <a:prstGeom prst="rect">
            <a:avLst/>
          </a:prstGeom>
        </p:spPr>
      </p:pic>
      <p:sp>
        <p:nvSpPr>
          <p:cNvPr id="13" name="Callout: Double Bent Line with Accent Bar 12">
            <a:extLst>
              <a:ext uri="{FF2B5EF4-FFF2-40B4-BE49-F238E27FC236}">
                <a16:creationId xmlns:a16="http://schemas.microsoft.com/office/drawing/2014/main" id="{6612C28C-E00F-3410-6ECF-D3C912BC7540}"/>
              </a:ext>
            </a:extLst>
          </p:cNvPr>
          <p:cNvSpPr/>
          <p:nvPr/>
        </p:nvSpPr>
        <p:spPr>
          <a:xfrm>
            <a:off x="3200990" y="2574903"/>
            <a:ext cx="3124683" cy="1232919"/>
          </a:xfrm>
          <a:prstGeom prst="accentCallout3">
            <a:avLst>
              <a:gd name="adj1" fmla="val 18750"/>
              <a:gd name="adj2" fmla="val -8333"/>
              <a:gd name="adj3" fmla="val 18750"/>
              <a:gd name="adj4" fmla="val -16667"/>
              <a:gd name="adj5" fmla="val -4784"/>
              <a:gd name="adj6" fmla="val -21889"/>
              <a:gd name="adj7" fmla="val 29448"/>
              <a:gd name="adj8" fmla="val -52869"/>
            </a:avLst>
          </a:prstGeom>
        </p:spPr>
        <p:style>
          <a:lnRef idx="2">
            <a:schemeClr val="accent2"/>
          </a:lnRef>
          <a:fillRef idx="1">
            <a:schemeClr val="lt1"/>
          </a:fillRef>
          <a:effectRef idx="0">
            <a:schemeClr val="accent2"/>
          </a:effectRef>
          <a:fontRef idx="minor">
            <a:schemeClr val="dk1"/>
          </a:fontRef>
        </p:style>
        <p:txBody>
          <a:bodyPr rtlCol="0" anchor="ctr"/>
          <a:lstStyle/>
          <a:p>
            <a:r>
              <a:rPr lang="en-CA" sz="1200" b="1" dirty="0">
                <a:latin typeface="Tahoma" panose="020B0604030504040204" pitchFamily="34" charset="0"/>
                <a:ea typeface="Tahoma" panose="020B0604030504040204" pitchFamily="34" charset="0"/>
                <a:cs typeface="Tahoma" panose="020B0604030504040204" pitchFamily="34" charset="0"/>
              </a:rPr>
              <a:t>If-Else Diagram:</a:t>
            </a:r>
          </a:p>
          <a:p>
            <a:pPr marL="171450" indent="-1714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The program checks </a:t>
            </a:r>
            <a:r>
              <a:rPr lang="en-CA" sz="1200" b="1" dirty="0">
                <a:latin typeface="Tahoma" panose="020B0604030504040204" pitchFamily="34" charset="0"/>
                <a:ea typeface="Tahoma" panose="020B0604030504040204" pitchFamily="34" charset="0"/>
                <a:cs typeface="Tahoma" panose="020B0604030504040204" pitchFamily="34" charset="0"/>
              </a:rPr>
              <a:t>Condition 1</a:t>
            </a:r>
            <a:r>
              <a:rPr lang="en-CA" sz="1200" dirty="0">
                <a:latin typeface="Tahoma" panose="020B0604030504040204" pitchFamily="34" charset="0"/>
                <a:ea typeface="Tahoma" panose="020B0604030504040204" pitchFamily="34" charset="0"/>
                <a:cs typeface="Tahoma" panose="020B0604030504040204" pitchFamily="34" charset="0"/>
              </a:rPr>
              <a:t>.</a:t>
            </a:r>
          </a:p>
          <a:p>
            <a:pPr marL="742950" lvl="1" indent="-2857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If </a:t>
            </a:r>
            <a:r>
              <a:rPr lang="en-CA" sz="1200" b="1" dirty="0">
                <a:latin typeface="Tahoma" panose="020B0604030504040204" pitchFamily="34" charset="0"/>
                <a:ea typeface="Tahoma" panose="020B0604030504040204" pitchFamily="34" charset="0"/>
                <a:cs typeface="Tahoma" panose="020B0604030504040204" pitchFamily="34" charset="0"/>
              </a:rPr>
              <a:t>true</a:t>
            </a:r>
            <a:r>
              <a:rPr lang="en-CA" sz="1200" dirty="0">
                <a:latin typeface="Tahoma" panose="020B0604030504040204" pitchFamily="34" charset="0"/>
                <a:ea typeface="Tahoma" panose="020B0604030504040204" pitchFamily="34" charset="0"/>
                <a:cs typeface="Tahoma" panose="020B0604030504040204" pitchFamily="34" charset="0"/>
              </a:rPr>
              <a:t>, it runs the </a:t>
            </a:r>
            <a:r>
              <a:rPr lang="en-CA" sz="1200" b="1" dirty="0">
                <a:latin typeface="Tahoma" panose="020B0604030504040204" pitchFamily="34" charset="0"/>
                <a:ea typeface="Tahoma" panose="020B0604030504040204" pitchFamily="34" charset="0"/>
                <a:cs typeface="Tahoma" panose="020B0604030504040204" pitchFamily="34" charset="0"/>
              </a:rPr>
              <a:t>if block</a:t>
            </a:r>
            <a:r>
              <a:rPr lang="en-CA" sz="1200" dirty="0">
                <a:latin typeface="Tahoma" panose="020B0604030504040204" pitchFamily="34" charset="0"/>
                <a:ea typeface="Tahoma" panose="020B0604030504040204" pitchFamily="34" charset="0"/>
                <a:cs typeface="Tahoma" panose="020B0604030504040204" pitchFamily="34" charset="0"/>
              </a:rPr>
              <a:t>.</a:t>
            </a:r>
          </a:p>
          <a:p>
            <a:pPr marL="742950" lvl="1" indent="-2857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If </a:t>
            </a:r>
            <a:r>
              <a:rPr lang="en-CA" sz="1200" b="1" dirty="0">
                <a:latin typeface="Tahoma" panose="020B0604030504040204" pitchFamily="34" charset="0"/>
                <a:ea typeface="Tahoma" panose="020B0604030504040204" pitchFamily="34" charset="0"/>
                <a:cs typeface="Tahoma" panose="020B0604030504040204" pitchFamily="34" charset="0"/>
              </a:rPr>
              <a:t>false</a:t>
            </a:r>
            <a:r>
              <a:rPr lang="en-CA" sz="1200" dirty="0">
                <a:latin typeface="Tahoma" panose="020B0604030504040204" pitchFamily="34" charset="0"/>
                <a:ea typeface="Tahoma" panose="020B0604030504040204" pitchFamily="34" charset="0"/>
                <a:cs typeface="Tahoma" panose="020B0604030504040204" pitchFamily="34" charset="0"/>
              </a:rPr>
              <a:t>, it runs the </a:t>
            </a:r>
            <a:r>
              <a:rPr lang="en-CA" sz="1200" b="1" dirty="0">
                <a:latin typeface="Tahoma" panose="020B0604030504040204" pitchFamily="34" charset="0"/>
                <a:ea typeface="Tahoma" panose="020B0604030504040204" pitchFamily="34" charset="0"/>
                <a:cs typeface="Tahoma" panose="020B0604030504040204" pitchFamily="34" charset="0"/>
              </a:rPr>
              <a:t>else block</a:t>
            </a:r>
            <a:r>
              <a:rPr lang="en-CA" sz="1200" dirty="0">
                <a:latin typeface="Tahoma" panose="020B0604030504040204" pitchFamily="34" charset="0"/>
                <a:ea typeface="Tahoma" panose="020B0604030504040204" pitchFamily="34" charset="0"/>
                <a:cs typeface="Tahoma" panose="020B0604030504040204" pitchFamily="34" charset="0"/>
              </a:rPr>
              <a:t>.</a:t>
            </a:r>
          </a:p>
          <a:p>
            <a:pPr marL="171450" indent="-1714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After either block runs, the program continues and ends.</a:t>
            </a:r>
          </a:p>
          <a:p>
            <a:pPr algn="ct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6" name="Callout: Double Bent Line with No Border 15">
            <a:extLst>
              <a:ext uri="{FF2B5EF4-FFF2-40B4-BE49-F238E27FC236}">
                <a16:creationId xmlns:a16="http://schemas.microsoft.com/office/drawing/2014/main" id="{2EC7F4DD-0B65-1DED-9E2A-5761241DFABD}"/>
              </a:ext>
            </a:extLst>
          </p:cNvPr>
          <p:cNvSpPr/>
          <p:nvPr/>
        </p:nvSpPr>
        <p:spPr>
          <a:xfrm>
            <a:off x="3402276" y="5129957"/>
            <a:ext cx="3680522" cy="1359061"/>
          </a:xfrm>
          <a:prstGeom prst="callout3">
            <a:avLst>
              <a:gd name="adj1" fmla="val 18750"/>
              <a:gd name="adj2" fmla="val -8333"/>
              <a:gd name="adj3" fmla="val 18750"/>
              <a:gd name="adj4" fmla="val -16667"/>
              <a:gd name="adj5" fmla="val -29762"/>
              <a:gd name="adj6" fmla="val -10259"/>
              <a:gd name="adj7" fmla="val -31084"/>
              <a:gd name="adj8" fmla="val 107278"/>
            </a:avLst>
          </a:prstGeom>
        </p:spPr>
        <p:style>
          <a:lnRef idx="2">
            <a:schemeClr val="accent5"/>
          </a:lnRef>
          <a:fillRef idx="1">
            <a:schemeClr val="lt1"/>
          </a:fillRef>
          <a:effectRef idx="0">
            <a:schemeClr val="accent5"/>
          </a:effectRef>
          <a:fontRef idx="minor">
            <a:schemeClr val="dk1"/>
          </a:fontRef>
        </p:style>
        <p:txBody>
          <a:bodyPr rtlCol="0" anchor="ctr"/>
          <a:lstStyle/>
          <a:p>
            <a:r>
              <a:rPr lang="en-CA" sz="1200" b="1" dirty="0">
                <a:latin typeface="Tahoma" panose="020B0604030504040204" pitchFamily="34" charset="0"/>
                <a:ea typeface="Tahoma" panose="020B0604030504040204" pitchFamily="34" charset="0"/>
                <a:cs typeface="Tahoma" panose="020B0604030504040204" pitchFamily="34" charset="0"/>
              </a:rPr>
              <a:t>Switch-Case Diagram:</a:t>
            </a:r>
          </a:p>
          <a:p>
            <a:pPr marL="228600" indent="-228600">
              <a:buFont typeface="+mj-lt"/>
              <a:buAutoNum type="arabicPeriod"/>
            </a:pPr>
            <a:r>
              <a:rPr lang="en-CA" sz="1200" dirty="0">
                <a:latin typeface="Tahoma" panose="020B0604030504040204" pitchFamily="34" charset="0"/>
                <a:ea typeface="Tahoma" panose="020B0604030504040204" pitchFamily="34" charset="0"/>
                <a:cs typeface="Tahoma" panose="020B0604030504040204" pitchFamily="34" charset="0"/>
              </a:rPr>
              <a:t>The program checks multiple </a:t>
            </a:r>
            <a:r>
              <a:rPr lang="en-CA" sz="1200" b="1" dirty="0">
                <a:latin typeface="Tahoma" panose="020B0604030504040204" pitchFamily="34" charset="0"/>
                <a:ea typeface="Tahoma" panose="020B0604030504040204" pitchFamily="34" charset="0"/>
                <a:cs typeface="Tahoma" panose="020B0604030504040204" pitchFamily="34" charset="0"/>
              </a:rPr>
              <a:t>cases</a:t>
            </a:r>
            <a:r>
              <a:rPr lang="en-CA" sz="1200" dirty="0">
                <a:latin typeface="Tahoma" panose="020B0604030504040204" pitchFamily="34" charset="0"/>
                <a:ea typeface="Tahoma" panose="020B0604030504040204" pitchFamily="34" charset="0"/>
                <a:cs typeface="Tahoma" panose="020B0604030504040204" pitchFamily="34" charset="0"/>
              </a:rPr>
              <a:t>.</a:t>
            </a:r>
          </a:p>
          <a:p>
            <a:pPr marL="742950" lvl="1" indent="-2857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If </a:t>
            </a:r>
            <a:r>
              <a:rPr lang="en-CA" sz="1200" b="1" dirty="0">
                <a:latin typeface="Tahoma" panose="020B0604030504040204" pitchFamily="34" charset="0"/>
                <a:ea typeface="Tahoma" panose="020B0604030504040204" pitchFamily="34" charset="0"/>
                <a:cs typeface="Tahoma" panose="020B0604030504040204" pitchFamily="34" charset="0"/>
              </a:rPr>
              <a:t>Case 1</a:t>
            </a:r>
            <a:r>
              <a:rPr lang="en-CA" sz="1200" dirty="0">
                <a:latin typeface="Tahoma" panose="020B0604030504040204" pitchFamily="34" charset="0"/>
                <a:ea typeface="Tahoma" panose="020B0604030504040204" pitchFamily="34" charset="0"/>
                <a:cs typeface="Tahoma" panose="020B0604030504040204" pitchFamily="34" charset="0"/>
              </a:rPr>
              <a:t> matches, it runs </a:t>
            </a:r>
            <a:r>
              <a:rPr lang="en-CA" sz="1200" b="1" dirty="0">
                <a:latin typeface="Tahoma" panose="020B0604030504040204" pitchFamily="34" charset="0"/>
                <a:ea typeface="Tahoma" panose="020B0604030504040204" pitchFamily="34" charset="0"/>
                <a:cs typeface="Tahoma" panose="020B0604030504040204" pitchFamily="34" charset="0"/>
              </a:rPr>
              <a:t>Expression 1</a:t>
            </a:r>
            <a:r>
              <a:rPr lang="en-CA" sz="1200" dirty="0">
                <a:latin typeface="Tahoma" panose="020B0604030504040204" pitchFamily="34" charset="0"/>
                <a:ea typeface="Tahoma" panose="020B0604030504040204" pitchFamily="34" charset="0"/>
                <a:cs typeface="Tahoma" panose="020B0604030504040204" pitchFamily="34" charset="0"/>
              </a:rPr>
              <a:t>.</a:t>
            </a:r>
          </a:p>
          <a:p>
            <a:pPr marL="742950" lvl="1" indent="-2857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If </a:t>
            </a:r>
            <a:r>
              <a:rPr lang="en-CA" sz="1200" b="1" dirty="0">
                <a:latin typeface="Tahoma" panose="020B0604030504040204" pitchFamily="34" charset="0"/>
                <a:ea typeface="Tahoma" panose="020B0604030504040204" pitchFamily="34" charset="0"/>
                <a:cs typeface="Tahoma" panose="020B0604030504040204" pitchFamily="34" charset="0"/>
              </a:rPr>
              <a:t>Case 2</a:t>
            </a:r>
            <a:r>
              <a:rPr lang="en-CA" sz="1200" dirty="0">
                <a:latin typeface="Tahoma" panose="020B0604030504040204" pitchFamily="34" charset="0"/>
                <a:ea typeface="Tahoma" panose="020B0604030504040204" pitchFamily="34" charset="0"/>
                <a:cs typeface="Tahoma" panose="020B0604030504040204" pitchFamily="34" charset="0"/>
              </a:rPr>
              <a:t> matches, it runs </a:t>
            </a:r>
            <a:r>
              <a:rPr lang="en-CA" sz="1200" b="1" dirty="0">
                <a:latin typeface="Tahoma" panose="020B0604030504040204" pitchFamily="34" charset="0"/>
                <a:ea typeface="Tahoma" panose="020B0604030504040204" pitchFamily="34" charset="0"/>
                <a:cs typeface="Tahoma" panose="020B0604030504040204" pitchFamily="34" charset="0"/>
              </a:rPr>
              <a:t>Expression 2</a:t>
            </a:r>
            <a:r>
              <a:rPr lang="en-CA" sz="1200" dirty="0">
                <a:latin typeface="Tahoma" panose="020B0604030504040204" pitchFamily="34" charset="0"/>
                <a:ea typeface="Tahoma" panose="020B0604030504040204" pitchFamily="34" charset="0"/>
                <a:cs typeface="Tahoma" panose="020B0604030504040204" pitchFamily="34" charset="0"/>
              </a:rPr>
              <a:t>.</a:t>
            </a:r>
          </a:p>
          <a:p>
            <a:pPr marL="742950" lvl="1" indent="-285750">
              <a:buFont typeface="Wingdings" panose="05000000000000000000" pitchFamily="2" charset="2"/>
              <a:buChar char="§"/>
            </a:pPr>
            <a:r>
              <a:rPr lang="en-CA" sz="1200" dirty="0">
                <a:latin typeface="Tahoma" panose="020B0604030504040204" pitchFamily="34" charset="0"/>
                <a:ea typeface="Tahoma" panose="020B0604030504040204" pitchFamily="34" charset="0"/>
                <a:cs typeface="Tahoma" panose="020B0604030504040204" pitchFamily="34" charset="0"/>
              </a:rPr>
              <a:t>If no case matches, it runs the </a:t>
            </a:r>
            <a:r>
              <a:rPr lang="en-CA" sz="1200" b="1" dirty="0">
                <a:latin typeface="Tahoma" panose="020B0604030504040204" pitchFamily="34" charset="0"/>
                <a:ea typeface="Tahoma" panose="020B0604030504040204" pitchFamily="34" charset="0"/>
                <a:cs typeface="Tahoma" panose="020B0604030504040204" pitchFamily="34" charset="0"/>
              </a:rPr>
              <a:t>default</a:t>
            </a:r>
            <a:r>
              <a:rPr lang="en-CA" sz="1200" dirty="0">
                <a:latin typeface="Tahoma" panose="020B0604030504040204" pitchFamily="34" charset="0"/>
                <a:ea typeface="Tahoma" panose="020B0604030504040204" pitchFamily="34" charset="0"/>
                <a:cs typeface="Tahoma" panose="020B0604030504040204" pitchFamily="34" charset="0"/>
              </a:rPr>
              <a:t> block.</a:t>
            </a:r>
          </a:p>
          <a:p>
            <a:r>
              <a:rPr lang="en-CA" sz="1200" dirty="0">
                <a:latin typeface="Tahoma" panose="020B0604030504040204" pitchFamily="34" charset="0"/>
                <a:ea typeface="Tahoma" panose="020B0604030504040204" pitchFamily="34" charset="0"/>
                <a:cs typeface="Tahoma" panose="020B0604030504040204" pitchFamily="34" charset="0"/>
              </a:rPr>
              <a:t>2.  The program ends after a match is found or the default runs</a:t>
            </a:r>
          </a:p>
          <a:p>
            <a:pPr algn="ctr"/>
            <a:endParaRPr lang="en-US" sz="1200"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994BC757-4B77-6FC3-C35E-68AFA87DCC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53267" y="2692119"/>
            <a:ext cx="2286000" cy="3962400"/>
          </a:xfrm>
          <a:prstGeom prst="rect">
            <a:avLst/>
          </a:prstGeom>
        </p:spPr>
      </p:pic>
      <p:sp>
        <p:nvSpPr>
          <p:cNvPr id="10" name="TextBox 9">
            <a:extLst>
              <a:ext uri="{FF2B5EF4-FFF2-40B4-BE49-F238E27FC236}">
                <a16:creationId xmlns:a16="http://schemas.microsoft.com/office/drawing/2014/main" id="{FB858FE0-CDD3-4955-F1C6-72FEDE7A8FED}"/>
              </a:ext>
            </a:extLst>
          </p:cNvPr>
          <p:cNvSpPr txBox="1"/>
          <p:nvPr/>
        </p:nvSpPr>
        <p:spPr>
          <a:xfrm>
            <a:off x="9403244" y="3553137"/>
            <a:ext cx="443380" cy="276999"/>
          </a:xfrm>
          <a:prstGeom prst="rect">
            <a:avLst/>
          </a:prstGeom>
          <a:noFill/>
        </p:spPr>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OR</a:t>
            </a:r>
            <a:endParaRPr lang="en-US" sz="1200" dirty="0"/>
          </a:p>
        </p:txBody>
      </p:sp>
    </p:spTree>
    <p:extLst>
      <p:ext uri="{BB962C8B-B14F-4D97-AF65-F5344CB8AC3E}">
        <p14:creationId xmlns:p14="http://schemas.microsoft.com/office/powerpoint/2010/main" val="3036585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IF Statements - Syntax</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26</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17" name="TextBox 16">
            <a:extLst>
              <a:ext uri="{FF2B5EF4-FFF2-40B4-BE49-F238E27FC236}">
                <a16:creationId xmlns:a16="http://schemas.microsoft.com/office/drawing/2014/main" id="{F5FF68FD-9F67-5324-4240-C587FB955498}"/>
              </a:ext>
            </a:extLst>
          </p:cNvPr>
          <p:cNvSpPr txBox="1"/>
          <p:nvPr/>
        </p:nvSpPr>
        <p:spPr>
          <a:xfrm>
            <a:off x="4893448" y="5918069"/>
            <a:ext cx="2405099" cy="276999"/>
          </a:xfrm>
          <a:prstGeom prst="rect">
            <a:avLst/>
          </a:prstGeom>
          <a:noFill/>
        </p:spPr>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Example Using IF Statement</a:t>
            </a:r>
          </a:p>
        </p:txBody>
      </p:sp>
      <p:sp>
        <p:nvSpPr>
          <p:cNvPr id="18" name="Callout: Double Bent Line with Accent Bar 17">
            <a:extLst>
              <a:ext uri="{FF2B5EF4-FFF2-40B4-BE49-F238E27FC236}">
                <a16:creationId xmlns:a16="http://schemas.microsoft.com/office/drawing/2014/main" id="{F47D48ED-20EB-B63E-17D5-91E47AFA80B7}"/>
              </a:ext>
            </a:extLst>
          </p:cNvPr>
          <p:cNvSpPr/>
          <p:nvPr/>
        </p:nvSpPr>
        <p:spPr>
          <a:xfrm>
            <a:off x="7620002" y="1590741"/>
            <a:ext cx="4448176" cy="5267259"/>
          </a:xfrm>
          <a:prstGeom prst="accentCallout3">
            <a:avLst>
              <a:gd name="adj1" fmla="val 18750"/>
              <a:gd name="adj2" fmla="val -8333"/>
              <a:gd name="adj3" fmla="val 18750"/>
              <a:gd name="adj4" fmla="val -16667"/>
              <a:gd name="adj5" fmla="val 74924"/>
              <a:gd name="adj6" fmla="val -16993"/>
              <a:gd name="adj7" fmla="val 81274"/>
              <a:gd name="adj8" fmla="val -14206"/>
            </a:avLst>
          </a:prstGeom>
        </p:spPr>
        <p:style>
          <a:lnRef idx="1">
            <a:schemeClr val="dk1"/>
          </a:lnRef>
          <a:fillRef idx="3">
            <a:schemeClr val="dk1"/>
          </a:fillRef>
          <a:effectRef idx="2">
            <a:schemeClr val="dk1"/>
          </a:effectRef>
          <a:fontRef idx="minor">
            <a:schemeClr val="lt1"/>
          </a:fontRef>
        </p:style>
        <p:txBody>
          <a:bodyPr rtlCol="0" anchor="ctr"/>
          <a:lstStyle/>
          <a:p>
            <a:r>
              <a:rPr lang="en-US" sz="900" dirty="0">
                <a:latin typeface="Tahoma" panose="020B0604030504040204" pitchFamily="34" charset="0"/>
                <a:ea typeface="Tahoma" panose="020B0604030504040204" pitchFamily="34" charset="0"/>
                <a:cs typeface="Tahoma" panose="020B0604030504040204" pitchFamily="34" charset="0"/>
              </a:rPr>
              <a:t>DECLARE</a:t>
            </a:r>
          </a:p>
          <a:p>
            <a:r>
              <a:rPr lang="en-US" sz="900" dirty="0">
                <a:latin typeface="Tahoma" panose="020B0604030504040204" pitchFamily="34" charset="0"/>
                <a:ea typeface="Tahoma" panose="020B0604030504040204" pitchFamily="34" charset="0"/>
                <a:cs typeface="Tahoma" panose="020B0604030504040204" pitchFamily="34" charset="0"/>
              </a:rPr>
              <a:t>    score NUMBER := 75; </a:t>
            </a:r>
            <a:r>
              <a:rPr lang="en-US" sz="9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Student's score</a:t>
            </a:r>
          </a:p>
          <a:p>
            <a:r>
              <a:rPr lang="en-US" sz="900" dirty="0">
                <a:latin typeface="Tahoma" panose="020B0604030504040204" pitchFamily="34" charset="0"/>
                <a:ea typeface="Tahoma" panose="020B0604030504040204" pitchFamily="34" charset="0"/>
                <a:cs typeface="Tahoma" panose="020B0604030504040204" pitchFamily="34" charset="0"/>
              </a:rPr>
              <a:t>    grade CHAR(1); </a:t>
            </a:r>
            <a:r>
              <a:rPr lang="en-US" sz="9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Variable to hold the grade</a:t>
            </a:r>
          </a:p>
          <a:p>
            <a:r>
              <a:rPr lang="en-US" sz="900" dirty="0">
                <a:latin typeface="Tahoma" panose="020B0604030504040204" pitchFamily="34" charset="0"/>
                <a:ea typeface="Tahoma" panose="020B0604030504040204" pitchFamily="34" charset="0"/>
                <a:cs typeface="Tahoma" panose="020B0604030504040204" pitchFamily="34" charset="0"/>
              </a:rPr>
              <a:t>BEGIN</a:t>
            </a:r>
          </a:p>
          <a:p>
            <a:r>
              <a:rPr lang="en-US" sz="9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Check if score is within valid range</a:t>
            </a:r>
          </a:p>
          <a:p>
            <a:r>
              <a:rPr lang="en-US" sz="900" dirty="0">
                <a:latin typeface="Tahoma" panose="020B0604030504040204" pitchFamily="34" charset="0"/>
                <a:ea typeface="Tahoma" panose="020B0604030504040204" pitchFamily="34" charset="0"/>
                <a:cs typeface="Tahoma" panose="020B0604030504040204" pitchFamily="34" charset="0"/>
              </a:rPr>
              <a:t>    IF score &lt; 0 OR score &gt; 100 THEN</a:t>
            </a:r>
          </a:p>
          <a:p>
            <a:r>
              <a:rPr lang="en-US" sz="900" dirty="0">
                <a:latin typeface="Tahoma" panose="020B0604030504040204" pitchFamily="34" charset="0"/>
                <a:ea typeface="Tahoma" panose="020B0604030504040204" pitchFamily="34" charset="0"/>
                <a:cs typeface="Tahoma" panose="020B0604030504040204" pitchFamily="34" charset="0"/>
              </a:rPr>
              <a:t>        RAISE_APPLICATION_ERROR(-20001, 'Error: Score must be between 0 and 100.');</a:t>
            </a:r>
          </a:p>
          <a:p>
            <a:r>
              <a:rPr lang="en-US" sz="900" dirty="0">
                <a:latin typeface="Tahoma" panose="020B0604030504040204" pitchFamily="34" charset="0"/>
                <a:ea typeface="Tahoma" panose="020B0604030504040204" pitchFamily="34" charset="0"/>
                <a:cs typeface="Tahoma" panose="020B0604030504040204" pitchFamily="34" charset="0"/>
              </a:rPr>
              <a:t>    END IF;</a:t>
            </a:r>
          </a:p>
          <a:p>
            <a:endParaRPr lang="en-US" sz="900" dirty="0">
              <a:latin typeface="Tahoma" panose="020B0604030504040204" pitchFamily="34" charset="0"/>
              <a:ea typeface="Tahoma" panose="020B0604030504040204" pitchFamily="34" charset="0"/>
              <a:cs typeface="Tahoma" panose="020B0604030504040204" pitchFamily="34" charset="0"/>
            </a:endParaRPr>
          </a:p>
          <a:p>
            <a:r>
              <a:rPr lang="en-US" sz="9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Assign grade based on score</a:t>
            </a:r>
          </a:p>
          <a:p>
            <a:r>
              <a:rPr lang="en-US" sz="900" dirty="0">
                <a:latin typeface="Tahoma" panose="020B0604030504040204" pitchFamily="34" charset="0"/>
                <a:ea typeface="Tahoma" panose="020B0604030504040204" pitchFamily="34" charset="0"/>
                <a:cs typeface="Tahoma" panose="020B0604030504040204" pitchFamily="34" charset="0"/>
              </a:rPr>
              <a:t>    IF score &gt;= 90 THEN</a:t>
            </a:r>
          </a:p>
          <a:p>
            <a:r>
              <a:rPr lang="en-US" sz="900" dirty="0">
                <a:latin typeface="Tahoma" panose="020B0604030504040204" pitchFamily="34" charset="0"/>
                <a:ea typeface="Tahoma" panose="020B0604030504040204" pitchFamily="34" charset="0"/>
                <a:cs typeface="Tahoma" panose="020B0604030504040204" pitchFamily="34" charset="0"/>
              </a:rPr>
              <a:t>        grade := 'A';</a:t>
            </a:r>
          </a:p>
          <a:p>
            <a:r>
              <a:rPr lang="en-US" sz="900" dirty="0">
                <a:latin typeface="Tahoma" panose="020B0604030504040204" pitchFamily="34" charset="0"/>
                <a:ea typeface="Tahoma" panose="020B0604030504040204" pitchFamily="34" charset="0"/>
                <a:cs typeface="Tahoma" panose="020B0604030504040204" pitchFamily="34" charset="0"/>
              </a:rPr>
              <a:t>    ELSIF score &gt;= 80 THEN</a:t>
            </a:r>
          </a:p>
          <a:p>
            <a:r>
              <a:rPr lang="en-US" sz="900" dirty="0">
                <a:latin typeface="Tahoma" panose="020B0604030504040204" pitchFamily="34" charset="0"/>
                <a:ea typeface="Tahoma" panose="020B0604030504040204" pitchFamily="34" charset="0"/>
                <a:cs typeface="Tahoma" panose="020B0604030504040204" pitchFamily="34" charset="0"/>
              </a:rPr>
              <a:t>        grade := 'B';</a:t>
            </a:r>
          </a:p>
          <a:p>
            <a:r>
              <a:rPr lang="en-US" sz="900" dirty="0">
                <a:latin typeface="Tahoma" panose="020B0604030504040204" pitchFamily="34" charset="0"/>
                <a:ea typeface="Tahoma" panose="020B0604030504040204" pitchFamily="34" charset="0"/>
                <a:cs typeface="Tahoma" panose="020B0604030504040204" pitchFamily="34" charset="0"/>
              </a:rPr>
              <a:t>    ELSIF score &gt;= 70 THEN</a:t>
            </a:r>
          </a:p>
          <a:p>
            <a:r>
              <a:rPr lang="en-US" sz="900" dirty="0">
                <a:latin typeface="Tahoma" panose="020B0604030504040204" pitchFamily="34" charset="0"/>
                <a:ea typeface="Tahoma" panose="020B0604030504040204" pitchFamily="34" charset="0"/>
                <a:cs typeface="Tahoma" panose="020B0604030504040204" pitchFamily="34" charset="0"/>
              </a:rPr>
              <a:t>        grade := 'C';</a:t>
            </a:r>
          </a:p>
          <a:p>
            <a:r>
              <a:rPr lang="en-US" sz="900" dirty="0">
                <a:latin typeface="Tahoma" panose="020B0604030504040204" pitchFamily="34" charset="0"/>
                <a:ea typeface="Tahoma" panose="020B0604030504040204" pitchFamily="34" charset="0"/>
                <a:cs typeface="Tahoma" panose="020B0604030504040204" pitchFamily="34" charset="0"/>
              </a:rPr>
              <a:t>    ELSIF score &gt;= 60 THEN</a:t>
            </a:r>
          </a:p>
          <a:p>
            <a:r>
              <a:rPr lang="en-US" sz="900" dirty="0">
                <a:latin typeface="Tahoma" panose="020B0604030504040204" pitchFamily="34" charset="0"/>
                <a:ea typeface="Tahoma" panose="020B0604030504040204" pitchFamily="34" charset="0"/>
                <a:cs typeface="Tahoma" panose="020B0604030504040204" pitchFamily="34" charset="0"/>
              </a:rPr>
              <a:t>        grade := 'D';</a:t>
            </a:r>
          </a:p>
          <a:p>
            <a:r>
              <a:rPr lang="en-US" sz="900" dirty="0">
                <a:latin typeface="Tahoma" panose="020B0604030504040204" pitchFamily="34" charset="0"/>
                <a:ea typeface="Tahoma" panose="020B0604030504040204" pitchFamily="34" charset="0"/>
                <a:cs typeface="Tahoma" panose="020B0604030504040204" pitchFamily="34" charset="0"/>
              </a:rPr>
              <a:t>    ELSE</a:t>
            </a:r>
          </a:p>
          <a:p>
            <a:r>
              <a:rPr lang="en-US" sz="900" dirty="0">
                <a:latin typeface="Tahoma" panose="020B0604030504040204" pitchFamily="34" charset="0"/>
                <a:ea typeface="Tahoma" panose="020B0604030504040204" pitchFamily="34" charset="0"/>
                <a:cs typeface="Tahoma" panose="020B0604030504040204" pitchFamily="34" charset="0"/>
              </a:rPr>
              <a:t>        grade := 'F';</a:t>
            </a:r>
          </a:p>
          <a:p>
            <a:r>
              <a:rPr lang="en-US" sz="900" dirty="0">
                <a:latin typeface="Tahoma" panose="020B0604030504040204" pitchFamily="34" charset="0"/>
                <a:ea typeface="Tahoma" panose="020B0604030504040204" pitchFamily="34" charset="0"/>
                <a:cs typeface="Tahoma" panose="020B0604030504040204" pitchFamily="34" charset="0"/>
              </a:rPr>
              <a:t>    END IF;</a:t>
            </a:r>
          </a:p>
          <a:p>
            <a:endParaRPr lang="en-US" sz="9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9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Output the grade</a:t>
            </a:r>
          </a:p>
          <a:p>
            <a:r>
              <a:rPr lang="en-US" sz="900" dirty="0">
                <a:latin typeface="Tahoma" panose="020B0604030504040204" pitchFamily="34" charset="0"/>
                <a:ea typeface="Tahoma" panose="020B0604030504040204" pitchFamily="34" charset="0"/>
                <a:cs typeface="Tahoma" panose="020B0604030504040204" pitchFamily="34" charset="0"/>
              </a:rPr>
              <a:t>    DBMS_OUTPUT.PUT_LINE('Grade: ' || grade);</a:t>
            </a:r>
          </a:p>
          <a:p>
            <a:endParaRPr lang="en-US" sz="900" dirty="0">
              <a:latin typeface="Tahoma" panose="020B0604030504040204" pitchFamily="34" charset="0"/>
              <a:ea typeface="Tahoma" panose="020B0604030504040204" pitchFamily="34" charset="0"/>
              <a:cs typeface="Tahoma" panose="020B0604030504040204" pitchFamily="34" charset="0"/>
            </a:endParaRPr>
          </a:p>
          <a:p>
            <a:r>
              <a:rPr lang="en-US" sz="900" dirty="0">
                <a:latin typeface="Tahoma" panose="020B0604030504040204" pitchFamily="34" charset="0"/>
                <a:ea typeface="Tahoma" panose="020B0604030504040204" pitchFamily="34" charset="0"/>
                <a:cs typeface="Tahoma" panose="020B0604030504040204" pitchFamily="34" charset="0"/>
              </a:rPr>
              <a:t>EXCEPTION</a:t>
            </a:r>
          </a:p>
          <a:p>
            <a:r>
              <a:rPr lang="en-US" sz="900" dirty="0">
                <a:latin typeface="Tahoma" panose="020B0604030504040204" pitchFamily="34" charset="0"/>
                <a:ea typeface="Tahoma" panose="020B0604030504040204" pitchFamily="34" charset="0"/>
                <a:cs typeface="Tahoma" panose="020B0604030504040204" pitchFamily="34" charset="0"/>
              </a:rPr>
              <a:t>    WHEN VALUE_ERROR THEN</a:t>
            </a:r>
          </a:p>
          <a:p>
            <a:r>
              <a:rPr lang="en-US" sz="900" dirty="0">
                <a:latin typeface="Tahoma" panose="020B0604030504040204" pitchFamily="34" charset="0"/>
                <a:ea typeface="Tahoma" panose="020B0604030504040204" pitchFamily="34" charset="0"/>
                <a:cs typeface="Tahoma" panose="020B0604030504040204" pitchFamily="34" charset="0"/>
              </a:rPr>
              <a:t>        DBMS_OUTPUT.PUT_LINE('Error: Invalid value encountered.');</a:t>
            </a:r>
          </a:p>
          <a:p>
            <a:r>
              <a:rPr lang="en-US" sz="900" dirty="0">
                <a:latin typeface="Tahoma" panose="020B0604030504040204" pitchFamily="34" charset="0"/>
                <a:ea typeface="Tahoma" panose="020B0604030504040204" pitchFamily="34" charset="0"/>
                <a:cs typeface="Tahoma" panose="020B0604030504040204" pitchFamily="34" charset="0"/>
              </a:rPr>
              <a:t>    WHEN OTHERS THEN</a:t>
            </a:r>
          </a:p>
          <a:p>
            <a:r>
              <a:rPr lang="en-US" sz="900" dirty="0">
                <a:latin typeface="Tahoma" panose="020B0604030504040204" pitchFamily="34" charset="0"/>
                <a:ea typeface="Tahoma" panose="020B0604030504040204" pitchFamily="34" charset="0"/>
                <a:cs typeface="Tahoma" panose="020B0604030504040204" pitchFamily="34" charset="0"/>
              </a:rPr>
              <a:t>        DBMS_OUTPUT.PUT_LINE('Unexpected Error: ' || SQLERRM);</a:t>
            </a:r>
          </a:p>
          <a:p>
            <a:r>
              <a:rPr lang="en-US" sz="900" dirty="0">
                <a:latin typeface="Tahoma" panose="020B0604030504040204" pitchFamily="34" charset="0"/>
                <a:ea typeface="Tahoma" panose="020B0604030504040204" pitchFamily="34" charset="0"/>
                <a:cs typeface="Tahoma" panose="020B0604030504040204" pitchFamily="34" charset="0"/>
              </a:rPr>
              <a:t>END;</a:t>
            </a:r>
          </a:p>
          <a:p>
            <a:r>
              <a:rPr lang="en-US" sz="900" dirty="0">
                <a:latin typeface="Tahoma" panose="020B0604030504040204" pitchFamily="34" charset="0"/>
                <a:ea typeface="Tahoma" panose="020B0604030504040204" pitchFamily="34" charset="0"/>
                <a:cs typeface="Tahoma" panose="020B0604030504040204" pitchFamily="34" charset="0"/>
              </a:rPr>
              <a:t>/</a:t>
            </a:r>
          </a:p>
          <a:p>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1CBDC351-C18A-70A0-0790-C746EA213D2D}"/>
              </a:ext>
            </a:extLst>
          </p:cNvPr>
          <p:cNvSpPr txBox="1"/>
          <p:nvPr/>
        </p:nvSpPr>
        <p:spPr>
          <a:xfrm>
            <a:off x="172700" y="1597432"/>
            <a:ext cx="1075573" cy="276999"/>
          </a:xfrm>
          <a:prstGeom prst="rect">
            <a:avLst/>
          </a:prstGeom>
          <a:noFill/>
        </p:spPr>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Syntax</a:t>
            </a:r>
          </a:p>
        </p:txBody>
      </p:sp>
      <p:sp>
        <p:nvSpPr>
          <p:cNvPr id="6" name="TextBox 5">
            <a:extLst>
              <a:ext uri="{FF2B5EF4-FFF2-40B4-BE49-F238E27FC236}">
                <a16:creationId xmlns:a16="http://schemas.microsoft.com/office/drawing/2014/main" id="{2E27E4D3-25E5-DFE8-18D2-75ADC2E86825}"/>
              </a:ext>
            </a:extLst>
          </p:cNvPr>
          <p:cNvSpPr txBox="1"/>
          <p:nvPr/>
        </p:nvSpPr>
        <p:spPr>
          <a:xfrm>
            <a:off x="83718" y="1881120"/>
            <a:ext cx="4350420"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1.  IF-THEN:</a:t>
            </a:r>
          </a:p>
          <a:p>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IF condition THEN</a:t>
            </a:r>
          </a:p>
          <a:p>
            <a:r>
              <a:rPr lang="en-US"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to execute if condition is true</a:t>
            </a:r>
          </a:p>
          <a:p>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END IF;</a:t>
            </a:r>
          </a:p>
          <a:p>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2.  IF-THEN-ELSE:</a:t>
            </a:r>
          </a:p>
          <a:p>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IF condition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to execute if condition is true</a:t>
            </a: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ELSE</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to execute if condition is false</a:t>
            </a: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END IF;</a:t>
            </a:r>
          </a:p>
          <a:p>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3.  IF-THEN-ELSIF:</a:t>
            </a:r>
          </a:p>
          <a:p>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IF condition1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for condition1</a:t>
            </a: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ELSIF condition2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for condition2</a:t>
            </a: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ELSE</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if none of the conditions are true</a:t>
            </a: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END IF;</a:t>
            </a:r>
          </a:p>
          <a:p>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93613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1A7795-F211-9665-FC9C-E840502B18E4}"/>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6153EF7-C84C-E946-B181-A5EB7F6DD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8F6C6328-ACB0-433B-63BA-09DE88E25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F3794699-D53F-74FD-18F5-1641E824B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A42E4EA3-7FCA-5141-C4DD-F49D7D17F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7C78747A-D03A-520C-FF3C-DD871563A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8E38A53C-8856-CC38-BA6D-B652F39565C2}"/>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 Problem Statement: Employee Bonus Update with Error Handling</a:t>
            </a:r>
          </a:p>
        </p:txBody>
      </p:sp>
      <p:sp>
        <p:nvSpPr>
          <p:cNvPr id="5" name="Slide Number Placeholder 4">
            <a:extLst>
              <a:ext uri="{FF2B5EF4-FFF2-40B4-BE49-F238E27FC236}">
                <a16:creationId xmlns:a16="http://schemas.microsoft.com/office/drawing/2014/main" id="{38C5DFC4-5820-6A51-C3AD-8AF2DDCDAB08}"/>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27</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B24F5F87-BBD1-EE8B-7D83-A5D9D72E1A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 name="Rectangle 1">
            <a:extLst>
              <a:ext uri="{FF2B5EF4-FFF2-40B4-BE49-F238E27FC236}">
                <a16:creationId xmlns:a16="http://schemas.microsoft.com/office/drawing/2014/main" id="{61AD6CD0-B0C1-351E-CD8E-DBF7DB686E7F}"/>
              </a:ext>
            </a:extLst>
          </p:cNvPr>
          <p:cNvSpPr>
            <a:spLocks noChangeArrowheads="1"/>
          </p:cNvSpPr>
          <p:nvPr/>
        </p:nvSpPr>
        <p:spPr bwMode="auto">
          <a:xfrm>
            <a:off x="123824" y="1680503"/>
            <a:ext cx="102440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Scenario: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HR department wants to update 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bonus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for employees in the company. However, the system should handle cases where: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employee ID does not exist</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 the database.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bonus amount is negative or invalid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Any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unexpected errors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occur.</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Write a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 procedure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named </a:t>
            </a:r>
            <a:r>
              <a:rPr kumimoji="0" lang="en-US" altLang="en-US" sz="1200" b="0"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update_employee_bonus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which: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Takes </a:t>
            </a:r>
            <a:r>
              <a:rPr kumimoji="0" lang="en-US" altLang="en-US" sz="12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p_emp_id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(Employee ID) and </a:t>
            </a:r>
            <a:r>
              <a:rPr kumimoji="0" lang="en-US" altLang="en-US" sz="12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p_bonus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(Bonus amount) as inputs.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Checks if the employee exists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before updating.</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Updates the bonus field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for the given employee.</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Uses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explicit error handling</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for possible exceptions.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Rolls back changes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 case of failure.</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Displays an appropriate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success or error message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using DBMS_OUTPUT.PUT_LINE.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6" name="Picture 3" descr="How to stay warm in the winter without breaking the bank | CNN">
            <a:extLst>
              <a:ext uri="{FF2B5EF4-FFF2-40B4-BE49-F238E27FC236}">
                <a16:creationId xmlns:a16="http://schemas.microsoft.com/office/drawing/2014/main" id="{DAFE7896-E932-07A5-8D8D-4240762AE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4868" r="-1" b="9186"/>
          <a:stretch/>
        </p:blipFill>
        <p:spPr bwMode="auto">
          <a:xfrm>
            <a:off x="7685767" y="4595628"/>
            <a:ext cx="4506233" cy="2042598"/>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9F1322D0-34F0-B0E0-B9F5-B285CF9358E9}"/>
              </a:ext>
            </a:extLst>
          </p:cNvPr>
          <p:cNvGraphicFramePr>
            <a:graphicFrameLocks noGrp="1"/>
          </p:cNvGraphicFramePr>
          <p:nvPr>
            <p:extLst>
              <p:ext uri="{D42A27DB-BD31-4B8C-83A1-F6EECF244321}">
                <p14:modId xmlns:p14="http://schemas.microsoft.com/office/powerpoint/2010/main" val="3759219027"/>
              </p:ext>
            </p:extLst>
          </p:nvPr>
        </p:nvGraphicFramePr>
        <p:xfrm>
          <a:off x="6763661" y="2478093"/>
          <a:ext cx="5428339" cy="2138379"/>
        </p:xfrm>
        <a:graphic>
          <a:graphicData uri="http://schemas.openxmlformats.org/drawingml/2006/table">
            <a:tbl>
              <a:tblPr>
                <a:tableStyleId>{775DCB02-9BB8-47FD-8907-85C794F793BA}</a:tableStyleId>
              </a:tblPr>
              <a:tblGrid>
                <a:gridCol w="1844003">
                  <a:extLst>
                    <a:ext uri="{9D8B030D-6E8A-4147-A177-3AD203B41FA5}">
                      <a16:colId xmlns:a16="http://schemas.microsoft.com/office/drawing/2014/main" val="867770789"/>
                    </a:ext>
                  </a:extLst>
                </a:gridCol>
                <a:gridCol w="3584336">
                  <a:extLst>
                    <a:ext uri="{9D8B030D-6E8A-4147-A177-3AD203B41FA5}">
                      <a16:colId xmlns:a16="http://schemas.microsoft.com/office/drawing/2014/main" val="3160821199"/>
                    </a:ext>
                  </a:extLst>
                </a:gridCol>
              </a:tblGrid>
              <a:tr h="464865">
                <a:tc>
                  <a:txBody>
                    <a:bodyPr/>
                    <a:lstStyle/>
                    <a:p>
                      <a:r>
                        <a:rPr lang="en-CA" sz="1200">
                          <a:latin typeface="Tahoma" panose="020B0604030504040204" pitchFamily="34" charset="0"/>
                          <a:ea typeface="Tahoma" panose="020B0604030504040204" pitchFamily="34" charset="0"/>
                          <a:cs typeface="Tahoma" panose="020B0604030504040204" pitchFamily="34" charset="0"/>
                        </a:rPr>
                        <a:t>Input (p_emp_id, p_bonus)</a:t>
                      </a:r>
                    </a:p>
                  </a:txBody>
                  <a:tcPr anchor="ctr"/>
                </a:tc>
                <a:tc>
                  <a:txBody>
                    <a:bodyPr/>
                    <a:lstStyle/>
                    <a:p>
                      <a:r>
                        <a:rPr lang="en-US" sz="1200">
                          <a:latin typeface="Tahoma" panose="020B0604030504040204" pitchFamily="34" charset="0"/>
                          <a:ea typeface="Tahoma" panose="020B0604030504040204" pitchFamily="34" charset="0"/>
                          <a:cs typeface="Tahoma" panose="020B0604030504040204" pitchFamily="34" charset="0"/>
                        </a:rPr>
                        <a:t>Expected Output</a:t>
                      </a:r>
                    </a:p>
                  </a:txBody>
                  <a:tcPr anchor="ctr"/>
                </a:tc>
                <a:extLst>
                  <a:ext uri="{0D108BD9-81ED-4DB2-BD59-A6C34878D82A}">
                    <a16:rowId xmlns:a16="http://schemas.microsoft.com/office/drawing/2014/main" val="3996554762"/>
                  </a:ext>
                </a:extLst>
              </a:tr>
              <a:tr h="278919">
                <a:tc>
                  <a:txBody>
                    <a:bodyPr/>
                    <a:lstStyle/>
                    <a:p>
                      <a:r>
                        <a:rPr lang="en-US" sz="1200" dirty="0">
                          <a:latin typeface="Tahoma" panose="020B0604030504040204" pitchFamily="34" charset="0"/>
                          <a:ea typeface="Tahoma" panose="020B0604030504040204" pitchFamily="34" charset="0"/>
                          <a:cs typeface="Tahoma" panose="020B0604030504040204" pitchFamily="34" charset="0"/>
                        </a:rPr>
                        <a:t>(101, 5000)</a:t>
                      </a: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Bonus updated successfully for Employee ID: 101</a:t>
                      </a:r>
                    </a:p>
                  </a:txBody>
                  <a:tcPr anchor="ctr"/>
                </a:tc>
                <a:extLst>
                  <a:ext uri="{0D108BD9-81ED-4DB2-BD59-A6C34878D82A}">
                    <a16:rowId xmlns:a16="http://schemas.microsoft.com/office/drawing/2014/main" val="3219400707"/>
                  </a:ext>
                </a:extLst>
              </a:tr>
              <a:tr h="464865">
                <a:tc>
                  <a:txBody>
                    <a:bodyPr/>
                    <a:lstStyle/>
                    <a:p>
                      <a:r>
                        <a:rPr lang="en-US" sz="1200">
                          <a:latin typeface="Tahoma" panose="020B0604030504040204" pitchFamily="34" charset="0"/>
                          <a:ea typeface="Tahoma" panose="020B0604030504040204" pitchFamily="34" charset="0"/>
                          <a:cs typeface="Tahoma" panose="020B0604030504040204" pitchFamily="34" charset="0"/>
                        </a:rPr>
                        <a:t>(999, 3000)</a:t>
                      </a: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Error: Employee ID 999 does not exist. (ROLLBACK)</a:t>
                      </a:r>
                    </a:p>
                  </a:txBody>
                  <a:tcPr anchor="ctr"/>
                </a:tc>
                <a:extLst>
                  <a:ext uri="{0D108BD9-81ED-4DB2-BD59-A6C34878D82A}">
                    <a16:rowId xmlns:a16="http://schemas.microsoft.com/office/drawing/2014/main" val="3860096466"/>
                  </a:ext>
                </a:extLst>
              </a:tr>
              <a:tr h="464865">
                <a:tc>
                  <a:txBody>
                    <a:bodyPr/>
                    <a:lstStyle/>
                    <a:p>
                      <a:r>
                        <a:rPr lang="en-US" sz="1200">
                          <a:latin typeface="Tahoma" panose="020B0604030504040204" pitchFamily="34" charset="0"/>
                          <a:ea typeface="Tahoma" panose="020B0604030504040204" pitchFamily="34" charset="0"/>
                          <a:cs typeface="Tahoma" panose="020B0604030504040204" pitchFamily="34" charset="0"/>
                        </a:rPr>
                        <a:t>(102, -2000)</a:t>
                      </a: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Error: Invalid bonus value. Must be a positive number. (ROLLBACK)</a:t>
                      </a:r>
                    </a:p>
                  </a:txBody>
                  <a:tcPr anchor="ctr"/>
                </a:tc>
                <a:extLst>
                  <a:ext uri="{0D108BD9-81ED-4DB2-BD59-A6C34878D82A}">
                    <a16:rowId xmlns:a16="http://schemas.microsoft.com/office/drawing/2014/main" val="3863647480"/>
                  </a:ext>
                </a:extLst>
              </a:tr>
              <a:tr h="464865">
                <a:tc>
                  <a:txBody>
                    <a:bodyPr/>
                    <a:lstStyle/>
                    <a:p>
                      <a:r>
                        <a:rPr lang="en-US" sz="1200" dirty="0">
                          <a:latin typeface="Tahoma" panose="020B0604030504040204" pitchFamily="34" charset="0"/>
                          <a:ea typeface="Tahoma" panose="020B0604030504040204" pitchFamily="34" charset="0"/>
                          <a:cs typeface="Tahoma" panose="020B0604030504040204" pitchFamily="34" charset="0"/>
                        </a:rPr>
                        <a:t>(103, 'ABC')</a:t>
                      </a:r>
                    </a:p>
                  </a:txBody>
                  <a:tcPr anchor="ctr"/>
                </a:tc>
                <a:tc>
                  <a:txBody>
                    <a:bodyPr/>
                    <a:lstStyle/>
                    <a:p>
                      <a:r>
                        <a:rPr lang="en-CA" sz="1200" dirty="0">
                          <a:latin typeface="Tahoma" panose="020B0604030504040204" pitchFamily="34" charset="0"/>
                          <a:ea typeface="Tahoma" panose="020B0604030504040204" pitchFamily="34" charset="0"/>
                          <a:cs typeface="Tahoma" panose="020B0604030504040204" pitchFamily="34" charset="0"/>
                        </a:rPr>
                        <a:t>Error: Invalid bonus value. Please enter a valid number. (ROLLBACK)</a:t>
                      </a:r>
                    </a:p>
                  </a:txBody>
                  <a:tcPr anchor="ctr"/>
                </a:tc>
                <a:extLst>
                  <a:ext uri="{0D108BD9-81ED-4DB2-BD59-A6C34878D82A}">
                    <a16:rowId xmlns:a16="http://schemas.microsoft.com/office/drawing/2014/main" val="2109494379"/>
                  </a:ext>
                </a:extLst>
              </a:tr>
            </a:tbl>
          </a:graphicData>
        </a:graphic>
      </p:graphicFrame>
      <p:sp>
        <p:nvSpPr>
          <p:cNvPr id="12" name="Rectangle 4">
            <a:extLst>
              <a:ext uri="{FF2B5EF4-FFF2-40B4-BE49-F238E27FC236}">
                <a16:creationId xmlns:a16="http://schemas.microsoft.com/office/drawing/2014/main" id="{A2B7EB09-BE1A-011E-EC25-C4DFD02563AD}"/>
              </a:ext>
            </a:extLst>
          </p:cNvPr>
          <p:cNvSpPr>
            <a:spLocks noChangeArrowheads="1"/>
          </p:cNvSpPr>
          <p:nvPr/>
        </p:nvSpPr>
        <p:spPr bwMode="auto">
          <a:xfrm>
            <a:off x="7206796" y="2181392"/>
            <a:ext cx="4861380"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 Sample Inputs &amp; Expected Outputs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35EE8624-60FB-52E0-0744-0436CFDBB04F}"/>
              </a:ext>
            </a:extLst>
          </p:cNvPr>
          <p:cNvSpPr>
            <a:spLocks noChangeArrowheads="1"/>
          </p:cNvSpPr>
          <p:nvPr/>
        </p:nvSpPr>
        <p:spPr bwMode="auto">
          <a:xfrm>
            <a:off x="232229" y="4670621"/>
            <a:ext cx="745353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Additional Question for Students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Why is it important 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ROLLBACK</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changes when an error occurs?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What happens if we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remove the ROLLBACK</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from the procedure?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How can we modify the procedure 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log errors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into a separate database table instead of just displaying messages?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54352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870B73-E0B3-207F-3EF6-709E32875C41}"/>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CE851392-0117-DBC8-CCA4-D5131BEC0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399FA190-0F19-F193-6EBE-FBC66CA2A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0F5B54C3-FC77-9BFA-0342-E0A398146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0073DD4E-21A5-5A35-3012-A351A544C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Freeform: Shape 125">
            <a:extLst>
              <a:ext uri="{FF2B5EF4-FFF2-40B4-BE49-F238E27FC236}">
                <a16:creationId xmlns:a16="http://schemas.microsoft.com/office/drawing/2014/main" id="{E8098B27-9091-649A-DF4A-1397A2646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itle 2">
            <a:extLst>
              <a:ext uri="{FF2B5EF4-FFF2-40B4-BE49-F238E27FC236}">
                <a16:creationId xmlns:a16="http://schemas.microsoft.com/office/drawing/2014/main" id="{9C8A50F9-45AF-8E72-45F1-3205722EA515}"/>
              </a:ext>
            </a:extLst>
          </p:cNvPr>
          <p:cNvSpPr>
            <a:spLocks noGrp="1"/>
          </p:cNvSpPr>
          <p:nvPr>
            <p:ph type="ctrTitle"/>
          </p:nvPr>
        </p:nvSpPr>
        <p:spPr>
          <a:xfrm>
            <a:off x="145144" y="2767106"/>
            <a:ext cx="3862330" cy="1398494"/>
          </a:xfrm>
        </p:spPr>
        <p:txBody>
          <a:bodyPr vert="horz" lIns="91440" tIns="45720" rIns="91440" bIns="45720" rtlCol="0" anchor="t">
            <a:normAutofit/>
          </a:bodyPr>
          <a:lstStyle/>
          <a:p>
            <a:pPr algn="l"/>
            <a:r>
              <a:rPr lang="en-CA" sz="28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Code Implementation</a:t>
            </a:r>
          </a:p>
        </p:txBody>
      </p:sp>
      <p:sp>
        <p:nvSpPr>
          <p:cNvPr id="5" name="Slide Number Placeholder 4">
            <a:extLst>
              <a:ext uri="{FF2B5EF4-FFF2-40B4-BE49-F238E27FC236}">
                <a16:creationId xmlns:a16="http://schemas.microsoft.com/office/drawing/2014/main" id="{4DF36404-7ADB-9153-D20D-A17B86A8173E}"/>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28</a:t>
            </a:fld>
            <a:endParaRPr lang="en-US" sz="1100" dirty="0">
              <a:solidFill>
                <a:schemeClr val="tx1">
                  <a:lumMod val="50000"/>
                  <a:lumOff val="50000"/>
                </a:schemeClr>
              </a:solidFill>
            </a:endParaRPr>
          </a:p>
        </p:txBody>
      </p:sp>
      <p:sp>
        <p:nvSpPr>
          <p:cNvPr id="4" name="TextBox 3">
            <a:extLst>
              <a:ext uri="{FF2B5EF4-FFF2-40B4-BE49-F238E27FC236}">
                <a16:creationId xmlns:a16="http://schemas.microsoft.com/office/drawing/2014/main" id="{AD522B9F-C93A-C290-51FE-F961DE125724}"/>
              </a:ext>
            </a:extLst>
          </p:cNvPr>
          <p:cNvSpPr txBox="1"/>
          <p:nvPr/>
        </p:nvSpPr>
        <p:spPr>
          <a:xfrm>
            <a:off x="4319533" y="93256"/>
            <a:ext cx="6096000" cy="667105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950" dirty="0">
                <a:latin typeface="Tahoma" panose="020B0604030504040204" pitchFamily="34" charset="0"/>
                <a:ea typeface="Tahoma" panose="020B0604030504040204" pitchFamily="34" charset="0"/>
                <a:cs typeface="Tahoma" panose="020B0604030504040204" pitchFamily="34" charset="0"/>
              </a:rPr>
              <a:t>CREATE OR REPLACE PROCEDURE </a:t>
            </a:r>
            <a:r>
              <a:rPr lang="en-US" sz="950" dirty="0" err="1">
                <a:latin typeface="Tahoma" panose="020B0604030504040204" pitchFamily="34" charset="0"/>
                <a:ea typeface="Tahoma" panose="020B0604030504040204" pitchFamily="34" charset="0"/>
                <a:cs typeface="Tahoma" panose="020B0604030504040204" pitchFamily="34" charset="0"/>
              </a:rPr>
              <a:t>update_employee_bonus</a:t>
            </a:r>
            <a:r>
              <a:rPr lang="en-US" sz="950" dirty="0">
                <a:latin typeface="Tahoma" panose="020B0604030504040204" pitchFamily="34" charset="0"/>
                <a:ea typeface="Tahoma" panose="020B0604030504040204" pitchFamily="34" charset="0"/>
                <a:cs typeface="Tahoma" panose="020B0604030504040204" pitchFamily="34" charset="0"/>
              </a:rPr>
              <a:t> (</a:t>
            </a:r>
          </a:p>
          <a:p>
            <a:r>
              <a:rPr lang="en-US" sz="950" dirty="0">
                <a:latin typeface="Tahoma" panose="020B0604030504040204" pitchFamily="34" charset="0"/>
                <a:ea typeface="Tahoma" panose="020B0604030504040204" pitchFamily="34" charset="0"/>
                <a:cs typeface="Tahoma" panose="020B0604030504040204" pitchFamily="34" charset="0"/>
              </a:rPr>
              <a:t>    </a:t>
            </a:r>
            <a:r>
              <a:rPr lang="en-US" sz="950" dirty="0" err="1">
                <a:latin typeface="Tahoma" panose="020B0604030504040204" pitchFamily="34" charset="0"/>
                <a:ea typeface="Tahoma" panose="020B0604030504040204" pitchFamily="34" charset="0"/>
                <a:cs typeface="Tahoma" panose="020B0604030504040204" pitchFamily="34" charset="0"/>
              </a:rPr>
              <a:t>p_emp_id</a:t>
            </a:r>
            <a:r>
              <a:rPr lang="en-US" sz="950" dirty="0">
                <a:latin typeface="Tahoma" panose="020B0604030504040204" pitchFamily="34" charset="0"/>
                <a:ea typeface="Tahoma" panose="020B0604030504040204" pitchFamily="34" charset="0"/>
                <a:cs typeface="Tahoma" panose="020B0604030504040204" pitchFamily="34" charset="0"/>
              </a:rPr>
              <a:t> IN NUMBER,</a:t>
            </a:r>
          </a:p>
          <a:p>
            <a:r>
              <a:rPr lang="en-US" sz="950" dirty="0">
                <a:latin typeface="Tahoma" panose="020B0604030504040204" pitchFamily="34" charset="0"/>
                <a:ea typeface="Tahoma" panose="020B0604030504040204" pitchFamily="34" charset="0"/>
                <a:cs typeface="Tahoma" panose="020B0604030504040204" pitchFamily="34" charset="0"/>
              </a:rPr>
              <a:t>    </a:t>
            </a:r>
            <a:r>
              <a:rPr lang="en-US" sz="950" dirty="0" err="1">
                <a:latin typeface="Tahoma" panose="020B0604030504040204" pitchFamily="34" charset="0"/>
                <a:ea typeface="Tahoma" panose="020B0604030504040204" pitchFamily="34" charset="0"/>
                <a:cs typeface="Tahoma" panose="020B0604030504040204" pitchFamily="34" charset="0"/>
              </a:rPr>
              <a:t>p_bonus</a:t>
            </a:r>
            <a:r>
              <a:rPr lang="en-US" sz="950" dirty="0">
                <a:latin typeface="Tahoma" panose="020B0604030504040204" pitchFamily="34" charset="0"/>
                <a:ea typeface="Tahoma" panose="020B0604030504040204" pitchFamily="34" charset="0"/>
                <a:cs typeface="Tahoma" panose="020B0604030504040204" pitchFamily="34" charset="0"/>
              </a:rPr>
              <a:t> IN NUMBER</a:t>
            </a:r>
          </a:p>
          <a:p>
            <a:r>
              <a:rPr lang="en-US" sz="950" dirty="0">
                <a:latin typeface="Tahoma" panose="020B0604030504040204" pitchFamily="34" charset="0"/>
                <a:ea typeface="Tahoma" panose="020B0604030504040204" pitchFamily="34" charset="0"/>
                <a:cs typeface="Tahoma" panose="020B0604030504040204" pitchFamily="34" charset="0"/>
              </a:rPr>
              <a:t>)</a:t>
            </a:r>
          </a:p>
          <a:p>
            <a:r>
              <a:rPr lang="en-US" sz="950" dirty="0">
                <a:latin typeface="Tahoma" panose="020B0604030504040204" pitchFamily="34" charset="0"/>
                <a:ea typeface="Tahoma" panose="020B0604030504040204" pitchFamily="34" charset="0"/>
                <a:cs typeface="Tahoma" panose="020B0604030504040204" pitchFamily="34" charset="0"/>
              </a:rPr>
              <a:t>AS</a:t>
            </a:r>
          </a:p>
          <a:p>
            <a:r>
              <a:rPr lang="en-US" sz="950" dirty="0">
                <a:latin typeface="Tahoma" panose="020B0604030504040204" pitchFamily="34" charset="0"/>
                <a:ea typeface="Tahoma" panose="020B0604030504040204" pitchFamily="34" charset="0"/>
                <a:cs typeface="Tahoma" panose="020B0604030504040204" pitchFamily="34" charset="0"/>
              </a:rPr>
              <a:t>    </a:t>
            </a:r>
            <a:r>
              <a:rPr lang="en-US" sz="950" dirty="0" err="1">
                <a:latin typeface="Tahoma" panose="020B0604030504040204" pitchFamily="34" charset="0"/>
                <a:ea typeface="Tahoma" panose="020B0604030504040204" pitchFamily="34" charset="0"/>
                <a:cs typeface="Tahoma" panose="020B0604030504040204" pitchFamily="34" charset="0"/>
              </a:rPr>
              <a:t>v_count</a:t>
            </a:r>
            <a:r>
              <a:rPr lang="en-US" sz="950" dirty="0">
                <a:latin typeface="Tahoma" panose="020B0604030504040204" pitchFamily="34" charset="0"/>
                <a:ea typeface="Tahoma" panose="020B0604030504040204" pitchFamily="34" charset="0"/>
                <a:cs typeface="Tahoma" panose="020B0604030504040204" pitchFamily="34" charset="0"/>
              </a:rPr>
              <a:t> NUMBER;</a:t>
            </a:r>
          </a:p>
          <a:p>
            <a:r>
              <a:rPr lang="en-US" sz="950" dirty="0">
                <a:latin typeface="Tahoma" panose="020B0604030504040204" pitchFamily="34" charset="0"/>
                <a:ea typeface="Tahoma" panose="020B0604030504040204" pitchFamily="34" charset="0"/>
                <a:cs typeface="Tahoma" panose="020B0604030504040204" pitchFamily="34" charset="0"/>
              </a:rPr>
              <a:t>BEGIN</a:t>
            </a: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Check if employee exists</a:t>
            </a:r>
          </a:p>
          <a:p>
            <a:r>
              <a:rPr lang="en-US" sz="950" dirty="0">
                <a:latin typeface="Tahoma" panose="020B0604030504040204" pitchFamily="34" charset="0"/>
                <a:ea typeface="Tahoma" panose="020B0604030504040204" pitchFamily="34" charset="0"/>
                <a:cs typeface="Tahoma" panose="020B0604030504040204" pitchFamily="34" charset="0"/>
              </a:rPr>
              <a:t>    SELECT COUNT(*) INTO </a:t>
            </a:r>
            <a:r>
              <a:rPr lang="en-US" sz="950" dirty="0" err="1">
                <a:latin typeface="Tahoma" panose="020B0604030504040204" pitchFamily="34" charset="0"/>
                <a:ea typeface="Tahoma" panose="020B0604030504040204" pitchFamily="34" charset="0"/>
                <a:cs typeface="Tahoma" panose="020B0604030504040204" pitchFamily="34" charset="0"/>
              </a:rPr>
              <a:t>v_count</a:t>
            </a:r>
            <a:r>
              <a:rPr lang="en-US" sz="950" dirty="0">
                <a:latin typeface="Tahoma" panose="020B0604030504040204" pitchFamily="34" charset="0"/>
                <a:ea typeface="Tahoma" panose="020B0604030504040204" pitchFamily="34" charset="0"/>
                <a:cs typeface="Tahoma" panose="020B0604030504040204" pitchFamily="34" charset="0"/>
              </a:rPr>
              <a:t> FROM employees WHERE </a:t>
            </a:r>
            <a:r>
              <a:rPr lang="en-US" sz="950" dirty="0" err="1">
                <a:latin typeface="Tahoma" panose="020B0604030504040204" pitchFamily="34" charset="0"/>
                <a:ea typeface="Tahoma" panose="020B0604030504040204" pitchFamily="34" charset="0"/>
                <a:cs typeface="Tahoma" panose="020B0604030504040204" pitchFamily="34" charset="0"/>
              </a:rPr>
              <a:t>employee_id</a:t>
            </a:r>
            <a:r>
              <a:rPr lang="en-US" sz="950" dirty="0">
                <a:latin typeface="Tahoma" panose="020B0604030504040204" pitchFamily="34" charset="0"/>
                <a:ea typeface="Tahoma" panose="020B0604030504040204" pitchFamily="34" charset="0"/>
                <a:cs typeface="Tahoma" panose="020B0604030504040204" pitchFamily="34" charset="0"/>
              </a:rPr>
              <a:t> = </a:t>
            </a:r>
            <a:r>
              <a:rPr lang="en-US" sz="950" dirty="0" err="1">
                <a:latin typeface="Tahoma" panose="020B0604030504040204" pitchFamily="34" charset="0"/>
                <a:ea typeface="Tahoma" panose="020B0604030504040204" pitchFamily="34" charset="0"/>
                <a:cs typeface="Tahoma" panose="020B0604030504040204" pitchFamily="34" charset="0"/>
              </a:rPr>
              <a:t>p_emp_id</a:t>
            </a:r>
            <a:r>
              <a:rPr lang="en-US" sz="950" dirty="0">
                <a:latin typeface="Tahoma" panose="020B0604030504040204" pitchFamily="34" charset="0"/>
                <a:ea typeface="Tahoma" panose="020B0604030504040204" pitchFamily="34" charset="0"/>
                <a:cs typeface="Tahoma" panose="020B0604030504040204" pitchFamily="34" charset="0"/>
              </a:rPr>
              <a:t>;</a:t>
            </a:r>
          </a:p>
          <a:p>
            <a:r>
              <a:rPr lang="en-US" sz="950" dirty="0">
                <a:latin typeface="Tahoma" panose="020B0604030504040204" pitchFamily="34" charset="0"/>
                <a:ea typeface="Tahoma" panose="020B0604030504040204" pitchFamily="34" charset="0"/>
                <a:cs typeface="Tahoma" panose="020B0604030504040204" pitchFamily="34" charset="0"/>
              </a:rPr>
              <a:t>    </a:t>
            </a:r>
          </a:p>
          <a:p>
            <a:r>
              <a:rPr lang="en-US" sz="950" dirty="0">
                <a:latin typeface="Tahoma" panose="020B0604030504040204" pitchFamily="34" charset="0"/>
                <a:ea typeface="Tahoma" panose="020B0604030504040204" pitchFamily="34" charset="0"/>
                <a:cs typeface="Tahoma" panose="020B0604030504040204" pitchFamily="34" charset="0"/>
              </a:rPr>
              <a:t>    IF </a:t>
            </a:r>
            <a:r>
              <a:rPr lang="en-US" sz="950" dirty="0" err="1">
                <a:latin typeface="Tahoma" panose="020B0604030504040204" pitchFamily="34" charset="0"/>
                <a:ea typeface="Tahoma" panose="020B0604030504040204" pitchFamily="34" charset="0"/>
                <a:cs typeface="Tahoma" panose="020B0604030504040204" pitchFamily="34" charset="0"/>
              </a:rPr>
              <a:t>v_count</a:t>
            </a:r>
            <a:r>
              <a:rPr lang="en-US" sz="950" dirty="0">
                <a:latin typeface="Tahoma" panose="020B0604030504040204" pitchFamily="34" charset="0"/>
                <a:ea typeface="Tahoma" panose="020B0604030504040204" pitchFamily="34" charset="0"/>
                <a:cs typeface="Tahoma" panose="020B0604030504040204" pitchFamily="34" charset="0"/>
              </a:rPr>
              <a:t> = 0 THEN</a:t>
            </a:r>
          </a:p>
          <a:p>
            <a:r>
              <a:rPr lang="en-US" sz="950" dirty="0">
                <a:latin typeface="Tahoma" panose="020B0604030504040204" pitchFamily="34" charset="0"/>
                <a:ea typeface="Tahoma" panose="020B0604030504040204" pitchFamily="34" charset="0"/>
                <a:cs typeface="Tahoma" panose="020B0604030504040204" pitchFamily="34" charset="0"/>
              </a:rPr>
              <a:t>        RAISE_APPLICATION_ERROR(-20002, 'Error: Employee ID ' || </a:t>
            </a:r>
            <a:r>
              <a:rPr lang="en-US" sz="950" dirty="0" err="1">
                <a:latin typeface="Tahoma" panose="020B0604030504040204" pitchFamily="34" charset="0"/>
                <a:ea typeface="Tahoma" panose="020B0604030504040204" pitchFamily="34" charset="0"/>
                <a:cs typeface="Tahoma" panose="020B0604030504040204" pitchFamily="34" charset="0"/>
              </a:rPr>
              <a:t>p_emp_id</a:t>
            </a:r>
            <a:r>
              <a:rPr lang="en-US" sz="950" dirty="0">
                <a:latin typeface="Tahoma" panose="020B0604030504040204" pitchFamily="34" charset="0"/>
                <a:ea typeface="Tahoma" panose="020B0604030504040204" pitchFamily="34" charset="0"/>
                <a:cs typeface="Tahoma" panose="020B0604030504040204" pitchFamily="34" charset="0"/>
              </a:rPr>
              <a:t> || ' does not exist.');</a:t>
            </a:r>
          </a:p>
          <a:p>
            <a:r>
              <a:rPr lang="en-US" sz="950" dirty="0">
                <a:latin typeface="Tahoma" panose="020B0604030504040204" pitchFamily="34" charset="0"/>
                <a:ea typeface="Tahoma" panose="020B0604030504040204" pitchFamily="34" charset="0"/>
                <a:cs typeface="Tahoma" panose="020B0604030504040204" pitchFamily="34" charset="0"/>
              </a:rPr>
              <a:t>    END IF;</a:t>
            </a:r>
          </a:p>
          <a:p>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Update the employee's bonus</a:t>
            </a:r>
          </a:p>
          <a:p>
            <a:r>
              <a:rPr lang="en-US" sz="950" dirty="0">
                <a:latin typeface="Tahoma" panose="020B0604030504040204" pitchFamily="34" charset="0"/>
                <a:ea typeface="Tahoma" panose="020B0604030504040204" pitchFamily="34" charset="0"/>
                <a:cs typeface="Tahoma" panose="020B0604030504040204" pitchFamily="34" charset="0"/>
              </a:rPr>
              <a:t>    UPDATE employees</a:t>
            </a:r>
          </a:p>
          <a:p>
            <a:r>
              <a:rPr lang="en-US" sz="950" dirty="0">
                <a:latin typeface="Tahoma" panose="020B0604030504040204" pitchFamily="34" charset="0"/>
                <a:ea typeface="Tahoma" panose="020B0604030504040204" pitchFamily="34" charset="0"/>
                <a:cs typeface="Tahoma" panose="020B0604030504040204" pitchFamily="34" charset="0"/>
              </a:rPr>
              <a:t>    SET bonus = </a:t>
            </a:r>
            <a:r>
              <a:rPr lang="en-US" sz="950" dirty="0" err="1">
                <a:latin typeface="Tahoma" panose="020B0604030504040204" pitchFamily="34" charset="0"/>
                <a:ea typeface="Tahoma" panose="020B0604030504040204" pitchFamily="34" charset="0"/>
                <a:cs typeface="Tahoma" panose="020B0604030504040204" pitchFamily="34" charset="0"/>
              </a:rPr>
              <a:t>p_bonus</a:t>
            </a:r>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dirty="0">
                <a:latin typeface="Tahoma" panose="020B0604030504040204" pitchFamily="34" charset="0"/>
                <a:ea typeface="Tahoma" panose="020B0604030504040204" pitchFamily="34" charset="0"/>
                <a:cs typeface="Tahoma" panose="020B0604030504040204" pitchFamily="34" charset="0"/>
              </a:rPr>
              <a:t>    WHERE </a:t>
            </a:r>
            <a:r>
              <a:rPr lang="en-US" sz="950" dirty="0" err="1">
                <a:latin typeface="Tahoma" panose="020B0604030504040204" pitchFamily="34" charset="0"/>
                <a:ea typeface="Tahoma" panose="020B0604030504040204" pitchFamily="34" charset="0"/>
                <a:cs typeface="Tahoma" panose="020B0604030504040204" pitchFamily="34" charset="0"/>
              </a:rPr>
              <a:t>employee_id</a:t>
            </a:r>
            <a:r>
              <a:rPr lang="en-US" sz="950" dirty="0">
                <a:latin typeface="Tahoma" panose="020B0604030504040204" pitchFamily="34" charset="0"/>
                <a:ea typeface="Tahoma" panose="020B0604030504040204" pitchFamily="34" charset="0"/>
                <a:cs typeface="Tahoma" panose="020B0604030504040204" pitchFamily="34" charset="0"/>
              </a:rPr>
              <a:t> = </a:t>
            </a:r>
            <a:r>
              <a:rPr lang="en-US" sz="950" dirty="0" err="1">
                <a:latin typeface="Tahoma" panose="020B0604030504040204" pitchFamily="34" charset="0"/>
                <a:ea typeface="Tahoma" panose="020B0604030504040204" pitchFamily="34" charset="0"/>
                <a:cs typeface="Tahoma" panose="020B0604030504040204" pitchFamily="34" charset="0"/>
              </a:rPr>
              <a:t>p_emp_id</a:t>
            </a:r>
            <a:r>
              <a:rPr lang="en-US" sz="950" dirty="0">
                <a:latin typeface="Tahoma" panose="020B0604030504040204" pitchFamily="34" charset="0"/>
                <a:ea typeface="Tahoma" panose="020B0604030504040204" pitchFamily="34" charset="0"/>
                <a:cs typeface="Tahoma" panose="020B0604030504040204" pitchFamily="34" charset="0"/>
              </a:rPr>
              <a:t>;</a:t>
            </a:r>
          </a:p>
          <a:p>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Commit if successful</a:t>
            </a:r>
          </a:p>
          <a:p>
            <a:r>
              <a:rPr lang="en-US" sz="950" dirty="0">
                <a:latin typeface="Tahoma" panose="020B0604030504040204" pitchFamily="34" charset="0"/>
                <a:ea typeface="Tahoma" panose="020B0604030504040204" pitchFamily="34" charset="0"/>
                <a:cs typeface="Tahoma" panose="020B0604030504040204" pitchFamily="34" charset="0"/>
              </a:rPr>
              <a:t>    COMMIT;</a:t>
            </a:r>
          </a:p>
          <a:p>
            <a:r>
              <a:rPr lang="en-US" sz="950" dirty="0">
                <a:latin typeface="Tahoma" panose="020B0604030504040204" pitchFamily="34" charset="0"/>
                <a:ea typeface="Tahoma" panose="020B0604030504040204" pitchFamily="34" charset="0"/>
                <a:cs typeface="Tahoma" panose="020B0604030504040204" pitchFamily="34" charset="0"/>
              </a:rPr>
              <a:t>    DBMS_OUTPUT.PUT_LINE('Bonus updated successfully for Employee ID: ' || </a:t>
            </a:r>
            <a:r>
              <a:rPr lang="en-US" sz="950" dirty="0" err="1">
                <a:latin typeface="Tahoma" panose="020B0604030504040204" pitchFamily="34" charset="0"/>
                <a:ea typeface="Tahoma" panose="020B0604030504040204" pitchFamily="34" charset="0"/>
                <a:cs typeface="Tahoma" panose="020B0604030504040204" pitchFamily="34" charset="0"/>
              </a:rPr>
              <a:t>p_emp_id</a:t>
            </a:r>
            <a:r>
              <a:rPr lang="en-US" sz="950" dirty="0">
                <a:latin typeface="Tahoma" panose="020B0604030504040204" pitchFamily="34" charset="0"/>
                <a:ea typeface="Tahoma" panose="020B0604030504040204" pitchFamily="34" charset="0"/>
                <a:cs typeface="Tahoma" panose="020B0604030504040204" pitchFamily="34" charset="0"/>
              </a:rPr>
              <a:t>);</a:t>
            </a:r>
          </a:p>
          <a:p>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dirty="0">
                <a:latin typeface="Tahoma" panose="020B0604030504040204" pitchFamily="34" charset="0"/>
                <a:ea typeface="Tahoma" panose="020B0604030504040204" pitchFamily="34" charset="0"/>
                <a:cs typeface="Tahoma" panose="020B0604030504040204" pitchFamily="34" charset="0"/>
              </a:rPr>
              <a:t>EXCEPTION</a:t>
            </a:r>
          </a:p>
          <a:p>
            <a:r>
              <a:rPr lang="en-US" sz="950" dirty="0">
                <a:latin typeface="Tahoma" panose="020B0604030504040204" pitchFamily="34" charset="0"/>
                <a:ea typeface="Tahoma" panose="020B0604030504040204" pitchFamily="34" charset="0"/>
                <a:cs typeface="Tahoma" panose="020B0604030504040204" pitchFamily="34" charset="0"/>
              </a:rPr>
              <a:t>    WHEN NO_DATA_FOUND THEN</a:t>
            </a: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Employee ID not found</a:t>
            </a:r>
          </a:p>
          <a:p>
            <a:r>
              <a:rPr lang="en-US" sz="950" dirty="0">
                <a:latin typeface="Tahoma" panose="020B0604030504040204" pitchFamily="34" charset="0"/>
                <a:ea typeface="Tahoma" panose="020B0604030504040204" pitchFamily="34" charset="0"/>
                <a:cs typeface="Tahoma" panose="020B0604030504040204" pitchFamily="34" charset="0"/>
              </a:rPr>
              <a:t>        ROLLBACK;</a:t>
            </a:r>
          </a:p>
          <a:p>
            <a:r>
              <a:rPr lang="en-US" sz="950" dirty="0">
                <a:latin typeface="Tahoma" panose="020B0604030504040204" pitchFamily="34" charset="0"/>
                <a:ea typeface="Tahoma" panose="020B0604030504040204" pitchFamily="34" charset="0"/>
                <a:cs typeface="Tahoma" panose="020B0604030504040204" pitchFamily="34" charset="0"/>
              </a:rPr>
              <a:t>        DBMS_OUTPUT.PUT_LINE('Error: Employee ID ' || </a:t>
            </a:r>
            <a:r>
              <a:rPr lang="en-US" sz="950" dirty="0" err="1">
                <a:latin typeface="Tahoma" panose="020B0604030504040204" pitchFamily="34" charset="0"/>
                <a:ea typeface="Tahoma" panose="020B0604030504040204" pitchFamily="34" charset="0"/>
                <a:cs typeface="Tahoma" panose="020B0604030504040204" pitchFamily="34" charset="0"/>
              </a:rPr>
              <a:t>p_emp_id</a:t>
            </a:r>
            <a:r>
              <a:rPr lang="en-US" sz="950" dirty="0">
                <a:latin typeface="Tahoma" panose="020B0604030504040204" pitchFamily="34" charset="0"/>
                <a:ea typeface="Tahoma" panose="020B0604030504040204" pitchFamily="34" charset="0"/>
                <a:cs typeface="Tahoma" panose="020B0604030504040204" pitchFamily="34" charset="0"/>
              </a:rPr>
              <a:t> || ' not found.');</a:t>
            </a:r>
          </a:p>
          <a:p>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dirty="0">
                <a:latin typeface="Tahoma" panose="020B0604030504040204" pitchFamily="34" charset="0"/>
                <a:ea typeface="Tahoma" panose="020B0604030504040204" pitchFamily="34" charset="0"/>
                <a:cs typeface="Tahoma" panose="020B0604030504040204" pitchFamily="34" charset="0"/>
              </a:rPr>
              <a:t>    WHEN VALUE_ERROR THEN</a:t>
            </a: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Handles invalid number format</a:t>
            </a:r>
          </a:p>
          <a:p>
            <a:r>
              <a:rPr lang="en-US" sz="950" dirty="0">
                <a:latin typeface="Tahoma" panose="020B0604030504040204" pitchFamily="34" charset="0"/>
                <a:ea typeface="Tahoma" panose="020B0604030504040204" pitchFamily="34" charset="0"/>
                <a:cs typeface="Tahoma" panose="020B0604030504040204" pitchFamily="34" charset="0"/>
              </a:rPr>
              <a:t>        ROLLBACK;</a:t>
            </a:r>
          </a:p>
          <a:p>
            <a:r>
              <a:rPr lang="en-US" sz="950" dirty="0">
                <a:latin typeface="Tahoma" panose="020B0604030504040204" pitchFamily="34" charset="0"/>
                <a:ea typeface="Tahoma" panose="020B0604030504040204" pitchFamily="34" charset="0"/>
                <a:cs typeface="Tahoma" panose="020B0604030504040204" pitchFamily="34" charset="0"/>
              </a:rPr>
              <a:t>        DBMS_OUTPUT.PUT_LINE('Error: Invalid bonus value. Please enter a valid number.');</a:t>
            </a:r>
          </a:p>
          <a:p>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dirty="0">
                <a:latin typeface="Tahoma" panose="020B0604030504040204" pitchFamily="34" charset="0"/>
                <a:ea typeface="Tahoma" panose="020B0604030504040204" pitchFamily="34" charset="0"/>
                <a:cs typeface="Tahoma" panose="020B0604030504040204" pitchFamily="34" charset="0"/>
              </a:rPr>
              <a:t>    WHEN DUP_VAL_ON_INDEX THEN</a:t>
            </a: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Handles duplicate constraint violations</a:t>
            </a:r>
          </a:p>
          <a:p>
            <a:r>
              <a:rPr lang="en-US" sz="950" dirty="0">
                <a:latin typeface="Tahoma" panose="020B0604030504040204" pitchFamily="34" charset="0"/>
                <a:ea typeface="Tahoma" panose="020B0604030504040204" pitchFamily="34" charset="0"/>
                <a:cs typeface="Tahoma" panose="020B0604030504040204" pitchFamily="34" charset="0"/>
              </a:rPr>
              <a:t>        ROLLBACK;</a:t>
            </a:r>
          </a:p>
          <a:p>
            <a:r>
              <a:rPr lang="en-US" sz="950" dirty="0">
                <a:latin typeface="Tahoma" panose="020B0604030504040204" pitchFamily="34" charset="0"/>
                <a:ea typeface="Tahoma" panose="020B0604030504040204" pitchFamily="34" charset="0"/>
                <a:cs typeface="Tahoma" panose="020B0604030504040204" pitchFamily="34" charset="0"/>
              </a:rPr>
              <a:t>        DBMS_OUTPUT.PUT_LINE('Error: Duplicate value found for a unique column.');</a:t>
            </a:r>
          </a:p>
          <a:p>
            <a:endParaRPr lang="en-US" sz="950" dirty="0">
              <a:latin typeface="Tahoma" panose="020B0604030504040204" pitchFamily="34" charset="0"/>
              <a:ea typeface="Tahoma" panose="020B0604030504040204" pitchFamily="34" charset="0"/>
              <a:cs typeface="Tahoma" panose="020B0604030504040204" pitchFamily="34" charset="0"/>
            </a:endParaRPr>
          </a:p>
          <a:p>
            <a:r>
              <a:rPr lang="en-US" sz="950" dirty="0">
                <a:latin typeface="Tahoma" panose="020B0604030504040204" pitchFamily="34" charset="0"/>
                <a:ea typeface="Tahoma" panose="020B0604030504040204" pitchFamily="34" charset="0"/>
                <a:cs typeface="Tahoma" panose="020B0604030504040204" pitchFamily="34" charset="0"/>
              </a:rPr>
              <a:t>    WHEN OTHERS THEN</a:t>
            </a:r>
          </a:p>
          <a:p>
            <a:r>
              <a:rPr lang="en-US" sz="950" i="1" dirty="0">
                <a:highlight>
                  <a:srgbClr val="C0C0C0"/>
                </a:highlight>
                <a:latin typeface="Tahoma" panose="020B0604030504040204" pitchFamily="34" charset="0"/>
                <a:ea typeface="Tahoma" panose="020B0604030504040204" pitchFamily="34" charset="0"/>
                <a:cs typeface="Tahoma" panose="020B0604030504040204" pitchFamily="34" charset="0"/>
              </a:rPr>
              <a:t>        -- Handles all unexpected errors</a:t>
            </a:r>
          </a:p>
          <a:p>
            <a:r>
              <a:rPr lang="en-US" sz="950" dirty="0">
                <a:latin typeface="Tahoma" panose="020B0604030504040204" pitchFamily="34" charset="0"/>
                <a:ea typeface="Tahoma" panose="020B0604030504040204" pitchFamily="34" charset="0"/>
                <a:cs typeface="Tahoma" panose="020B0604030504040204" pitchFamily="34" charset="0"/>
              </a:rPr>
              <a:t>        ROLLBACK;</a:t>
            </a:r>
          </a:p>
          <a:p>
            <a:r>
              <a:rPr lang="en-US" sz="950" dirty="0">
                <a:latin typeface="Tahoma" panose="020B0604030504040204" pitchFamily="34" charset="0"/>
                <a:ea typeface="Tahoma" panose="020B0604030504040204" pitchFamily="34" charset="0"/>
                <a:cs typeface="Tahoma" panose="020B0604030504040204" pitchFamily="34" charset="0"/>
              </a:rPr>
              <a:t>        DBMS_OUTPUT.PUT_LINE('Unexpected Error: ' || SQLERRM);</a:t>
            </a:r>
          </a:p>
          <a:p>
            <a:r>
              <a:rPr lang="en-US" sz="950" dirty="0">
                <a:latin typeface="Tahoma" panose="020B0604030504040204" pitchFamily="34" charset="0"/>
                <a:ea typeface="Tahoma" panose="020B0604030504040204" pitchFamily="34" charset="0"/>
                <a:cs typeface="Tahoma" panose="020B0604030504040204" pitchFamily="34" charset="0"/>
              </a:rPr>
              <a:t>END;</a:t>
            </a:r>
          </a:p>
          <a:p>
            <a:r>
              <a:rPr lang="en-US" sz="950" dirty="0">
                <a:latin typeface="Tahoma" panose="020B0604030504040204" pitchFamily="34" charset="0"/>
                <a:ea typeface="Tahoma" panose="020B0604030504040204" pitchFamily="34" charset="0"/>
                <a:cs typeface="Tahoma" panose="020B0604030504040204" pitchFamily="34" charset="0"/>
              </a:rPr>
              <a:t>/</a:t>
            </a:r>
          </a:p>
        </p:txBody>
      </p:sp>
      <p:sp>
        <p:nvSpPr>
          <p:cNvPr id="9" name="TextBox 8">
            <a:extLst>
              <a:ext uri="{FF2B5EF4-FFF2-40B4-BE49-F238E27FC236}">
                <a16:creationId xmlns:a16="http://schemas.microsoft.com/office/drawing/2014/main" id="{6C217E0C-091A-A4BE-56CB-9835B31AFB35}"/>
              </a:ext>
            </a:extLst>
          </p:cNvPr>
          <p:cNvSpPr txBox="1"/>
          <p:nvPr/>
        </p:nvSpPr>
        <p:spPr>
          <a:xfrm>
            <a:off x="8814090" y="5963392"/>
            <a:ext cx="3338286" cy="830997"/>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BEGIN</a:t>
            </a:r>
          </a:p>
          <a:p>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update_employee_bonus</a:t>
            </a:r>
            <a:r>
              <a:rPr lang="en-US" sz="1200" dirty="0">
                <a:latin typeface="Tahoma" panose="020B0604030504040204" pitchFamily="34" charset="0"/>
                <a:ea typeface="Tahoma" panose="020B0604030504040204" pitchFamily="34" charset="0"/>
                <a:cs typeface="Tahoma" panose="020B0604030504040204" pitchFamily="34" charset="0"/>
              </a:rPr>
              <a:t>(101, 5000);</a:t>
            </a:r>
          </a:p>
          <a:p>
            <a:r>
              <a:rPr lang="en-US" sz="1200" dirty="0">
                <a:latin typeface="Tahoma" panose="020B0604030504040204" pitchFamily="34" charset="0"/>
                <a:ea typeface="Tahoma" panose="020B0604030504040204" pitchFamily="34" charset="0"/>
                <a:cs typeface="Tahoma" panose="020B0604030504040204" pitchFamily="34" charset="0"/>
              </a:rPr>
              <a:t>END;</a:t>
            </a:r>
          </a:p>
          <a:p>
            <a:r>
              <a:rPr lang="en-US" sz="1200" dirty="0">
                <a:latin typeface="Tahoma" panose="020B0604030504040204" pitchFamily="34" charset="0"/>
                <a:ea typeface="Tahoma" panose="020B0604030504040204" pitchFamily="34" charset="0"/>
                <a:cs typeface="Tahoma" panose="020B0604030504040204" pitchFamily="34" charset="0"/>
              </a:rPr>
              <a:t>/</a:t>
            </a:r>
          </a:p>
        </p:txBody>
      </p:sp>
      <p:sp>
        <p:nvSpPr>
          <p:cNvPr id="11" name="TextBox 10">
            <a:extLst>
              <a:ext uri="{FF2B5EF4-FFF2-40B4-BE49-F238E27FC236}">
                <a16:creationId xmlns:a16="http://schemas.microsoft.com/office/drawing/2014/main" id="{846B31AC-3214-25D0-B18B-67DDE95A5828}"/>
              </a:ext>
            </a:extLst>
          </p:cNvPr>
          <p:cNvSpPr txBox="1"/>
          <p:nvPr/>
        </p:nvSpPr>
        <p:spPr>
          <a:xfrm>
            <a:off x="10072915" y="5686393"/>
            <a:ext cx="1885994" cy="276999"/>
          </a:xfrm>
          <a:prstGeom prst="rect">
            <a:avLst/>
          </a:prstGeom>
          <a:noFill/>
        </p:spPr>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Example Execution</a:t>
            </a:r>
          </a:p>
        </p:txBody>
      </p:sp>
    </p:spTree>
    <p:extLst>
      <p:ext uri="{BB962C8B-B14F-4D97-AF65-F5344CB8AC3E}">
        <p14:creationId xmlns:p14="http://schemas.microsoft.com/office/powerpoint/2010/main" val="1422855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72AD03-B4F3-18B2-F708-19FA447A67F6}"/>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0B06CB73-55A2-FB61-2964-C39A3DF59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18ECCAC6-F529-FCA3-B707-72F40C4F8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D866EA08-6F4E-F54B-E406-847AB508E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BBC45264-28DB-3B05-6970-DD88A954C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2701E1B5-213A-82DB-C1F4-55342AA7E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8511136C-BB0C-F725-9267-7BD3E1189EAC}"/>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Stored Procedure in Oracle – Real Example</a:t>
            </a:r>
          </a:p>
        </p:txBody>
      </p:sp>
      <p:sp>
        <p:nvSpPr>
          <p:cNvPr id="5" name="Slide Number Placeholder 4">
            <a:extLst>
              <a:ext uri="{FF2B5EF4-FFF2-40B4-BE49-F238E27FC236}">
                <a16:creationId xmlns:a16="http://schemas.microsoft.com/office/drawing/2014/main" id="{B13DD566-8A5B-166B-CC10-9AD81A01DD4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29</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44301B92-16D3-8326-2DF8-129D35D5E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6" name="TextBox 5">
            <a:extLst>
              <a:ext uri="{FF2B5EF4-FFF2-40B4-BE49-F238E27FC236}">
                <a16:creationId xmlns:a16="http://schemas.microsoft.com/office/drawing/2014/main" id="{A1D600F2-9DC3-D5D1-2A32-27897E3D7F26}"/>
              </a:ext>
            </a:extLst>
          </p:cNvPr>
          <p:cNvSpPr txBox="1"/>
          <p:nvPr/>
        </p:nvSpPr>
        <p:spPr>
          <a:xfrm>
            <a:off x="123824" y="1652323"/>
            <a:ext cx="10950659" cy="900246"/>
          </a:xfrm>
          <a:prstGeom prst="rect">
            <a:avLst/>
          </a:prstGeom>
          <a:noFill/>
        </p:spPr>
        <p:txBody>
          <a:bodyPr wrap="square">
            <a:spAutoFit/>
          </a:bodyPr>
          <a:lstStyle/>
          <a:p>
            <a:r>
              <a:rPr lang="en-CA" sz="1050" dirty="0">
                <a:latin typeface="Tahoma" panose="020B0604030504040204" pitchFamily="34" charset="0"/>
                <a:ea typeface="Tahoma" panose="020B0604030504040204" pitchFamily="34" charset="0"/>
                <a:cs typeface="Tahoma" panose="020B0604030504040204" pitchFamily="34" charset="0"/>
              </a:rPr>
              <a:t>In Oracle PL/SQL, a stored procedure is a named block that performs a specific task. Below is a </a:t>
            </a:r>
            <a:r>
              <a:rPr lang="en-CA" sz="1050" b="1" dirty="0">
                <a:latin typeface="Tahoma" panose="020B0604030504040204" pitchFamily="34" charset="0"/>
                <a:ea typeface="Tahoma" panose="020B0604030504040204" pitchFamily="34" charset="0"/>
                <a:cs typeface="Tahoma" panose="020B0604030504040204" pitchFamily="34" charset="0"/>
              </a:rPr>
              <a:t>real-world example</a:t>
            </a:r>
            <a:r>
              <a:rPr lang="en-CA" sz="1050" dirty="0">
                <a:latin typeface="Tahoma" panose="020B0604030504040204" pitchFamily="34" charset="0"/>
                <a:ea typeface="Tahoma" panose="020B0604030504040204" pitchFamily="34" charset="0"/>
                <a:cs typeface="Tahoma" panose="020B0604030504040204" pitchFamily="34" charset="0"/>
              </a:rPr>
              <a:t> of how you can </a:t>
            </a:r>
            <a:r>
              <a:rPr lang="en-CA" sz="1050" b="1" dirty="0">
                <a:latin typeface="Tahoma" panose="020B0604030504040204" pitchFamily="34" charset="0"/>
                <a:ea typeface="Tahoma" panose="020B0604030504040204" pitchFamily="34" charset="0"/>
                <a:cs typeface="Tahoma" panose="020B0604030504040204" pitchFamily="34" charset="0"/>
              </a:rPr>
              <a:t>create, alter, execute, and drop a stored procedure</a:t>
            </a:r>
            <a:r>
              <a:rPr lang="en-CA" sz="1050" dirty="0">
                <a:latin typeface="Tahoma" panose="020B0604030504040204" pitchFamily="34" charset="0"/>
                <a:ea typeface="Tahoma" panose="020B0604030504040204" pitchFamily="34" charset="0"/>
                <a:cs typeface="Tahoma" panose="020B0604030504040204" pitchFamily="34" charset="0"/>
              </a:rPr>
              <a:t> in Oracle.</a:t>
            </a:r>
          </a:p>
          <a:p>
            <a:endParaRPr lang="en-CA" sz="105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Scenario: Managing Employee Salary Updates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 will create a stored procedure that </a:t>
            </a:r>
            <a:r>
              <a:rPr kumimoji="0" lang="en-US" altLang="en-US" sz="105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updates an employee’s salary</a:t>
            </a:r>
            <a:r>
              <a:rPr kumimoji="0" lang="en-US" altLang="en-US" sz="105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 an employees table.</a:t>
            </a:r>
          </a:p>
        </p:txBody>
      </p:sp>
      <p:sp>
        <p:nvSpPr>
          <p:cNvPr id="8" name="TextBox 7">
            <a:extLst>
              <a:ext uri="{FF2B5EF4-FFF2-40B4-BE49-F238E27FC236}">
                <a16:creationId xmlns:a16="http://schemas.microsoft.com/office/drawing/2014/main" id="{A62AC6A7-B769-DE8A-E50A-E12EA5F800D6}"/>
              </a:ext>
            </a:extLst>
          </p:cNvPr>
          <p:cNvSpPr txBox="1"/>
          <p:nvPr/>
        </p:nvSpPr>
        <p:spPr>
          <a:xfrm>
            <a:off x="123824" y="2697449"/>
            <a:ext cx="4382473" cy="410881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CA" sz="900" dirty="0">
                <a:latin typeface="Tahoma" panose="020B0604030504040204" pitchFamily="34" charset="0"/>
                <a:ea typeface="Tahoma" panose="020B0604030504040204" pitchFamily="34" charset="0"/>
                <a:cs typeface="Tahoma" panose="020B0604030504040204" pitchFamily="34" charset="0"/>
              </a:rPr>
              <a:t>CREATE OR REPLACE PROCEDURE </a:t>
            </a:r>
            <a:r>
              <a:rPr lang="en-CA" sz="900" dirty="0" err="1">
                <a:latin typeface="Tahoma" panose="020B0604030504040204" pitchFamily="34" charset="0"/>
                <a:ea typeface="Tahoma" panose="020B0604030504040204" pitchFamily="34" charset="0"/>
                <a:cs typeface="Tahoma" panose="020B0604030504040204" pitchFamily="34" charset="0"/>
              </a:rPr>
              <a:t>update_employee_salary</a:t>
            </a:r>
            <a:r>
              <a:rPr lang="en-CA" sz="900" dirty="0">
                <a:latin typeface="Tahoma" panose="020B0604030504040204" pitchFamily="34" charset="0"/>
                <a:ea typeface="Tahoma" panose="020B0604030504040204" pitchFamily="34" charset="0"/>
                <a:cs typeface="Tahoma" panose="020B0604030504040204" pitchFamily="34" charset="0"/>
              </a:rPr>
              <a:t> (</a:t>
            </a:r>
          </a:p>
          <a:p>
            <a:r>
              <a:rPr lang="en-CA" sz="900" dirty="0">
                <a:latin typeface="Tahoma" panose="020B0604030504040204" pitchFamily="34" charset="0"/>
                <a:ea typeface="Tahoma" panose="020B0604030504040204" pitchFamily="34" charset="0"/>
                <a:cs typeface="Tahoma" panose="020B0604030504040204" pitchFamily="34" charset="0"/>
              </a:rPr>
              <a:t>    </a:t>
            </a:r>
            <a:r>
              <a:rPr lang="en-CA" sz="900" dirty="0" err="1">
                <a:latin typeface="Tahoma" panose="020B0604030504040204" pitchFamily="34" charset="0"/>
                <a:ea typeface="Tahoma" panose="020B0604030504040204" pitchFamily="34" charset="0"/>
                <a:cs typeface="Tahoma" panose="020B0604030504040204" pitchFamily="34" charset="0"/>
              </a:rPr>
              <a:t>p_emp_id</a:t>
            </a:r>
            <a:r>
              <a:rPr lang="en-CA" sz="900" dirty="0">
                <a:latin typeface="Tahoma" panose="020B0604030504040204" pitchFamily="34" charset="0"/>
                <a:ea typeface="Tahoma" panose="020B0604030504040204" pitchFamily="34" charset="0"/>
                <a:cs typeface="Tahoma" panose="020B0604030504040204" pitchFamily="34" charset="0"/>
              </a:rPr>
              <a:t> IN NUMBER,</a:t>
            </a:r>
          </a:p>
          <a:p>
            <a:r>
              <a:rPr lang="en-CA" sz="900" dirty="0">
                <a:latin typeface="Tahoma" panose="020B0604030504040204" pitchFamily="34" charset="0"/>
                <a:ea typeface="Tahoma" panose="020B0604030504040204" pitchFamily="34" charset="0"/>
                <a:cs typeface="Tahoma" panose="020B0604030504040204" pitchFamily="34" charset="0"/>
              </a:rPr>
              <a:t>    </a:t>
            </a:r>
            <a:r>
              <a:rPr lang="en-CA" sz="900" dirty="0" err="1">
                <a:latin typeface="Tahoma" panose="020B0604030504040204" pitchFamily="34" charset="0"/>
                <a:ea typeface="Tahoma" panose="020B0604030504040204" pitchFamily="34" charset="0"/>
                <a:cs typeface="Tahoma" panose="020B0604030504040204" pitchFamily="34" charset="0"/>
              </a:rPr>
              <a:t>p_new_salary</a:t>
            </a:r>
            <a:r>
              <a:rPr lang="en-CA" sz="900" dirty="0">
                <a:latin typeface="Tahoma" panose="020B0604030504040204" pitchFamily="34" charset="0"/>
                <a:ea typeface="Tahoma" panose="020B0604030504040204" pitchFamily="34" charset="0"/>
                <a:cs typeface="Tahoma" panose="020B0604030504040204" pitchFamily="34" charset="0"/>
              </a:rPr>
              <a:t> IN NUMBER</a:t>
            </a:r>
          </a:p>
          <a:p>
            <a:r>
              <a:rPr lang="en-CA" sz="900" dirty="0">
                <a:latin typeface="Tahoma" panose="020B0604030504040204" pitchFamily="34" charset="0"/>
                <a:ea typeface="Tahoma" panose="020B0604030504040204" pitchFamily="34" charset="0"/>
                <a:cs typeface="Tahoma" panose="020B0604030504040204" pitchFamily="34" charset="0"/>
              </a:rPr>
              <a:t>)</a:t>
            </a:r>
          </a:p>
          <a:p>
            <a:r>
              <a:rPr lang="en-CA" sz="900" dirty="0">
                <a:latin typeface="Tahoma" panose="020B0604030504040204" pitchFamily="34" charset="0"/>
                <a:ea typeface="Tahoma" panose="020B0604030504040204" pitchFamily="34" charset="0"/>
                <a:cs typeface="Tahoma" panose="020B0604030504040204" pitchFamily="34" charset="0"/>
              </a:rPr>
              <a:t>AS</a:t>
            </a:r>
          </a:p>
          <a:p>
            <a:r>
              <a:rPr lang="en-CA" sz="900" dirty="0">
                <a:latin typeface="Tahoma" panose="020B0604030504040204" pitchFamily="34" charset="0"/>
                <a:ea typeface="Tahoma" panose="020B0604030504040204" pitchFamily="34" charset="0"/>
                <a:cs typeface="Tahoma" panose="020B0604030504040204" pitchFamily="34" charset="0"/>
              </a:rPr>
              <a:t>BEGIN</a:t>
            </a:r>
          </a:p>
          <a:p>
            <a:r>
              <a:rPr lang="en-CA" sz="900" i="1" dirty="0">
                <a:highlight>
                  <a:srgbClr val="C0C0C0"/>
                </a:highlight>
                <a:latin typeface="Tahoma" panose="020B0604030504040204" pitchFamily="34" charset="0"/>
                <a:ea typeface="Tahoma" panose="020B0604030504040204" pitchFamily="34" charset="0"/>
                <a:cs typeface="Tahoma" panose="020B0604030504040204" pitchFamily="34" charset="0"/>
              </a:rPr>
              <a:t>    -- Attempt to update the salary</a:t>
            </a:r>
          </a:p>
          <a:p>
            <a:r>
              <a:rPr lang="en-CA" sz="900" dirty="0">
                <a:latin typeface="Tahoma" panose="020B0604030504040204" pitchFamily="34" charset="0"/>
                <a:ea typeface="Tahoma" panose="020B0604030504040204" pitchFamily="34" charset="0"/>
                <a:cs typeface="Tahoma" panose="020B0604030504040204" pitchFamily="34" charset="0"/>
              </a:rPr>
              <a:t>    UPDATE employees</a:t>
            </a:r>
          </a:p>
          <a:p>
            <a:r>
              <a:rPr lang="en-CA" sz="900" dirty="0">
                <a:latin typeface="Tahoma" panose="020B0604030504040204" pitchFamily="34" charset="0"/>
                <a:ea typeface="Tahoma" panose="020B0604030504040204" pitchFamily="34" charset="0"/>
                <a:cs typeface="Tahoma" panose="020B0604030504040204" pitchFamily="34" charset="0"/>
              </a:rPr>
              <a:t>    SET salary = </a:t>
            </a:r>
            <a:r>
              <a:rPr lang="en-CA" sz="900" dirty="0" err="1">
                <a:latin typeface="Tahoma" panose="020B0604030504040204" pitchFamily="34" charset="0"/>
                <a:ea typeface="Tahoma" panose="020B0604030504040204" pitchFamily="34" charset="0"/>
                <a:cs typeface="Tahoma" panose="020B0604030504040204" pitchFamily="34" charset="0"/>
              </a:rPr>
              <a:t>p_new_salary</a:t>
            </a:r>
            <a:endParaRPr lang="en-CA" sz="900" dirty="0">
              <a:latin typeface="Tahoma" panose="020B0604030504040204" pitchFamily="34" charset="0"/>
              <a:ea typeface="Tahoma" panose="020B0604030504040204" pitchFamily="34" charset="0"/>
              <a:cs typeface="Tahoma" panose="020B0604030504040204" pitchFamily="34" charset="0"/>
            </a:endParaRPr>
          </a:p>
          <a:p>
            <a:r>
              <a:rPr lang="en-CA" sz="900" dirty="0">
                <a:latin typeface="Tahoma" panose="020B0604030504040204" pitchFamily="34" charset="0"/>
                <a:ea typeface="Tahoma" panose="020B0604030504040204" pitchFamily="34" charset="0"/>
                <a:cs typeface="Tahoma" panose="020B0604030504040204" pitchFamily="34" charset="0"/>
              </a:rPr>
              <a:t>    WHERE </a:t>
            </a:r>
            <a:r>
              <a:rPr lang="en-CA" sz="900" dirty="0" err="1">
                <a:latin typeface="Tahoma" panose="020B0604030504040204" pitchFamily="34" charset="0"/>
                <a:ea typeface="Tahoma" panose="020B0604030504040204" pitchFamily="34" charset="0"/>
                <a:cs typeface="Tahoma" panose="020B0604030504040204" pitchFamily="34" charset="0"/>
              </a:rPr>
              <a:t>emp_id</a:t>
            </a:r>
            <a:r>
              <a:rPr lang="en-CA" sz="900" dirty="0">
                <a:latin typeface="Tahoma" panose="020B0604030504040204" pitchFamily="34" charset="0"/>
                <a:ea typeface="Tahoma" panose="020B0604030504040204" pitchFamily="34" charset="0"/>
                <a:cs typeface="Tahoma" panose="020B0604030504040204" pitchFamily="34" charset="0"/>
              </a:rPr>
              <a:t> = </a:t>
            </a:r>
            <a:r>
              <a:rPr lang="en-CA" sz="900" dirty="0" err="1">
                <a:latin typeface="Tahoma" panose="020B0604030504040204" pitchFamily="34" charset="0"/>
                <a:ea typeface="Tahoma" panose="020B0604030504040204" pitchFamily="34" charset="0"/>
                <a:cs typeface="Tahoma" panose="020B0604030504040204" pitchFamily="34" charset="0"/>
              </a:rPr>
              <a:t>p_emp_id</a:t>
            </a:r>
            <a:r>
              <a:rPr lang="en-CA" sz="900" dirty="0">
                <a:latin typeface="Tahoma" panose="020B0604030504040204" pitchFamily="34" charset="0"/>
                <a:ea typeface="Tahoma" panose="020B0604030504040204" pitchFamily="34" charset="0"/>
                <a:cs typeface="Tahoma" panose="020B0604030504040204" pitchFamily="34" charset="0"/>
              </a:rPr>
              <a:t>;</a:t>
            </a:r>
          </a:p>
          <a:p>
            <a:endParaRPr lang="en-CA" sz="900" dirty="0">
              <a:latin typeface="Tahoma" panose="020B0604030504040204" pitchFamily="34" charset="0"/>
              <a:ea typeface="Tahoma" panose="020B0604030504040204" pitchFamily="34" charset="0"/>
              <a:cs typeface="Tahoma" panose="020B0604030504040204" pitchFamily="34" charset="0"/>
            </a:endParaRPr>
          </a:p>
          <a:p>
            <a:r>
              <a:rPr lang="en-CA" sz="900" i="1" dirty="0">
                <a:highlight>
                  <a:srgbClr val="C0C0C0"/>
                </a:highlight>
                <a:latin typeface="Tahoma" panose="020B0604030504040204" pitchFamily="34" charset="0"/>
                <a:ea typeface="Tahoma" panose="020B0604030504040204" pitchFamily="34" charset="0"/>
                <a:cs typeface="Tahoma" panose="020B0604030504040204" pitchFamily="34" charset="0"/>
              </a:rPr>
              <a:t>    -- Commit changes if no error occurs</a:t>
            </a:r>
          </a:p>
          <a:p>
            <a:r>
              <a:rPr lang="en-CA" sz="900" dirty="0">
                <a:latin typeface="Tahoma" panose="020B0604030504040204" pitchFamily="34" charset="0"/>
                <a:ea typeface="Tahoma" panose="020B0604030504040204" pitchFamily="34" charset="0"/>
                <a:cs typeface="Tahoma" panose="020B0604030504040204" pitchFamily="34" charset="0"/>
              </a:rPr>
              <a:t>    COMMIT; </a:t>
            </a:r>
          </a:p>
          <a:p>
            <a:r>
              <a:rPr lang="en-CA" sz="900" dirty="0">
                <a:latin typeface="Tahoma" panose="020B0604030504040204" pitchFamily="34" charset="0"/>
                <a:ea typeface="Tahoma" panose="020B0604030504040204" pitchFamily="34" charset="0"/>
                <a:cs typeface="Tahoma" panose="020B0604030504040204" pitchFamily="34" charset="0"/>
              </a:rPr>
              <a:t>    DBMS_OUTPUT.PUT_LINE('Salary updated successfully for Employee ID: ' || </a:t>
            </a:r>
            <a:r>
              <a:rPr lang="en-CA" sz="900" dirty="0" err="1">
                <a:latin typeface="Tahoma" panose="020B0604030504040204" pitchFamily="34" charset="0"/>
                <a:ea typeface="Tahoma" panose="020B0604030504040204" pitchFamily="34" charset="0"/>
                <a:cs typeface="Tahoma" panose="020B0604030504040204" pitchFamily="34" charset="0"/>
              </a:rPr>
              <a:t>p_emp_id</a:t>
            </a:r>
            <a:r>
              <a:rPr lang="en-CA" sz="900" dirty="0">
                <a:latin typeface="Tahoma" panose="020B0604030504040204" pitchFamily="34" charset="0"/>
                <a:ea typeface="Tahoma" panose="020B0604030504040204" pitchFamily="34" charset="0"/>
                <a:cs typeface="Tahoma" panose="020B0604030504040204" pitchFamily="34" charset="0"/>
              </a:rPr>
              <a:t>);</a:t>
            </a:r>
          </a:p>
          <a:p>
            <a:endParaRPr lang="en-CA" sz="900" dirty="0">
              <a:latin typeface="Tahoma" panose="020B0604030504040204" pitchFamily="34" charset="0"/>
              <a:ea typeface="Tahoma" panose="020B0604030504040204" pitchFamily="34" charset="0"/>
              <a:cs typeface="Tahoma" panose="020B0604030504040204" pitchFamily="34" charset="0"/>
            </a:endParaRPr>
          </a:p>
          <a:p>
            <a:r>
              <a:rPr lang="en-CA" sz="900" dirty="0">
                <a:latin typeface="Tahoma" panose="020B0604030504040204" pitchFamily="34" charset="0"/>
                <a:ea typeface="Tahoma" panose="020B0604030504040204" pitchFamily="34" charset="0"/>
                <a:cs typeface="Tahoma" panose="020B0604030504040204" pitchFamily="34" charset="0"/>
              </a:rPr>
              <a:t>EXCEPTION</a:t>
            </a:r>
          </a:p>
          <a:p>
            <a:r>
              <a:rPr lang="en-CA" sz="900" dirty="0">
                <a:latin typeface="Tahoma" panose="020B0604030504040204" pitchFamily="34" charset="0"/>
                <a:ea typeface="Tahoma" panose="020B0604030504040204" pitchFamily="34" charset="0"/>
                <a:cs typeface="Tahoma" panose="020B0604030504040204" pitchFamily="34" charset="0"/>
              </a:rPr>
              <a:t>    WHEN NO_DATA_FOUND THEN</a:t>
            </a:r>
          </a:p>
          <a:p>
            <a:r>
              <a:rPr lang="en-CA" sz="900" i="1" dirty="0">
                <a:highlight>
                  <a:srgbClr val="C0C0C0"/>
                </a:highlight>
                <a:latin typeface="Tahoma" panose="020B0604030504040204" pitchFamily="34" charset="0"/>
                <a:ea typeface="Tahoma" panose="020B0604030504040204" pitchFamily="34" charset="0"/>
                <a:cs typeface="Tahoma" panose="020B0604030504040204" pitchFamily="34" charset="0"/>
              </a:rPr>
              <a:t>        -- If no matching employee is found, rollback and display an error</a:t>
            </a:r>
          </a:p>
          <a:p>
            <a:r>
              <a:rPr lang="en-CA" sz="900" dirty="0">
                <a:latin typeface="Tahoma" panose="020B0604030504040204" pitchFamily="34" charset="0"/>
                <a:ea typeface="Tahoma" panose="020B0604030504040204" pitchFamily="34" charset="0"/>
                <a:cs typeface="Tahoma" panose="020B0604030504040204" pitchFamily="34" charset="0"/>
              </a:rPr>
              <a:t>        ROLLBACK;</a:t>
            </a:r>
          </a:p>
          <a:p>
            <a:r>
              <a:rPr lang="en-CA" sz="900" dirty="0">
                <a:latin typeface="Tahoma" panose="020B0604030504040204" pitchFamily="34" charset="0"/>
                <a:ea typeface="Tahoma" panose="020B0604030504040204" pitchFamily="34" charset="0"/>
                <a:cs typeface="Tahoma" panose="020B0604030504040204" pitchFamily="34" charset="0"/>
              </a:rPr>
              <a:t>        DBMS_OUTPUT.PUT_LINE('Error: Employee ID ' || </a:t>
            </a:r>
            <a:r>
              <a:rPr lang="en-CA" sz="900" dirty="0" err="1">
                <a:latin typeface="Tahoma" panose="020B0604030504040204" pitchFamily="34" charset="0"/>
                <a:ea typeface="Tahoma" panose="020B0604030504040204" pitchFamily="34" charset="0"/>
                <a:cs typeface="Tahoma" panose="020B0604030504040204" pitchFamily="34" charset="0"/>
              </a:rPr>
              <a:t>p_emp_id</a:t>
            </a:r>
            <a:r>
              <a:rPr lang="en-CA" sz="900" dirty="0">
                <a:latin typeface="Tahoma" panose="020B0604030504040204" pitchFamily="34" charset="0"/>
                <a:ea typeface="Tahoma" panose="020B0604030504040204" pitchFamily="34" charset="0"/>
                <a:cs typeface="Tahoma" panose="020B0604030504040204" pitchFamily="34" charset="0"/>
              </a:rPr>
              <a:t> || ' not found.');</a:t>
            </a:r>
          </a:p>
          <a:p>
            <a:endParaRPr lang="en-CA" sz="900" dirty="0">
              <a:latin typeface="Tahoma" panose="020B0604030504040204" pitchFamily="34" charset="0"/>
              <a:ea typeface="Tahoma" panose="020B0604030504040204" pitchFamily="34" charset="0"/>
              <a:cs typeface="Tahoma" panose="020B0604030504040204" pitchFamily="34" charset="0"/>
            </a:endParaRPr>
          </a:p>
          <a:p>
            <a:r>
              <a:rPr lang="en-CA" sz="900" dirty="0">
                <a:latin typeface="Tahoma" panose="020B0604030504040204" pitchFamily="34" charset="0"/>
                <a:ea typeface="Tahoma" panose="020B0604030504040204" pitchFamily="34" charset="0"/>
                <a:cs typeface="Tahoma" panose="020B0604030504040204" pitchFamily="34" charset="0"/>
              </a:rPr>
              <a:t>    WHEN OTHERS THEN</a:t>
            </a:r>
          </a:p>
          <a:p>
            <a:r>
              <a:rPr lang="en-CA" sz="900" i="1" dirty="0">
                <a:highlight>
                  <a:srgbClr val="C0C0C0"/>
                </a:highlight>
                <a:latin typeface="Tahoma" panose="020B0604030504040204" pitchFamily="34" charset="0"/>
                <a:ea typeface="Tahoma" panose="020B0604030504040204" pitchFamily="34" charset="0"/>
                <a:cs typeface="Tahoma" panose="020B0604030504040204" pitchFamily="34" charset="0"/>
              </a:rPr>
              <a:t>        -- Catch any other errors, rollback, and display the error message</a:t>
            </a:r>
          </a:p>
          <a:p>
            <a:r>
              <a:rPr lang="en-CA" sz="900" dirty="0">
                <a:latin typeface="Tahoma" panose="020B0604030504040204" pitchFamily="34" charset="0"/>
                <a:ea typeface="Tahoma" panose="020B0604030504040204" pitchFamily="34" charset="0"/>
                <a:cs typeface="Tahoma" panose="020B0604030504040204" pitchFamily="34" charset="0"/>
              </a:rPr>
              <a:t>        ROLLBACK;</a:t>
            </a:r>
          </a:p>
          <a:p>
            <a:r>
              <a:rPr lang="en-CA" sz="900" dirty="0">
                <a:latin typeface="Tahoma" panose="020B0604030504040204" pitchFamily="34" charset="0"/>
                <a:ea typeface="Tahoma" panose="020B0604030504040204" pitchFamily="34" charset="0"/>
                <a:cs typeface="Tahoma" panose="020B0604030504040204" pitchFamily="34" charset="0"/>
              </a:rPr>
              <a:t>        DBMS_OUTPUT.PUT_LINE('Error updating salary: ' || SQLERRM);</a:t>
            </a:r>
          </a:p>
          <a:p>
            <a:r>
              <a:rPr lang="en-CA" sz="900" dirty="0">
                <a:latin typeface="Tahoma" panose="020B0604030504040204" pitchFamily="34" charset="0"/>
                <a:ea typeface="Tahoma" panose="020B0604030504040204" pitchFamily="34" charset="0"/>
                <a:cs typeface="Tahoma" panose="020B0604030504040204" pitchFamily="34" charset="0"/>
              </a:rPr>
              <a:t>END;</a:t>
            </a:r>
          </a:p>
          <a:p>
            <a:r>
              <a:rPr lang="en-CA" sz="900" dirty="0">
                <a:latin typeface="Tahoma" panose="020B0604030504040204" pitchFamily="34" charset="0"/>
                <a:ea typeface="Tahoma" panose="020B0604030504040204" pitchFamily="34" charset="0"/>
                <a:cs typeface="Tahoma" panose="020B0604030504040204" pitchFamily="34" charset="0"/>
              </a:rPr>
              <a:t>/</a:t>
            </a:r>
          </a:p>
        </p:txBody>
      </p:sp>
      <p:sp>
        <p:nvSpPr>
          <p:cNvPr id="10" name="TextBox 9">
            <a:extLst>
              <a:ext uri="{FF2B5EF4-FFF2-40B4-BE49-F238E27FC236}">
                <a16:creationId xmlns:a16="http://schemas.microsoft.com/office/drawing/2014/main" id="{C6482A97-56E8-B03C-D4A9-E165EA2BB0C1}"/>
              </a:ext>
            </a:extLst>
          </p:cNvPr>
          <p:cNvSpPr txBox="1"/>
          <p:nvPr/>
        </p:nvSpPr>
        <p:spPr>
          <a:xfrm>
            <a:off x="4057650" y="3564883"/>
            <a:ext cx="2038350" cy="1015663"/>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1. Creating the Procedure</a:t>
            </a:r>
          </a:p>
          <a:p>
            <a:r>
              <a:rPr lang="en-CA" sz="1200" dirty="0">
                <a:latin typeface="Tahoma" panose="020B0604030504040204" pitchFamily="34" charset="0"/>
                <a:ea typeface="Tahoma" panose="020B0604030504040204" pitchFamily="34" charset="0"/>
                <a:cs typeface="Tahoma" panose="020B0604030504040204" pitchFamily="34" charset="0"/>
              </a:rPr>
              <a:t>This procedure updates the salary of an employee based on their ID.</a:t>
            </a:r>
          </a:p>
        </p:txBody>
      </p:sp>
      <p:sp>
        <p:nvSpPr>
          <p:cNvPr id="12" name="TextBox 11">
            <a:extLst>
              <a:ext uri="{FF2B5EF4-FFF2-40B4-BE49-F238E27FC236}">
                <a16:creationId xmlns:a16="http://schemas.microsoft.com/office/drawing/2014/main" id="{E6AE16F9-62F6-EE58-0E71-A43E6AFBDF00}"/>
              </a:ext>
            </a:extLst>
          </p:cNvPr>
          <p:cNvSpPr txBox="1"/>
          <p:nvPr/>
        </p:nvSpPr>
        <p:spPr>
          <a:xfrm>
            <a:off x="4638955" y="6163156"/>
            <a:ext cx="60935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1"/>
            <a:r>
              <a:rPr lang="en-US" sz="900" dirty="0">
                <a:latin typeface="Tahoma" panose="020B0604030504040204" pitchFamily="34" charset="0"/>
                <a:ea typeface="Tahoma" panose="020B0604030504040204" pitchFamily="34" charset="0"/>
                <a:cs typeface="Tahoma" panose="020B0604030504040204" pitchFamily="34" charset="0"/>
              </a:rPr>
              <a:t>BEGIN</a:t>
            </a:r>
          </a:p>
          <a:p>
            <a:pPr lvl="1"/>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update_employee_salary</a:t>
            </a:r>
            <a:r>
              <a:rPr lang="en-US" sz="900" dirty="0">
                <a:latin typeface="Tahoma" panose="020B0604030504040204" pitchFamily="34" charset="0"/>
                <a:ea typeface="Tahoma" panose="020B0604030504040204" pitchFamily="34" charset="0"/>
                <a:cs typeface="Tahoma" panose="020B0604030504040204" pitchFamily="34" charset="0"/>
              </a:rPr>
              <a:t>(101, 5000); </a:t>
            </a:r>
            <a:r>
              <a:rPr lang="en-US" sz="9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Updates employee with ID 101 to a salary of 5000</a:t>
            </a:r>
          </a:p>
          <a:p>
            <a:pPr lvl="1"/>
            <a:r>
              <a:rPr lang="en-US" sz="900" dirty="0">
                <a:latin typeface="Tahoma" panose="020B0604030504040204" pitchFamily="34" charset="0"/>
                <a:ea typeface="Tahoma" panose="020B0604030504040204" pitchFamily="34" charset="0"/>
                <a:cs typeface="Tahoma" panose="020B0604030504040204" pitchFamily="34" charset="0"/>
              </a:rPr>
              <a:t>END;</a:t>
            </a:r>
          </a:p>
          <a:p>
            <a:pPr lvl="1"/>
            <a:r>
              <a:rPr lang="en-US" sz="900" dirty="0">
                <a:latin typeface="Tahoma" panose="020B0604030504040204" pitchFamily="34" charset="0"/>
                <a:ea typeface="Tahoma" panose="020B0604030504040204" pitchFamily="34" charset="0"/>
                <a:cs typeface="Tahoma" panose="020B0604030504040204" pitchFamily="34" charset="0"/>
              </a:rPr>
              <a:t>/</a:t>
            </a:r>
          </a:p>
        </p:txBody>
      </p:sp>
      <p:sp>
        <p:nvSpPr>
          <p:cNvPr id="14" name="TextBox 13">
            <a:extLst>
              <a:ext uri="{FF2B5EF4-FFF2-40B4-BE49-F238E27FC236}">
                <a16:creationId xmlns:a16="http://schemas.microsoft.com/office/drawing/2014/main" id="{F59E5B1D-42FF-DC80-7BD2-063CF258F6AD}"/>
              </a:ext>
            </a:extLst>
          </p:cNvPr>
          <p:cNvSpPr txBox="1"/>
          <p:nvPr/>
        </p:nvSpPr>
        <p:spPr>
          <a:xfrm>
            <a:off x="7427472" y="5782390"/>
            <a:ext cx="3790916" cy="4616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2. Executing the Procedure</a:t>
            </a:r>
          </a:p>
          <a:p>
            <a:r>
              <a:rPr lang="en-CA" sz="1200" dirty="0">
                <a:latin typeface="Tahoma" panose="020B0604030504040204" pitchFamily="34" charset="0"/>
                <a:ea typeface="Tahoma" panose="020B0604030504040204" pitchFamily="34" charset="0"/>
                <a:cs typeface="Tahoma" panose="020B0604030504040204" pitchFamily="34" charset="0"/>
              </a:rPr>
              <a:t>After creating the procedure, we can call it using</a:t>
            </a:r>
          </a:p>
        </p:txBody>
      </p:sp>
      <p:sp>
        <p:nvSpPr>
          <p:cNvPr id="7" name="TextBox 6">
            <a:extLst>
              <a:ext uri="{FF2B5EF4-FFF2-40B4-BE49-F238E27FC236}">
                <a16:creationId xmlns:a16="http://schemas.microsoft.com/office/drawing/2014/main" id="{82286955-5916-E6BA-3965-E601F63D0050}"/>
              </a:ext>
            </a:extLst>
          </p:cNvPr>
          <p:cNvSpPr txBox="1"/>
          <p:nvPr/>
        </p:nvSpPr>
        <p:spPr>
          <a:xfrm>
            <a:off x="6885077" y="2903726"/>
            <a:ext cx="4819243" cy="24468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900" dirty="0">
                <a:latin typeface="Tahoma" panose="020B0604030504040204" pitchFamily="34" charset="0"/>
                <a:ea typeface="Tahoma" panose="020B0604030504040204" pitchFamily="34" charset="0"/>
                <a:cs typeface="Tahoma" panose="020B0604030504040204" pitchFamily="34" charset="0"/>
              </a:rPr>
              <a:t>CREATE OR REPLACE PROCEDURE </a:t>
            </a:r>
            <a:r>
              <a:rPr lang="en-US" sz="900" dirty="0" err="1">
                <a:latin typeface="Tahoma" panose="020B0604030504040204" pitchFamily="34" charset="0"/>
                <a:ea typeface="Tahoma" panose="020B0604030504040204" pitchFamily="34" charset="0"/>
                <a:cs typeface="Tahoma" panose="020B0604030504040204" pitchFamily="34" charset="0"/>
              </a:rPr>
              <a:t>update_employee_salary</a:t>
            </a:r>
            <a:r>
              <a:rPr lang="en-US" sz="900" dirty="0">
                <a:latin typeface="Tahoma" panose="020B0604030504040204" pitchFamily="34" charset="0"/>
                <a:ea typeface="Tahoma" panose="020B0604030504040204" pitchFamily="34" charset="0"/>
                <a:cs typeface="Tahoma" panose="020B0604030504040204" pitchFamily="34" charset="0"/>
              </a:rPr>
              <a:t> (</a:t>
            </a:r>
          </a:p>
          <a:p>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p_emp_id</a:t>
            </a:r>
            <a:r>
              <a:rPr lang="en-US" sz="900" dirty="0">
                <a:latin typeface="Tahoma" panose="020B0604030504040204" pitchFamily="34" charset="0"/>
                <a:ea typeface="Tahoma" panose="020B0604030504040204" pitchFamily="34" charset="0"/>
                <a:cs typeface="Tahoma" panose="020B0604030504040204" pitchFamily="34" charset="0"/>
              </a:rPr>
              <a:t>     IN NUMBER,</a:t>
            </a:r>
          </a:p>
          <a:p>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p_new_salary</a:t>
            </a:r>
            <a:r>
              <a:rPr lang="en-US" sz="900" dirty="0">
                <a:latin typeface="Tahoma" panose="020B0604030504040204" pitchFamily="34" charset="0"/>
                <a:ea typeface="Tahoma" panose="020B0604030504040204" pitchFamily="34" charset="0"/>
                <a:cs typeface="Tahoma" panose="020B0604030504040204" pitchFamily="34" charset="0"/>
              </a:rPr>
              <a:t> IN NUMBER</a:t>
            </a:r>
          </a:p>
          <a:p>
            <a:r>
              <a:rPr lang="en-US" sz="900" dirty="0">
                <a:latin typeface="Tahoma" panose="020B0604030504040204" pitchFamily="34" charset="0"/>
                <a:ea typeface="Tahoma" panose="020B0604030504040204" pitchFamily="34" charset="0"/>
                <a:cs typeface="Tahoma" panose="020B0604030504040204" pitchFamily="34" charset="0"/>
              </a:rPr>
              <a:t>)</a:t>
            </a:r>
          </a:p>
          <a:p>
            <a:r>
              <a:rPr lang="en-US" sz="900" dirty="0">
                <a:latin typeface="Tahoma" panose="020B0604030504040204" pitchFamily="34" charset="0"/>
                <a:ea typeface="Tahoma" panose="020B0604030504040204" pitchFamily="34" charset="0"/>
                <a:cs typeface="Tahoma" panose="020B0604030504040204" pitchFamily="34" charset="0"/>
              </a:rPr>
              <a:t>AS</a:t>
            </a:r>
          </a:p>
          <a:p>
            <a:r>
              <a:rPr lang="en-US" sz="900" dirty="0">
                <a:latin typeface="Tahoma" panose="020B0604030504040204" pitchFamily="34" charset="0"/>
                <a:ea typeface="Tahoma" panose="020B0604030504040204" pitchFamily="34" charset="0"/>
                <a:cs typeface="Tahoma" panose="020B0604030504040204" pitchFamily="34" charset="0"/>
              </a:rPr>
              <a:t>BEGIN</a:t>
            </a:r>
          </a:p>
          <a:p>
            <a:r>
              <a:rPr lang="en-US" sz="900" dirty="0">
                <a:latin typeface="Tahoma" panose="020B0604030504040204" pitchFamily="34" charset="0"/>
                <a:ea typeface="Tahoma" panose="020B0604030504040204" pitchFamily="34" charset="0"/>
                <a:cs typeface="Tahoma" panose="020B0604030504040204" pitchFamily="34" charset="0"/>
              </a:rPr>
              <a:t>    UPDATE employees</a:t>
            </a:r>
          </a:p>
          <a:p>
            <a:r>
              <a:rPr lang="en-US" sz="900" dirty="0">
                <a:latin typeface="Tahoma" panose="020B0604030504040204" pitchFamily="34" charset="0"/>
                <a:ea typeface="Tahoma" panose="020B0604030504040204" pitchFamily="34" charset="0"/>
                <a:cs typeface="Tahoma" panose="020B0604030504040204" pitchFamily="34" charset="0"/>
              </a:rPr>
              <a:t>    SET salary = </a:t>
            </a:r>
            <a:r>
              <a:rPr lang="en-US" sz="900" dirty="0" err="1">
                <a:latin typeface="Tahoma" panose="020B0604030504040204" pitchFamily="34" charset="0"/>
                <a:ea typeface="Tahoma" panose="020B0604030504040204" pitchFamily="34" charset="0"/>
                <a:cs typeface="Tahoma" panose="020B0604030504040204" pitchFamily="34" charset="0"/>
              </a:rPr>
              <a:t>p_new_salary</a:t>
            </a:r>
            <a:endParaRPr lang="en-US" sz="900" dirty="0">
              <a:latin typeface="Tahoma" panose="020B0604030504040204" pitchFamily="34" charset="0"/>
              <a:ea typeface="Tahoma" panose="020B0604030504040204" pitchFamily="34" charset="0"/>
              <a:cs typeface="Tahoma" panose="020B0604030504040204" pitchFamily="34" charset="0"/>
            </a:endParaRPr>
          </a:p>
          <a:p>
            <a:r>
              <a:rPr lang="en-US" sz="900" dirty="0">
                <a:latin typeface="Tahoma" panose="020B0604030504040204" pitchFamily="34" charset="0"/>
                <a:ea typeface="Tahoma" panose="020B0604030504040204" pitchFamily="34" charset="0"/>
                <a:cs typeface="Tahoma" panose="020B0604030504040204" pitchFamily="34" charset="0"/>
              </a:rPr>
              <a:t>    WHERE </a:t>
            </a:r>
            <a:r>
              <a:rPr lang="en-US" sz="900" dirty="0" err="1">
                <a:latin typeface="Tahoma" panose="020B0604030504040204" pitchFamily="34" charset="0"/>
                <a:ea typeface="Tahoma" panose="020B0604030504040204" pitchFamily="34" charset="0"/>
                <a:cs typeface="Tahoma" panose="020B0604030504040204" pitchFamily="34" charset="0"/>
              </a:rPr>
              <a:t>emp_id</a:t>
            </a:r>
            <a:r>
              <a:rPr lang="en-US" sz="900" dirty="0">
                <a:latin typeface="Tahoma" panose="020B0604030504040204" pitchFamily="34" charset="0"/>
                <a:ea typeface="Tahoma" panose="020B0604030504040204" pitchFamily="34" charset="0"/>
                <a:cs typeface="Tahoma" panose="020B0604030504040204" pitchFamily="34" charset="0"/>
              </a:rPr>
              <a:t> = </a:t>
            </a:r>
            <a:r>
              <a:rPr lang="en-US" sz="900" dirty="0" err="1">
                <a:latin typeface="Tahoma" panose="020B0604030504040204" pitchFamily="34" charset="0"/>
                <a:ea typeface="Tahoma" panose="020B0604030504040204" pitchFamily="34" charset="0"/>
                <a:cs typeface="Tahoma" panose="020B0604030504040204" pitchFamily="34" charset="0"/>
              </a:rPr>
              <a:t>p_emp_id</a:t>
            </a:r>
            <a:r>
              <a:rPr lang="en-US" sz="900" dirty="0">
                <a:latin typeface="Tahoma" panose="020B0604030504040204" pitchFamily="34" charset="0"/>
                <a:ea typeface="Tahoma" panose="020B0604030504040204" pitchFamily="34" charset="0"/>
                <a:cs typeface="Tahoma" panose="020B0604030504040204" pitchFamily="34" charset="0"/>
              </a:rPr>
              <a:t>;</a:t>
            </a:r>
          </a:p>
          <a:p>
            <a:r>
              <a:rPr lang="en-US" sz="900" dirty="0">
                <a:latin typeface="Tahoma" panose="020B0604030504040204" pitchFamily="34" charset="0"/>
                <a:ea typeface="Tahoma" panose="020B0604030504040204" pitchFamily="34" charset="0"/>
                <a:cs typeface="Tahoma" panose="020B0604030504040204" pitchFamily="34" charset="0"/>
              </a:rPr>
              <a:t>    </a:t>
            </a:r>
          </a:p>
          <a:p>
            <a:r>
              <a:rPr lang="en-US" sz="900" dirty="0">
                <a:latin typeface="Tahoma" panose="020B0604030504040204" pitchFamily="34" charset="0"/>
                <a:ea typeface="Tahoma" panose="020B0604030504040204" pitchFamily="34" charset="0"/>
                <a:cs typeface="Tahoma" panose="020B0604030504040204" pitchFamily="34" charset="0"/>
              </a:rPr>
              <a:t>    COMMIT; </a:t>
            </a:r>
            <a:r>
              <a:rPr lang="en-US" sz="900" i="1" dirty="0">
                <a:highlight>
                  <a:srgbClr val="C0C0C0"/>
                </a:highlight>
                <a:latin typeface="Tahoma" panose="020B0604030504040204" pitchFamily="34" charset="0"/>
                <a:ea typeface="Tahoma" panose="020B0604030504040204" pitchFamily="34" charset="0"/>
                <a:cs typeface="Tahoma" panose="020B0604030504040204" pitchFamily="34" charset="0"/>
              </a:rPr>
              <a:t>-- Save changes if the update is successful</a:t>
            </a:r>
          </a:p>
          <a:p>
            <a:r>
              <a:rPr lang="en-US" sz="900" dirty="0">
                <a:latin typeface="Tahoma" panose="020B0604030504040204" pitchFamily="34" charset="0"/>
                <a:ea typeface="Tahoma" panose="020B0604030504040204" pitchFamily="34" charset="0"/>
                <a:cs typeface="Tahoma" panose="020B0604030504040204" pitchFamily="34" charset="0"/>
              </a:rPr>
              <a:t>EXCEPTION</a:t>
            </a:r>
          </a:p>
          <a:p>
            <a:r>
              <a:rPr lang="en-US" sz="900" dirty="0">
                <a:latin typeface="Tahoma" panose="020B0604030504040204" pitchFamily="34" charset="0"/>
                <a:ea typeface="Tahoma" panose="020B0604030504040204" pitchFamily="34" charset="0"/>
                <a:cs typeface="Tahoma" panose="020B0604030504040204" pitchFamily="34" charset="0"/>
              </a:rPr>
              <a:t>    WHEN OTHERS THEN</a:t>
            </a:r>
          </a:p>
          <a:p>
            <a:r>
              <a:rPr lang="en-US" sz="900" dirty="0">
                <a:latin typeface="Tahoma" panose="020B0604030504040204" pitchFamily="34" charset="0"/>
                <a:ea typeface="Tahoma" panose="020B0604030504040204" pitchFamily="34" charset="0"/>
                <a:cs typeface="Tahoma" panose="020B0604030504040204" pitchFamily="34" charset="0"/>
              </a:rPr>
              <a:t>        ROLLBACK; </a:t>
            </a:r>
            <a:r>
              <a:rPr lang="en-US" sz="900" i="1" dirty="0">
                <a:highlight>
                  <a:srgbClr val="C0C0C0"/>
                </a:highlight>
                <a:latin typeface="Tahoma" panose="020B0604030504040204" pitchFamily="34" charset="0"/>
                <a:ea typeface="Tahoma" panose="020B0604030504040204" pitchFamily="34" charset="0"/>
                <a:cs typeface="Tahoma" panose="020B0604030504040204" pitchFamily="34" charset="0"/>
              </a:rPr>
              <a:t>-- Revert changes in case of an error</a:t>
            </a:r>
          </a:p>
          <a:p>
            <a:r>
              <a:rPr lang="en-US" sz="900" dirty="0">
                <a:latin typeface="Tahoma" panose="020B0604030504040204" pitchFamily="34" charset="0"/>
                <a:ea typeface="Tahoma" panose="020B0604030504040204" pitchFamily="34" charset="0"/>
                <a:cs typeface="Tahoma" panose="020B0604030504040204" pitchFamily="34" charset="0"/>
              </a:rPr>
              <a:t>        DBMS_OUTPUT.PUT_LINE('Error updating employee salary: ' || SQLERRM);</a:t>
            </a:r>
          </a:p>
          <a:p>
            <a:r>
              <a:rPr lang="en-US" sz="900" dirty="0">
                <a:latin typeface="Tahoma" panose="020B0604030504040204" pitchFamily="34" charset="0"/>
                <a:ea typeface="Tahoma" panose="020B0604030504040204" pitchFamily="34" charset="0"/>
                <a:cs typeface="Tahoma" panose="020B0604030504040204" pitchFamily="34" charset="0"/>
              </a:rPr>
              <a:t>END;</a:t>
            </a:r>
          </a:p>
          <a:p>
            <a:r>
              <a:rPr lang="en-US" sz="900" dirty="0">
                <a:latin typeface="Tahoma" panose="020B0604030504040204" pitchFamily="34" charset="0"/>
                <a:ea typeface="Tahoma" panose="020B0604030504040204" pitchFamily="34" charset="0"/>
                <a:cs typeface="Tahoma" panose="020B0604030504040204" pitchFamily="34" charset="0"/>
              </a:rPr>
              <a:t>/</a:t>
            </a:r>
          </a:p>
        </p:txBody>
      </p:sp>
      <p:sp>
        <p:nvSpPr>
          <p:cNvPr id="11" name="TextBox 10">
            <a:extLst>
              <a:ext uri="{FF2B5EF4-FFF2-40B4-BE49-F238E27FC236}">
                <a16:creationId xmlns:a16="http://schemas.microsoft.com/office/drawing/2014/main" id="{0EEC644C-527A-227F-7EDC-EC330E33CE0B}"/>
              </a:ext>
            </a:extLst>
          </p:cNvPr>
          <p:cNvSpPr txBox="1"/>
          <p:nvPr/>
        </p:nvSpPr>
        <p:spPr>
          <a:xfrm>
            <a:off x="4538184" y="2581754"/>
            <a:ext cx="333829" cy="316921"/>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a:t>
            </a:r>
            <a:endParaRPr lang="en-US" sz="1400" b="1" dirty="0"/>
          </a:p>
        </p:txBody>
      </p:sp>
      <p:sp>
        <p:nvSpPr>
          <p:cNvPr id="13" name="TextBox 12">
            <a:extLst>
              <a:ext uri="{FF2B5EF4-FFF2-40B4-BE49-F238E27FC236}">
                <a16:creationId xmlns:a16="http://schemas.microsoft.com/office/drawing/2014/main" id="{D23EFE14-6A1C-399B-A50D-9228CA083C0B}"/>
              </a:ext>
            </a:extLst>
          </p:cNvPr>
          <p:cNvSpPr txBox="1"/>
          <p:nvPr/>
        </p:nvSpPr>
        <p:spPr>
          <a:xfrm>
            <a:off x="11368591" y="2482690"/>
            <a:ext cx="333829" cy="316921"/>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a:t>
            </a:r>
            <a:endParaRPr lang="en-US" sz="1400" b="1" dirty="0"/>
          </a:p>
        </p:txBody>
      </p:sp>
    </p:spTree>
    <p:extLst>
      <p:ext uri="{BB962C8B-B14F-4D97-AF65-F5344CB8AC3E}">
        <p14:creationId xmlns:p14="http://schemas.microsoft.com/office/powerpoint/2010/main" val="1678082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8BB25-2308-2DEB-CE90-F27A4DC4A03A}"/>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3EBBD47F-E791-4552-FAE7-7BAC39E1F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15A89910-58BB-F77A-DF91-97FE8A414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ECDFB64B-859F-B86B-7BE5-DCB5A0141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AA449783-4720-DECA-6B6E-87AD4A39E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7BACEA30-E1E8-D5E3-EC95-F77FB293F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046F32C0-9ED5-4CBD-EF4A-C434B00871EA}"/>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 Problem Statement: Employee Bonus Update with Error Handling</a:t>
            </a:r>
          </a:p>
        </p:txBody>
      </p:sp>
      <p:sp>
        <p:nvSpPr>
          <p:cNvPr id="5" name="Slide Number Placeholder 4">
            <a:extLst>
              <a:ext uri="{FF2B5EF4-FFF2-40B4-BE49-F238E27FC236}">
                <a16:creationId xmlns:a16="http://schemas.microsoft.com/office/drawing/2014/main" id="{168BE29A-20DF-E6FE-40FD-775841F54FE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30</a:t>
            </a:fld>
            <a:endParaRPr lang="en-US" sz="1100" dirty="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C24EA0DC-FF33-09B3-C335-14827471C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Tree>
    <p:extLst>
      <p:ext uri="{BB962C8B-B14F-4D97-AF65-F5344CB8AC3E}">
        <p14:creationId xmlns:p14="http://schemas.microsoft.com/office/powerpoint/2010/main" val="3590248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5FFB93-9B7B-DF60-A8C4-9E1269B0B841}"/>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8E1A4FC7-47B9-0359-3A2F-453495E57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B6824CB3-5922-0918-473F-DA857FA18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BC35EF0-62B5-E162-152A-6A355890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1AAC3E4-C1FE-E014-B466-80102C00C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44134D30-DCCC-D33D-87CE-8BE7D0B33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9347946E-9F5C-5A8E-45EB-271E77FAA584}"/>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Stored Procedure in Oracle – Real Example</a:t>
            </a:r>
          </a:p>
        </p:txBody>
      </p:sp>
      <p:sp>
        <p:nvSpPr>
          <p:cNvPr id="5" name="Slide Number Placeholder 4">
            <a:extLst>
              <a:ext uri="{FF2B5EF4-FFF2-40B4-BE49-F238E27FC236}">
                <a16:creationId xmlns:a16="http://schemas.microsoft.com/office/drawing/2014/main" id="{6515DB8F-DB46-EE02-7CEC-57918EB06498}"/>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31</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DBC911CB-B566-4733-5C67-AEE5D34A4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8" name="TextBox 7">
            <a:extLst>
              <a:ext uri="{FF2B5EF4-FFF2-40B4-BE49-F238E27FC236}">
                <a16:creationId xmlns:a16="http://schemas.microsoft.com/office/drawing/2014/main" id="{02486A19-A2B5-4D93-1A5D-9D7B224C005E}"/>
              </a:ext>
            </a:extLst>
          </p:cNvPr>
          <p:cNvSpPr txBox="1"/>
          <p:nvPr/>
        </p:nvSpPr>
        <p:spPr>
          <a:xfrm>
            <a:off x="123824" y="1828913"/>
            <a:ext cx="6247947" cy="34163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CREATE OR REPLACE PROCEDURE </a:t>
            </a:r>
            <a:r>
              <a:rPr lang="en-CA" sz="1200" dirty="0" err="1">
                <a:latin typeface="Tahoma" panose="020B0604030504040204" pitchFamily="34" charset="0"/>
                <a:ea typeface="Tahoma" panose="020B0604030504040204" pitchFamily="34" charset="0"/>
                <a:cs typeface="Tahoma" panose="020B0604030504040204" pitchFamily="34" charset="0"/>
              </a:rPr>
              <a:t>update_employee_salary</a:t>
            </a:r>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p_emp_id</a:t>
            </a:r>
            <a:r>
              <a:rPr lang="en-CA" sz="1200" dirty="0">
                <a:latin typeface="Tahoma" panose="020B0604030504040204" pitchFamily="34" charset="0"/>
                <a:ea typeface="Tahoma" panose="020B0604030504040204" pitchFamily="34" charset="0"/>
                <a:cs typeface="Tahoma" panose="020B0604030504040204" pitchFamily="34" charset="0"/>
              </a:rPr>
              <a:t> IN NUMBER,</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p_new_salary</a:t>
            </a:r>
            <a:r>
              <a:rPr lang="en-CA" sz="1200" dirty="0">
                <a:latin typeface="Tahoma" panose="020B0604030504040204" pitchFamily="34" charset="0"/>
                <a:ea typeface="Tahoma" panose="020B0604030504040204" pitchFamily="34" charset="0"/>
                <a:cs typeface="Tahoma" panose="020B0604030504040204" pitchFamily="34" charset="0"/>
              </a:rPr>
              <a:t> IN NUMBER</a:t>
            </a:r>
          </a:p>
          <a:p>
            <a:r>
              <a:rPr lang="en-CA" sz="1200" dirty="0">
                <a:latin typeface="Tahoma" panose="020B0604030504040204" pitchFamily="34" charset="0"/>
                <a:ea typeface="Tahoma" panose="020B0604030504040204" pitchFamily="34" charset="0"/>
                <a:cs typeface="Tahoma" panose="020B0604030504040204" pitchFamily="34" charset="0"/>
              </a:rPr>
              <a:t>)</a:t>
            </a:r>
          </a:p>
          <a:p>
            <a:r>
              <a:rPr lang="en-CA" sz="1200" dirty="0">
                <a:latin typeface="Tahoma" panose="020B0604030504040204" pitchFamily="34" charset="0"/>
                <a:ea typeface="Tahoma" panose="020B0604030504040204" pitchFamily="34" charset="0"/>
                <a:cs typeface="Tahoma" panose="020B0604030504040204" pitchFamily="34" charset="0"/>
              </a:rPr>
              <a:t>AS</a:t>
            </a:r>
          </a:p>
          <a:p>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dirty="0" err="1">
                <a:latin typeface="Tahoma" panose="020B0604030504040204" pitchFamily="34" charset="0"/>
                <a:ea typeface="Tahoma" panose="020B0604030504040204" pitchFamily="34" charset="0"/>
                <a:cs typeface="Tahoma" panose="020B0604030504040204" pitchFamily="34" charset="0"/>
              </a:rPr>
              <a:t>v_min_salary</a:t>
            </a:r>
            <a:r>
              <a:rPr lang="en-CA" sz="1200" dirty="0">
                <a:latin typeface="Tahoma" panose="020B0604030504040204" pitchFamily="34" charset="0"/>
                <a:ea typeface="Tahoma" panose="020B0604030504040204" pitchFamily="34" charset="0"/>
                <a:cs typeface="Tahoma" panose="020B0604030504040204" pitchFamily="34" charset="0"/>
              </a:rPr>
              <a:t> NUMBER := 3000; </a:t>
            </a:r>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Define a minimum salary</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dirty="0">
                <a:latin typeface="Tahoma" panose="020B0604030504040204" pitchFamily="34" charset="0"/>
                <a:ea typeface="Tahoma" panose="020B0604030504040204" pitchFamily="34" charset="0"/>
                <a:cs typeface="Tahoma" panose="020B0604030504040204" pitchFamily="34" charset="0"/>
              </a:rPr>
              <a:t>    IF </a:t>
            </a:r>
            <a:r>
              <a:rPr lang="en-CA" sz="1200" dirty="0" err="1">
                <a:latin typeface="Tahoma" panose="020B0604030504040204" pitchFamily="34" charset="0"/>
                <a:ea typeface="Tahoma" panose="020B0604030504040204" pitchFamily="34" charset="0"/>
                <a:cs typeface="Tahoma" panose="020B0604030504040204" pitchFamily="34" charset="0"/>
              </a:rPr>
              <a:t>p_new_salary</a:t>
            </a:r>
            <a:r>
              <a:rPr lang="en-CA" sz="1200" dirty="0">
                <a:latin typeface="Tahoma" panose="020B0604030504040204" pitchFamily="34" charset="0"/>
                <a:ea typeface="Tahoma" panose="020B0604030504040204" pitchFamily="34" charset="0"/>
                <a:cs typeface="Tahoma" panose="020B0604030504040204" pitchFamily="34" charset="0"/>
              </a:rPr>
              <a:t> &lt; </a:t>
            </a:r>
            <a:r>
              <a:rPr lang="en-CA" sz="1200" dirty="0" err="1">
                <a:latin typeface="Tahoma" panose="020B0604030504040204" pitchFamily="34" charset="0"/>
                <a:ea typeface="Tahoma" panose="020B0604030504040204" pitchFamily="34" charset="0"/>
                <a:cs typeface="Tahoma" panose="020B0604030504040204" pitchFamily="34" charset="0"/>
              </a:rPr>
              <a:t>v_min_salary</a:t>
            </a:r>
            <a:r>
              <a:rPr lang="en-CA" sz="1200" dirty="0">
                <a:latin typeface="Tahoma" panose="020B0604030504040204" pitchFamily="34" charset="0"/>
                <a:ea typeface="Tahoma" panose="020B0604030504040204" pitchFamily="34" charset="0"/>
                <a:cs typeface="Tahoma" panose="020B0604030504040204" pitchFamily="34" charset="0"/>
              </a:rPr>
              <a:t> THEN</a:t>
            </a:r>
          </a:p>
          <a:p>
            <a:r>
              <a:rPr lang="en-CA" sz="1200" dirty="0">
                <a:latin typeface="Tahoma" panose="020B0604030504040204" pitchFamily="34" charset="0"/>
                <a:ea typeface="Tahoma" panose="020B0604030504040204" pitchFamily="34" charset="0"/>
                <a:cs typeface="Tahoma" panose="020B0604030504040204" pitchFamily="34" charset="0"/>
              </a:rPr>
              <a:t>        RAISE_APPLICATION_ERROR(-20001, 'Salary cannot be less than 3000');</a:t>
            </a:r>
          </a:p>
          <a:p>
            <a:r>
              <a:rPr lang="en-CA" sz="1200" dirty="0">
                <a:latin typeface="Tahoma" panose="020B0604030504040204" pitchFamily="34" charset="0"/>
                <a:ea typeface="Tahoma" panose="020B0604030504040204" pitchFamily="34" charset="0"/>
                <a:cs typeface="Tahoma" panose="020B0604030504040204" pitchFamily="34" charset="0"/>
              </a:rPr>
              <a:t>    ELSE</a:t>
            </a:r>
          </a:p>
          <a:p>
            <a:r>
              <a:rPr lang="en-CA" sz="1200" dirty="0">
                <a:latin typeface="Tahoma" panose="020B0604030504040204" pitchFamily="34" charset="0"/>
                <a:ea typeface="Tahoma" panose="020B0604030504040204" pitchFamily="34" charset="0"/>
                <a:cs typeface="Tahoma" panose="020B0604030504040204" pitchFamily="34" charset="0"/>
              </a:rPr>
              <a:t>        UPDATE employees</a:t>
            </a:r>
          </a:p>
          <a:p>
            <a:r>
              <a:rPr lang="en-CA" sz="1200" dirty="0">
                <a:latin typeface="Tahoma" panose="020B0604030504040204" pitchFamily="34" charset="0"/>
                <a:ea typeface="Tahoma" panose="020B0604030504040204" pitchFamily="34" charset="0"/>
                <a:cs typeface="Tahoma" panose="020B0604030504040204" pitchFamily="34" charset="0"/>
              </a:rPr>
              <a:t>        SET salary = </a:t>
            </a:r>
            <a:r>
              <a:rPr lang="en-CA" sz="1200" dirty="0" err="1">
                <a:latin typeface="Tahoma" panose="020B0604030504040204" pitchFamily="34" charset="0"/>
                <a:ea typeface="Tahoma" panose="020B0604030504040204" pitchFamily="34" charset="0"/>
                <a:cs typeface="Tahoma" panose="020B0604030504040204" pitchFamily="34" charset="0"/>
              </a:rPr>
              <a:t>p_new_salary</a:t>
            </a:r>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WHERE </a:t>
            </a:r>
            <a:r>
              <a:rPr lang="en-CA" sz="1200" dirty="0" err="1">
                <a:latin typeface="Tahoma" panose="020B0604030504040204" pitchFamily="34" charset="0"/>
                <a:ea typeface="Tahoma" panose="020B0604030504040204" pitchFamily="34" charset="0"/>
                <a:cs typeface="Tahoma" panose="020B0604030504040204" pitchFamily="34" charset="0"/>
              </a:rPr>
              <a:t>emp_id</a:t>
            </a:r>
            <a:r>
              <a:rPr lang="en-CA" sz="1200" dirty="0">
                <a:latin typeface="Tahoma" panose="020B0604030504040204" pitchFamily="34" charset="0"/>
                <a:ea typeface="Tahoma" panose="020B0604030504040204" pitchFamily="34" charset="0"/>
                <a:cs typeface="Tahoma" panose="020B0604030504040204" pitchFamily="34" charset="0"/>
              </a:rPr>
              <a:t> = </a:t>
            </a:r>
            <a:r>
              <a:rPr lang="en-CA" sz="1200" dirty="0" err="1">
                <a:latin typeface="Tahoma" panose="020B0604030504040204" pitchFamily="34" charset="0"/>
                <a:ea typeface="Tahoma" panose="020B0604030504040204" pitchFamily="34" charset="0"/>
                <a:cs typeface="Tahoma" panose="020B0604030504040204" pitchFamily="34" charset="0"/>
              </a:rPr>
              <a:t>p_emp_id</a:t>
            </a:r>
            <a:r>
              <a:rPr lang="en-CA" sz="1200" dirty="0">
                <a:latin typeface="Tahoma" panose="020B0604030504040204" pitchFamily="34" charset="0"/>
                <a:ea typeface="Tahoma" panose="020B0604030504040204" pitchFamily="34" charset="0"/>
                <a:cs typeface="Tahoma" panose="020B0604030504040204" pitchFamily="34" charset="0"/>
              </a:rPr>
              <a:t>;</a:t>
            </a:r>
          </a:p>
          <a:p>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dirty="0">
                <a:latin typeface="Tahoma" panose="020B0604030504040204" pitchFamily="34" charset="0"/>
                <a:ea typeface="Tahoma" panose="020B0604030504040204" pitchFamily="34" charset="0"/>
                <a:cs typeface="Tahoma" panose="020B0604030504040204" pitchFamily="34" charset="0"/>
              </a:rPr>
              <a:t>        COMMIT;</a:t>
            </a:r>
          </a:p>
          <a:p>
            <a:r>
              <a:rPr lang="en-CA" sz="1200" dirty="0">
                <a:latin typeface="Tahoma" panose="020B0604030504040204" pitchFamily="34" charset="0"/>
                <a:ea typeface="Tahoma" panose="020B0604030504040204" pitchFamily="34" charset="0"/>
                <a:cs typeface="Tahoma" panose="020B0604030504040204" pitchFamily="34" charset="0"/>
              </a:rPr>
              <a:t>    END IF;</a:t>
            </a:r>
          </a:p>
          <a:p>
            <a:r>
              <a:rPr lang="en-CA" sz="1200" dirty="0">
                <a:latin typeface="Tahoma" panose="020B0604030504040204" pitchFamily="34" charset="0"/>
                <a:ea typeface="Tahoma" panose="020B0604030504040204" pitchFamily="34" charset="0"/>
                <a:cs typeface="Tahoma" panose="020B0604030504040204" pitchFamily="34" charset="0"/>
              </a:rPr>
              <a:t>END;</a:t>
            </a:r>
          </a:p>
          <a:p>
            <a:r>
              <a:rPr lang="en-CA" sz="1200" dirty="0">
                <a:latin typeface="Tahoma" panose="020B0604030504040204" pitchFamily="34" charset="0"/>
                <a:ea typeface="Tahoma" panose="020B0604030504040204" pitchFamily="34" charset="0"/>
                <a:cs typeface="Tahoma" panose="020B0604030504040204" pitchFamily="34" charset="0"/>
              </a:rPr>
              <a:t>/</a:t>
            </a:r>
          </a:p>
        </p:txBody>
      </p:sp>
      <p:sp>
        <p:nvSpPr>
          <p:cNvPr id="7" name="Rectangle 2">
            <a:extLst>
              <a:ext uri="{FF2B5EF4-FFF2-40B4-BE49-F238E27FC236}">
                <a16:creationId xmlns:a16="http://schemas.microsoft.com/office/drawing/2014/main" id="{149F4CFE-D1FF-799E-3DD9-D22764625E9A}"/>
              </a:ext>
            </a:extLst>
          </p:cNvPr>
          <p:cNvSpPr>
            <a:spLocks noChangeArrowheads="1"/>
          </p:cNvSpPr>
          <p:nvPr/>
        </p:nvSpPr>
        <p:spPr bwMode="auto">
          <a:xfrm>
            <a:off x="3521039" y="3690343"/>
            <a:ext cx="8547137" cy="830997"/>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3. Altering the Procedure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If we want to modify the procedure, for example, to add a condition that prevents setting a salary below a minimum threshold, we use CREATE OR REPLACE:</a:t>
            </a:r>
          </a:p>
        </p:txBody>
      </p:sp>
      <p:sp>
        <p:nvSpPr>
          <p:cNvPr id="11" name="TextBox 10">
            <a:extLst>
              <a:ext uri="{FF2B5EF4-FFF2-40B4-BE49-F238E27FC236}">
                <a16:creationId xmlns:a16="http://schemas.microsoft.com/office/drawing/2014/main" id="{65EAA74C-51F8-6A46-7928-3C8AB4D9A907}"/>
              </a:ext>
            </a:extLst>
          </p:cNvPr>
          <p:cNvSpPr txBox="1"/>
          <p:nvPr/>
        </p:nvSpPr>
        <p:spPr>
          <a:xfrm>
            <a:off x="6845041" y="5888501"/>
            <a:ext cx="4217700" cy="27699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          DROP PROCEDURE </a:t>
            </a:r>
            <a:r>
              <a:rPr lang="en-US" sz="1200" dirty="0" err="1">
                <a:latin typeface="Tahoma" panose="020B0604030504040204" pitchFamily="34" charset="0"/>
                <a:ea typeface="Tahoma" panose="020B0604030504040204" pitchFamily="34" charset="0"/>
                <a:cs typeface="Tahoma" panose="020B0604030504040204" pitchFamily="34" charset="0"/>
              </a:rPr>
              <a:t>update_employee_salary</a:t>
            </a:r>
            <a:r>
              <a:rPr lang="en-US" sz="1200" dirty="0">
                <a:latin typeface="Tahoma" panose="020B0604030504040204" pitchFamily="34" charset="0"/>
                <a:ea typeface="Tahoma" panose="020B0604030504040204" pitchFamily="34" charset="0"/>
                <a:cs typeface="Tahoma" panose="020B0604030504040204" pitchFamily="34" charset="0"/>
              </a:rPr>
              <a:t>;</a:t>
            </a:r>
          </a:p>
        </p:txBody>
      </p:sp>
      <p:sp>
        <p:nvSpPr>
          <p:cNvPr id="15" name="TextBox 14">
            <a:extLst>
              <a:ext uri="{FF2B5EF4-FFF2-40B4-BE49-F238E27FC236}">
                <a16:creationId xmlns:a16="http://schemas.microsoft.com/office/drawing/2014/main" id="{A90BF409-EF21-B133-B39A-B10C4589414F}"/>
              </a:ext>
            </a:extLst>
          </p:cNvPr>
          <p:cNvSpPr txBox="1"/>
          <p:nvPr/>
        </p:nvSpPr>
        <p:spPr>
          <a:xfrm>
            <a:off x="1010900" y="5787256"/>
            <a:ext cx="6093500" cy="461665"/>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4. Dropping the Procedure</a:t>
            </a:r>
          </a:p>
          <a:p>
            <a:r>
              <a:rPr lang="en-CA" sz="1200" dirty="0">
                <a:latin typeface="Tahoma" panose="020B0604030504040204" pitchFamily="34" charset="0"/>
                <a:ea typeface="Tahoma" panose="020B0604030504040204" pitchFamily="34" charset="0"/>
                <a:cs typeface="Tahoma" panose="020B0604030504040204" pitchFamily="34" charset="0"/>
              </a:rPr>
              <a:t>To remove the procedure from the database:</a:t>
            </a:r>
          </a:p>
        </p:txBody>
      </p:sp>
    </p:spTree>
    <p:extLst>
      <p:ext uri="{BB962C8B-B14F-4D97-AF65-F5344CB8AC3E}">
        <p14:creationId xmlns:p14="http://schemas.microsoft.com/office/powerpoint/2010/main" val="788784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CDFC77-BB89-20E4-9D71-2251B3037BBE}"/>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A38E2894-1E3A-6D2E-8F3E-5339AE0E1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4F0C6B2E-006D-B96C-1E8D-00A1B8F8D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5C8ABBAB-BDFC-4ABF-67E1-A159C1FA5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747D27B9-7307-2A2A-1317-5A2E3BAD6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C0ADA07A-9FEC-06BD-2BF4-483C433D6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6D5D7B1E-7EE1-77AF-7004-2285FD9ADD21}"/>
              </a:ext>
            </a:extLst>
          </p:cNvPr>
          <p:cNvSpPr>
            <a:spLocks noGrp="1"/>
          </p:cNvSpPr>
          <p:nvPr>
            <p:ph type="ctrTitle"/>
          </p:nvPr>
        </p:nvSpPr>
        <p:spPr>
          <a:xfrm>
            <a:off x="232229" y="294538"/>
            <a:ext cx="11035321" cy="1033669"/>
          </a:xfrm>
        </p:spPr>
        <p:txBody>
          <a:bodyPr vert="horz" lIns="91440" tIns="45720" rIns="91440" bIns="45720" rtlCol="0" anchor="ctr">
            <a:normAutofit fontScale="90000"/>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Stored Procedure in Oracle – Real Example</a:t>
            </a:r>
          </a:p>
        </p:txBody>
      </p:sp>
      <p:sp>
        <p:nvSpPr>
          <p:cNvPr id="5" name="Slide Number Placeholder 4">
            <a:extLst>
              <a:ext uri="{FF2B5EF4-FFF2-40B4-BE49-F238E27FC236}">
                <a16:creationId xmlns:a16="http://schemas.microsoft.com/office/drawing/2014/main" id="{9BEABD87-B5BB-B6E5-2AF5-1AC266AC7622}"/>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32</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805BCADC-2AEB-38E5-8481-B2D1041B6D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8" name="TextBox 7">
            <a:extLst>
              <a:ext uri="{FF2B5EF4-FFF2-40B4-BE49-F238E27FC236}">
                <a16:creationId xmlns:a16="http://schemas.microsoft.com/office/drawing/2014/main" id="{C07DBC53-B195-08A1-B906-664A1D642885}"/>
              </a:ext>
            </a:extLst>
          </p:cNvPr>
          <p:cNvSpPr txBox="1"/>
          <p:nvPr/>
        </p:nvSpPr>
        <p:spPr>
          <a:xfrm>
            <a:off x="232229" y="1937282"/>
            <a:ext cx="4549633"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GRANT EXECUTE ON </a:t>
            </a:r>
            <a:r>
              <a:rPr lang="en-CA" sz="1200" dirty="0" err="1">
                <a:latin typeface="Tahoma" panose="020B0604030504040204" pitchFamily="34" charset="0"/>
                <a:ea typeface="Tahoma" panose="020B0604030504040204" pitchFamily="34" charset="0"/>
                <a:cs typeface="Tahoma" panose="020B0604030504040204" pitchFamily="34" charset="0"/>
              </a:rPr>
              <a:t>update_employee_salary</a:t>
            </a:r>
            <a:r>
              <a:rPr lang="en-CA" sz="1200" dirty="0">
                <a:latin typeface="Tahoma" panose="020B0604030504040204" pitchFamily="34" charset="0"/>
                <a:ea typeface="Tahoma" panose="020B0604030504040204" pitchFamily="34" charset="0"/>
                <a:cs typeface="Tahoma" panose="020B0604030504040204" pitchFamily="34" charset="0"/>
              </a:rPr>
              <a:t> TO </a:t>
            </a:r>
            <a:r>
              <a:rPr lang="en-CA" sz="1200" dirty="0" err="1">
                <a:latin typeface="Tahoma" panose="020B0604030504040204" pitchFamily="34" charset="0"/>
                <a:ea typeface="Tahoma" panose="020B0604030504040204" pitchFamily="34" charset="0"/>
                <a:cs typeface="Tahoma" panose="020B0604030504040204" pitchFamily="34" charset="0"/>
              </a:rPr>
              <a:t>hr_user</a:t>
            </a:r>
            <a:r>
              <a:rPr lang="en-CA" sz="1200" dirty="0">
                <a:latin typeface="Tahoma" panose="020B0604030504040204" pitchFamily="34" charset="0"/>
                <a:ea typeface="Tahoma" panose="020B0604030504040204" pitchFamily="34" charset="0"/>
                <a:cs typeface="Tahoma" panose="020B0604030504040204" pitchFamily="34" charset="0"/>
              </a:rPr>
              <a:t>;</a:t>
            </a:r>
          </a:p>
        </p:txBody>
      </p:sp>
      <p:sp>
        <p:nvSpPr>
          <p:cNvPr id="7" name="Rectangle 2">
            <a:extLst>
              <a:ext uri="{FF2B5EF4-FFF2-40B4-BE49-F238E27FC236}">
                <a16:creationId xmlns:a16="http://schemas.microsoft.com/office/drawing/2014/main" id="{D4F9E160-60B7-6B27-3AFB-99A314858B04}"/>
              </a:ext>
            </a:extLst>
          </p:cNvPr>
          <p:cNvSpPr>
            <a:spLocks noChangeArrowheads="1"/>
          </p:cNvSpPr>
          <p:nvPr/>
        </p:nvSpPr>
        <p:spPr bwMode="auto">
          <a:xfrm>
            <a:off x="4467069" y="1844950"/>
            <a:ext cx="6591996" cy="461665"/>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5. Granting Permission to Execute the Procedure</a:t>
            </a:r>
          </a:p>
          <a:p>
            <a:r>
              <a:rPr lang="en-CA" sz="1200" dirty="0">
                <a:latin typeface="Tahoma" panose="020B0604030504040204" pitchFamily="34" charset="0"/>
                <a:ea typeface="Tahoma" panose="020B0604030504040204" pitchFamily="34" charset="0"/>
                <a:cs typeface="Tahoma" panose="020B0604030504040204" pitchFamily="34" charset="0"/>
              </a:rPr>
              <a:t>If another user needs to execute the procedure, you can grant access:</a:t>
            </a:r>
          </a:p>
        </p:txBody>
      </p:sp>
      <p:sp>
        <p:nvSpPr>
          <p:cNvPr id="11" name="TextBox 10">
            <a:extLst>
              <a:ext uri="{FF2B5EF4-FFF2-40B4-BE49-F238E27FC236}">
                <a16:creationId xmlns:a16="http://schemas.microsoft.com/office/drawing/2014/main" id="{C480960A-3A1D-744A-5F6F-B2C5703F09A3}"/>
              </a:ext>
            </a:extLst>
          </p:cNvPr>
          <p:cNvSpPr txBox="1"/>
          <p:nvPr/>
        </p:nvSpPr>
        <p:spPr>
          <a:xfrm>
            <a:off x="5871538" y="2821582"/>
            <a:ext cx="5052616" cy="27699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	SELECT OBJECT_NAME FROM USER_PROCEDURES;</a:t>
            </a:r>
          </a:p>
        </p:txBody>
      </p:sp>
      <p:sp>
        <p:nvSpPr>
          <p:cNvPr id="15" name="TextBox 14">
            <a:extLst>
              <a:ext uri="{FF2B5EF4-FFF2-40B4-BE49-F238E27FC236}">
                <a16:creationId xmlns:a16="http://schemas.microsoft.com/office/drawing/2014/main" id="{1A313AA1-1492-B491-C094-ECBC6B7B20CC}"/>
              </a:ext>
            </a:extLst>
          </p:cNvPr>
          <p:cNvSpPr txBox="1"/>
          <p:nvPr/>
        </p:nvSpPr>
        <p:spPr>
          <a:xfrm>
            <a:off x="232229" y="2729250"/>
            <a:ext cx="6093500" cy="461665"/>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6. Checking Existing Procedures in the Database</a:t>
            </a:r>
          </a:p>
          <a:p>
            <a:r>
              <a:rPr lang="en-CA" sz="1200" dirty="0">
                <a:latin typeface="Tahoma" panose="020B0604030504040204" pitchFamily="34" charset="0"/>
                <a:ea typeface="Tahoma" panose="020B0604030504040204" pitchFamily="34" charset="0"/>
                <a:cs typeface="Tahoma" panose="020B0604030504040204" pitchFamily="34" charset="0"/>
              </a:rPr>
              <a:t>To list all procedures in the system:</a:t>
            </a:r>
          </a:p>
        </p:txBody>
      </p:sp>
      <p:graphicFrame>
        <p:nvGraphicFramePr>
          <p:cNvPr id="2" name="Table 1">
            <a:extLst>
              <a:ext uri="{FF2B5EF4-FFF2-40B4-BE49-F238E27FC236}">
                <a16:creationId xmlns:a16="http://schemas.microsoft.com/office/drawing/2014/main" id="{09D03FCA-B23B-020F-CF7F-D9F8ACABF916}"/>
              </a:ext>
            </a:extLst>
          </p:cNvPr>
          <p:cNvGraphicFramePr>
            <a:graphicFrameLocks noGrp="1"/>
          </p:cNvGraphicFramePr>
          <p:nvPr>
            <p:extLst>
              <p:ext uri="{D42A27DB-BD31-4B8C-83A1-F6EECF244321}">
                <p14:modId xmlns:p14="http://schemas.microsoft.com/office/powerpoint/2010/main" val="150319732"/>
              </p:ext>
            </p:extLst>
          </p:nvPr>
        </p:nvGraphicFramePr>
        <p:xfrm>
          <a:off x="230031" y="3346704"/>
          <a:ext cx="11310805" cy="2144042"/>
        </p:xfrm>
        <a:graphic>
          <a:graphicData uri="http://schemas.openxmlformats.org/drawingml/2006/table">
            <a:tbl>
              <a:tblPr>
                <a:tableStyleId>{775DCB02-9BB8-47FD-8907-85C794F793BA}</a:tableStyleId>
              </a:tblPr>
              <a:tblGrid>
                <a:gridCol w="4186255">
                  <a:extLst>
                    <a:ext uri="{9D8B030D-6E8A-4147-A177-3AD203B41FA5}">
                      <a16:colId xmlns:a16="http://schemas.microsoft.com/office/drawing/2014/main" val="1438671846"/>
                    </a:ext>
                  </a:extLst>
                </a:gridCol>
                <a:gridCol w="7124550">
                  <a:extLst>
                    <a:ext uri="{9D8B030D-6E8A-4147-A177-3AD203B41FA5}">
                      <a16:colId xmlns:a16="http://schemas.microsoft.com/office/drawing/2014/main" val="2884755064"/>
                    </a:ext>
                  </a:extLst>
                </a:gridCol>
              </a:tblGrid>
              <a:tr h="237429">
                <a:tc>
                  <a:txBody>
                    <a:bodyPr/>
                    <a:lstStyle/>
                    <a:p>
                      <a:r>
                        <a:rPr lang="en-US" sz="1200" b="1">
                          <a:latin typeface="Tahoma" panose="020B0604030504040204" pitchFamily="34" charset="0"/>
                          <a:ea typeface="Tahoma" panose="020B0604030504040204" pitchFamily="34" charset="0"/>
                          <a:cs typeface="Tahoma" panose="020B0604030504040204" pitchFamily="34" charset="0"/>
                        </a:rPr>
                        <a:t>Action</a:t>
                      </a:r>
                    </a:p>
                  </a:txBody>
                  <a:tcPr anchor="ctr"/>
                </a:tc>
                <a:tc>
                  <a:txBody>
                    <a:bodyPr/>
                    <a:lstStyle/>
                    <a:p>
                      <a:r>
                        <a:rPr lang="en-US" sz="1200" b="1" dirty="0">
                          <a:latin typeface="Tahoma" panose="020B0604030504040204" pitchFamily="34" charset="0"/>
                          <a:ea typeface="Tahoma" panose="020B0604030504040204" pitchFamily="34" charset="0"/>
                          <a:cs typeface="Tahoma" panose="020B0604030504040204" pitchFamily="34" charset="0"/>
                        </a:rPr>
                        <a:t>SQL Command</a:t>
                      </a:r>
                    </a:p>
                  </a:txBody>
                  <a:tcPr anchor="ctr"/>
                </a:tc>
                <a:extLst>
                  <a:ext uri="{0D108BD9-81ED-4DB2-BD59-A6C34878D82A}">
                    <a16:rowId xmlns:a16="http://schemas.microsoft.com/office/drawing/2014/main" val="293913937"/>
                  </a:ext>
                </a:extLst>
              </a:tr>
              <a:tr h="386221">
                <a:tc>
                  <a:txBody>
                    <a:bodyPr/>
                    <a:lstStyle/>
                    <a:p>
                      <a:r>
                        <a:rPr lang="en-US" sz="1200" b="1" dirty="0">
                          <a:latin typeface="Tahoma" panose="020B0604030504040204" pitchFamily="34" charset="0"/>
                          <a:ea typeface="Tahoma" panose="020B0604030504040204" pitchFamily="34" charset="0"/>
                          <a:cs typeface="Tahoma" panose="020B0604030504040204" pitchFamily="34" charset="0"/>
                        </a:rPr>
                        <a:t>Create a procedure</a:t>
                      </a:r>
                      <a:endParaRPr lang="en-US" sz="1200" dirty="0">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CREATE OR REPLACE PROCEDURE procedure_name AS BEGIN ... END;</a:t>
                      </a:r>
                    </a:p>
                  </a:txBody>
                  <a:tcPr anchor="ctr"/>
                </a:tc>
                <a:extLst>
                  <a:ext uri="{0D108BD9-81ED-4DB2-BD59-A6C34878D82A}">
                    <a16:rowId xmlns:a16="http://schemas.microsoft.com/office/drawing/2014/main" val="1276727591"/>
                  </a:ext>
                </a:extLst>
              </a:tr>
              <a:tr h="237429">
                <a:tc>
                  <a:txBody>
                    <a:bodyPr/>
                    <a:lstStyle/>
                    <a:p>
                      <a:r>
                        <a:rPr lang="en-US" sz="1200" b="1">
                          <a:latin typeface="Tahoma" panose="020B0604030504040204" pitchFamily="34" charset="0"/>
                          <a:ea typeface="Tahoma" panose="020B0604030504040204" pitchFamily="34" charset="0"/>
                          <a:cs typeface="Tahoma" panose="020B0604030504040204" pitchFamily="34" charset="0"/>
                        </a:rPr>
                        <a:t>Execute a procedure</a:t>
                      </a:r>
                      <a:endParaRPr lang="en-US" sz="1200">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CA" sz="1200" dirty="0">
                          <a:latin typeface="Tahoma" panose="020B0604030504040204" pitchFamily="34" charset="0"/>
                          <a:ea typeface="Tahoma" panose="020B0604030504040204" pitchFamily="34" charset="0"/>
                          <a:cs typeface="Tahoma" panose="020B0604030504040204" pitchFamily="34" charset="0"/>
                        </a:rPr>
                        <a:t>BEGIN </a:t>
                      </a:r>
                      <a:r>
                        <a:rPr lang="en-CA" sz="1200" dirty="0" err="1">
                          <a:latin typeface="Tahoma" panose="020B0604030504040204" pitchFamily="34" charset="0"/>
                          <a:ea typeface="Tahoma" panose="020B0604030504040204" pitchFamily="34" charset="0"/>
                          <a:cs typeface="Tahoma" panose="020B0604030504040204" pitchFamily="34" charset="0"/>
                        </a:rPr>
                        <a:t>procedure_name</a:t>
                      </a:r>
                      <a:r>
                        <a:rPr lang="en-CA" sz="1200" dirty="0">
                          <a:latin typeface="Tahoma" panose="020B0604030504040204" pitchFamily="34" charset="0"/>
                          <a:ea typeface="Tahoma" panose="020B0604030504040204" pitchFamily="34" charset="0"/>
                          <a:cs typeface="Tahoma" panose="020B0604030504040204" pitchFamily="34" charset="0"/>
                        </a:rPr>
                        <a:t>(parameters); END; /</a:t>
                      </a:r>
                    </a:p>
                  </a:txBody>
                  <a:tcPr anchor="ctr"/>
                </a:tc>
                <a:extLst>
                  <a:ext uri="{0D108BD9-81ED-4DB2-BD59-A6C34878D82A}">
                    <a16:rowId xmlns:a16="http://schemas.microsoft.com/office/drawing/2014/main" val="2621816628"/>
                  </a:ext>
                </a:extLst>
              </a:tr>
              <a:tr h="386221">
                <a:tc>
                  <a:txBody>
                    <a:bodyPr/>
                    <a:lstStyle/>
                    <a:p>
                      <a:r>
                        <a:rPr lang="en-US" sz="1200" b="1">
                          <a:latin typeface="Tahoma" panose="020B0604030504040204" pitchFamily="34" charset="0"/>
                          <a:ea typeface="Tahoma" panose="020B0604030504040204" pitchFamily="34" charset="0"/>
                          <a:cs typeface="Tahoma" panose="020B0604030504040204" pitchFamily="34" charset="0"/>
                        </a:rPr>
                        <a:t>Alter a procedure</a:t>
                      </a:r>
                      <a:endParaRPr lang="en-US" sz="1200">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CREATE OR REPLACE PROCEDURE procedure_name AS BEGIN ... END;</a:t>
                      </a:r>
                    </a:p>
                  </a:txBody>
                  <a:tcPr anchor="ctr"/>
                </a:tc>
                <a:extLst>
                  <a:ext uri="{0D108BD9-81ED-4DB2-BD59-A6C34878D82A}">
                    <a16:rowId xmlns:a16="http://schemas.microsoft.com/office/drawing/2014/main" val="4169928073"/>
                  </a:ext>
                </a:extLst>
              </a:tr>
              <a:tr h="237429">
                <a:tc>
                  <a:txBody>
                    <a:bodyPr/>
                    <a:lstStyle/>
                    <a:p>
                      <a:r>
                        <a:rPr lang="en-US" sz="1200" b="1">
                          <a:latin typeface="Tahoma" panose="020B0604030504040204" pitchFamily="34" charset="0"/>
                          <a:ea typeface="Tahoma" panose="020B0604030504040204" pitchFamily="34" charset="0"/>
                          <a:cs typeface="Tahoma" panose="020B0604030504040204" pitchFamily="34" charset="0"/>
                        </a:rPr>
                        <a:t>Drop a procedure</a:t>
                      </a:r>
                      <a:endParaRPr lang="en-US" sz="1200">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US" sz="1200" dirty="0">
                          <a:latin typeface="Tahoma" panose="020B0604030504040204" pitchFamily="34" charset="0"/>
                          <a:ea typeface="Tahoma" panose="020B0604030504040204" pitchFamily="34" charset="0"/>
                          <a:cs typeface="Tahoma" panose="020B0604030504040204" pitchFamily="34" charset="0"/>
                        </a:rPr>
                        <a:t>DROP PROCEDURE </a:t>
                      </a:r>
                      <a:r>
                        <a:rPr lang="en-US" sz="1200" dirty="0" err="1">
                          <a:latin typeface="Tahoma" panose="020B0604030504040204" pitchFamily="34" charset="0"/>
                          <a:ea typeface="Tahoma" panose="020B0604030504040204" pitchFamily="34" charset="0"/>
                          <a:cs typeface="Tahoma" panose="020B0604030504040204" pitchFamily="34" charset="0"/>
                        </a:rPr>
                        <a:t>procedure_name</a:t>
                      </a:r>
                      <a:r>
                        <a:rPr lang="en-US" sz="1200" dirty="0">
                          <a:latin typeface="Tahoma" panose="020B0604030504040204" pitchFamily="34" charset="0"/>
                          <a:ea typeface="Tahoma" panose="020B0604030504040204" pitchFamily="34" charset="0"/>
                          <a:cs typeface="Tahoma" panose="020B0604030504040204" pitchFamily="34" charset="0"/>
                        </a:rPr>
                        <a:t>;</a:t>
                      </a:r>
                    </a:p>
                  </a:txBody>
                  <a:tcPr anchor="ctr"/>
                </a:tc>
                <a:extLst>
                  <a:ext uri="{0D108BD9-81ED-4DB2-BD59-A6C34878D82A}">
                    <a16:rowId xmlns:a16="http://schemas.microsoft.com/office/drawing/2014/main" val="252368590"/>
                  </a:ext>
                </a:extLst>
              </a:tr>
              <a:tr h="237429">
                <a:tc>
                  <a:txBody>
                    <a:bodyPr/>
                    <a:lstStyle/>
                    <a:p>
                      <a:r>
                        <a:rPr lang="en-US" sz="1200" b="1">
                          <a:latin typeface="Tahoma" panose="020B0604030504040204" pitchFamily="34" charset="0"/>
                          <a:ea typeface="Tahoma" panose="020B0604030504040204" pitchFamily="34" charset="0"/>
                          <a:cs typeface="Tahoma" panose="020B0604030504040204" pitchFamily="34" charset="0"/>
                        </a:rPr>
                        <a:t>Grant execution rights</a:t>
                      </a:r>
                      <a:endParaRPr lang="en-US" sz="1200">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GRANT EXECUTE ON procedure_name TO user;</a:t>
                      </a:r>
                    </a:p>
                  </a:txBody>
                  <a:tcPr anchor="ctr"/>
                </a:tc>
                <a:extLst>
                  <a:ext uri="{0D108BD9-81ED-4DB2-BD59-A6C34878D82A}">
                    <a16:rowId xmlns:a16="http://schemas.microsoft.com/office/drawing/2014/main" val="3634987681"/>
                  </a:ext>
                </a:extLst>
              </a:tr>
              <a:tr h="237429">
                <a:tc>
                  <a:txBody>
                    <a:bodyPr/>
                    <a:lstStyle/>
                    <a:p>
                      <a:r>
                        <a:rPr lang="en-US" sz="1200" b="1">
                          <a:latin typeface="Tahoma" panose="020B0604030504040204" pitchFamily="34" charset="0"/>
                          <a:ea typeface="Tahoma" panose="020B0604030504040204" pitchFamily="34" charset="0"/>
                          <a:cs typeface="Tahoma" panose="020B0604030504040204" pitchFamily="34" charset="0"/>
                        </a:rPr>
                        <a:t>Check stored procedures</a:t>
                      </a:r>
                      <a:endParaRPr lang="en-US" sz="1200">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US" sz="1200" dirty="0">
                          <a:latin typeface="Tahoma" panose="020B0604030504040204" pitchFamily="34" charset="0"/>
                          <a:ea typeface="Tahoma" panose="020B0604030504040204" pitchFamily="34" charset="0"/>
                          <a:cs typeface="Tahoma" panose="020B0604030504040204" pitchFamily="34" charset="0"/>
                        </a:rPr>
                        <a:t>SELECT * FROM USER_PROCEDURES;</a:t>
                      </a:r>
                    </a:p>
                  </a:txBody>
                  <a:tcPr anchor="ctr"/>
                </a:tc>
                <a:extLst>
                  <a:ext uri="{0D108BD9-81ED-4DB2-BD59-A6C34878D82A}">
                    <a16:rowId xmlns:a16="http://schemas.microsoft.com/office/drawing/2014/main" val="3797309617"/>
                  </a:ext>
                </a:extLst>
              </a:tr>
            </a:tbl>
          </a:graphicData>
        </a:graphic>
      </p:graphicFrame>
      <p:sp>
        <p:nvSpPr>
          <p:cNvPr id="9" name="Thought Bubble: Cloud 8">
            <a:extLst>
              <a:ext uri="{FF2B5EF4-FFF2-40B4-BE49-F238E27FC236}">
                <a16:creationId xmlns:a16="http://schemas.microsoft.com/office/drawing/2014/main" id="{B81529CC-200A-2895-2ADB-FE1FF9FD2276}"/>
              </a:ext>
            </a:extLst>
          </p:cNvPr>
          <p:cNvSpPr/>
          <p:nvPr/>
        </p:nvSpPr>
        <p:spPr>
          <a:xfrm>
            <a:off x="4781862" y="5738869"/>
            <a:ext cx="4847047" cy="913899"/>
          </a:xfrm>
          <a:prstGeom prst="cloudCallout">
            <a:avLst>
              <a:gd name="adj1" fmla="val -44939"/>
              <a:gd name="adj2" fmla="val -70439"/>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800" dirty="0">
                <a:latin typeface="Tahoma" panose="020B0604030504040204" pitchFamily="34" charset="0"/>
                <a:ea typeface="Tahoma" panose="020B0604030504040204" pitchFamily="34" charset="0"/>
                <a:cs typeface="Tahoma" panose="020B0604030504040204" pitchFamily="34" charset="0"/>
              </a:rPr>
              <a:t>Summary</a:t>
            </a:r>
          </a:p>
        </p:txBody>
      </p:sp>
    </p:spTree>
    <p:extLst>
      <p:ext uri="{BB962C8B-B14F-4D97-AF65-F5344CB8AC3E}">
        <p14:creationId xmlns:p14="http://schemas.microsoft.com/office/powerpoint/2010/main" val="232133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CASE Statements</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33</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 name="Rectangle 1">
            <a:extLst>
              <a:ext uri="{FF2B5EF4-FFF2-40B4-BE49-F238E27FC236}">
                <a16:creationId xmlns:a16="http://schemas.microsoft.com/office/drawing/2014/main" id="{FC55669F-D62F-10DA-3AB1-427120D992DB}"/>
              </a:ext>
            </a:extLst>
          </p:cNvPr>
          <p:cNvSpPr>
            <a:spLocks noChangeArrowheads="1"/>
          </p:cNvSpPr>
          <p:nvPr/>
        </p:nvSpPr>
        <p:spPr bwMode="auto">
          <a:xfrm>
            <a:off x="123824" y="1637736"/>
            <a:ext cx="109352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CASE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statement is useful when you have multiple conditions based on the same expression. It evaluates an expression and executes the corresponding block of code for the first matching value. </a:t>
            </a:r>
          </a:p>
        </p:txBody>
      </p:sp>
      <p:sp>
        <p:nvSpPr>
          <p:cNvPr id="7" name="TextBox 6">
            <a:extLst>
              <a:ext uri="{FF2B5EF4-FFF2-40B4-BE49-F238E27FC236}">
                <a16:creationId xmlns:a16="http://schemas.microsoft.com/office/drawing/2014/main" id="{D88F1960-2C25-DEB7-B539-3AAFECD694CF}"/>
              </a:ext>
            </a:extLst>
          </p:cNvPr>
          <p:cNvSpPr txBox="1"/>
          <p:nvPr/>
        </p:nvSpPr>
        <p:spPr>
          <a:xfrm>
            <a:off x="7039429" y="2184682"/>
            <a:ext cx="3875314"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2.  SEARCH CASE:</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CASE</a:t>
            </a:r>
          </a:p>
          <a:p>
            <a:r>
              <a:rPr lang="en-CA" sz="1200" dirty="0">
                <a:latin typeface="Tahoma" panose="020B0604030504040204" pitchFamily="34" charset="0"/>
                <a:ea typeface="Tahoma" panose="020B0604030504040204" pitchFamily="34" charset="0"/>
                <a:cs typeface="Tahoma" panose="020B0604030504040204" pitchFamily="34" charset="0"/>
              </a:rPr>
              <a:t>    WHEN condition1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a:t>
            </a:r>
          </a:p>
          <a:p>
            <a:r>
              <a:rPr lang="en-CA" sz="1200" dirty="0">
                <a:latin typeface="Tahoma" panose="020B0604030504040204" pitchFamily="34" charset="0"/>
                <a:ea typeface="Tahoma" panose="020B0604030504040204" pitchFamily="34" charset="0"/>
                <a:cs typeface="Tahoma" panose="020B0604030504040204" pitchFamily="34" charset="0"/>
              </a:rPr>
              <a:t>    WHEN condition2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a:t>
            </a:r>
          </a:p>
          <a:p>
            <a:r>
              <a:rPr lang="en-CA" sz="1200" dirty="0">
                <a:latin typeface="Tahoma" panose="020B0604030504040204" pitchFamily="34" charset="0"/>
                <a:ea typeface="Tahoma" panose="020B0604030504040204" pitchFamily="34" charset="0"/>
                <a:cs typeface="Tahoma" panose="020B0604030504040204" pitchFamily="34" charset="0"/>
              </a:rPr>
              <a:t>    ELSE</a:t>
            </a:r>
          </a:p>
          <a:p>
            <a:r>
              <a:rPr lang="en-CA" sz="12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statements if no conditions match</a:t>
            </a:r>
          </a:p>
          <a:p>
            <a:r>
              <a:rPr lang="en-CA" sz="1200" dirty="0">
                <a:latin typeface="Tahoma" panose="020B0604030504040204" pitchFamily="34" charset="0"/>
                <a:ea typeface="Tahoma" panose="020B0604030504040204" pitchFamily="34" charset="0"/>
                <a:cs typeface="Tahoma" panose="020B0604030504040204" pitchFamily="34" charset="0"/>
              </a:rPr>
              <a:t>END CASE;</a:t>
            </a:r>
          </a:p>
          <a:p>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346E257C-1C2A-FC0E-D58B-3AFAFB125A5C}"/>
              </a:ext>
            </a:extLst>
          </p:cNvPr>
          <p:cNvSpPr txBox="1"/>
          <p:nvPr/>
        </p:nvSpPr>
        <p:spPr>
          <a:xfrm>
            <a:off x="357750" y="4080779"/>
            <a:ext cx="3875314"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28600" indent="-228600">
              <a:buAutoNum type="arabicPeriod"/>
            </a:pPr>
            <a:r>
              <a:rPr lang="en-US" sz="1200" b="1" dirty="0">
                <a:latin typeface="Tahoma" panose="020B0604030504040204" pitchFamily="34" charset="0"/>
                <a:ea typeface="Tahoma" panose="020B0604030504040204" pitchFamily="34" charset="0"/>
                <a:cs typeface="Tahoma" panose="020B0604030504040204" pitchFamily="34" charset="0"/>
              </a:rPr>
              <a:t>SIMPLE CASE:</a:t>
            </a:r>
          </a:p>
          <a:p>
            <a:pPr marL="228600" indent="-228600">
              <a:buAutoNum type="arabicPeriod"/>
            </a:pPr>
            <a:endParaRPr lang="en-US"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CASE expression</a:t>
            </a:r>
          </a:p>
          <a:p>
            <a:r>
              <a:rPr lang="en-CA" sz="1200" dirty="0">
                <a:latin typeface="Tahoma" panose="020B0604030504040204" pitchFamily="34" charset="0"/>
                <a:ea typeface="Tahoma" panose="020B0604030504040204" pitchFamily="34" charset="0"/>
                <a:cs typeface="Tahoma" panose="020B0604030504040204" pitchFamily="34" charset="0"/>
              </a:rPr>
              <a:t>    WHEN value1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a:t>
            </a:r>
          </a:p>
          <a:p>
            <a:r>
              <a:rPr lang="en-CA" sz="1200" dirty="0">
                <a:latin typeface="Tahoma" panose="020B0604030504040204" pitchFamily="34" charset="0"/>
                <a:ea typeface="Tahoma" panose="020B0604030504040204" pitchFamily="34" charset="0"/>
                <a:cs typeface="Tahoma" panose="020B0604030504040204" pitchFamily="34" charset="0"/>
              </a:rPr>
              <a:t>    WHEN value2 THEN</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a:t>
            </a:r>
          </a:p>
          <a:p>
            <a:r>
              <a:rPr lang="en-CA" sz="1200" dirty="0">
                <a:latin typeface="Tahoma" panose="020B0604030504040204" pitchFamily="34" charset="0"/>
                <a:ea typeface="Tahoma" panose="020B0604030504040204" pitchFamily="34" charset="0"/>
                <a:cs typeface="Tahoma" panose="020B0604030504040204" pitchFamily="34" charset="0"/>
              </a:rPr>
              <a:t>    ELSE</a:t>
            </a:r>
          </a:p>
          <a:p>
            <a:r>
              <a:rPr lang="en-CA" sz="1200" i="1" dirty="0">
                <a:solidFill>
                  <a:schemeClr val="tx1"/>
                </a:solidFill>
                <a:highlight>
                  <a:srgbClr val="C0C0C0"/>
                </a:highlight>
                <a:latin typeface="Tahoma" panose="020B0604030504040204" pitchFamily="34" charset="0"/>
                <a:ea typeface="Tahoma" panose="020B0604030504040204" pitchFamily="34" charset="0"/>
                <a:cs typeface="Tahoma" panose="020B0604030504040204" pitchFamily="34" charset="0"/>
              </a:rPr>
              <a:t>        -- statements if no values match</a:t>
            </a:r>
          </a:p>
          <a:p>
            <a:r>
              <a:rPr lang="en-CA" sz="1200" dirty="0">
                <a:latin typeface="Tahoma" panose="020B0604030504040204" pitchFamily="34" charset="0"/>
                <a:ea typeface="Tahoma" panose="020B0604030504040204" pitchFamily="34" charset="0"/>
                <a:cs typeface="Tahoma" panose="020B0604030504040204" pitchFamily="34" charset="0"/>
              </a:rPr>
              <a:t>END CASE;</a:t>
            </a:r>
          </a:p>
        </p:txBody>
      </p:sp>
    </p:spTree>
    <p:extLst>
      <p:ext uri="{BB962C8B-B14F-4D97-AF65-F5344CB8AC3E}">
        <p14:creationId xmlns:p14="http://schemas.microsoft.com/office/powerpoint/2010/main" val="3211712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54B63A-B149-412B-DCDC-771F3F3F4760}"/>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E1C2BB40-BFF7-BB47-6975-1A1D16064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2FC47C9-BBF3-AF0C-0054-33E3B4979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E0CE3795-3126-A9CD-B2B6-2D0DC9813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AB9F4DE3-7EFB-E02B-B20E-68FFA5F0B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CEBA32B5-2B1A-723D-3E86-62BD80FF8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6AD266F2-DFBA-B721-8EE4-1E1DC9E05642}"/>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Example: CASE Statements</a:t>
            </a:r>
          </a:p>
        </p:txBody>
      </p:sp>
      <p:sp>
        <p:nvSpPr>
          <p:cNvPr id="5" name="Slide Number Placeholder 4">
            <a:extLst>
              <a:ext uri="{FF2B5EF4-FFF2-40B4-BE49-F238E27FC236}">
                <a16:creationId xmlns:a16="http://schemas.microsoft.com/office/drawing/2014/main" id="{9F25F78C-4D76-C090-2442-20446ABA6386}"/>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34</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626F10C6-F400-2155-2F45-ACA706B95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14" name="TextBox 13">
            <a:extLst>
              <a:ext uri="{FF2B5EF4-FFF2-40B4-BE49-F238E27FC236}">
                <a16:creationId xmlns:a16="http://schemas.microsoft.com/office/drawing/2014/main" id="{65B336D7-8810-863C-451A-4EE2663E1123}"/>
              </a:ext>
            </a:extLst>
          </p:cNvPr>
          <p:cNvSpPr txBox="1"/>
          <p:nvPr/>
        </p:nvSpPr>
        <p:spPr>
          <a:xfrm>
            <a:off x="232229" y="2496528"/>
            <a:ext cx="4812178" cy="432426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100" dirty="0">
                <a:latin typeface="Tahoma" panose="020B0604030504040204" pitchFamily="34" charset="0"/>
                <a:ea typeface="Tahoma" panose="020B0604030504040204" pitchFamily="34" charset="0"/>
                <a:cs typeface="Tahoma" panose="020B0604030504040204" pitchFamily="34" charset="0"/>
              </a:rPr>
              <a:t>DECLARE</a:t>
            </a:r>
          </a:p>
          <a:p>
            <a:r>
              <a:rPr lang="en-CA" sz="1100" dirty="0">
                <a:latin typeface="Tahoma" panose="020B0604030504040204" pitchFamily="34" charset="0"/>
                <a:ea typeface="Tahoma" panose="020B0604030504040204" pitchFamily="34" charset="0"/>
                <a:cs typeface="Tahoma" panose="020B0604030504040204" pitchFamily="34" charset="0"/>
              </a:rPr>
              <a:t>    grade CHAR(1) := 'B';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Example grade</a:t>
            </a:r>
          </a:p>
          <a:p>
            <a:r>
              <a:rPr lang="en-CA" sz="1100" dirty="0">
                <a:latin typeface="Tahoma" panose="020B0604030504040204" pitchFamily="34" charset="0"/>
                <a:ea typeface="Tahoma" panose="020B0604030504040204" pitchFamily="34" charset="0"/>
                <a:cs typeface="Tahoma" panose="020B0604030504040204" pitchFamily="34" charset="0"/>
              </a:rPr>
              <a:t>    message VARCHAR2(100); </a:t>
            </a:r>
            <a:r>
              <a:rPr lang="en-CA" sz="1100" i="1" dirty="0">
                <a:highlight>
                  <a:srgbClr val="C0C0C0"/>
                </a:highlight>
                <a:latin typeface="Tahoma" panose="020B0604030504040204" pitchFamily="34" charset="0"/>
                <a:ea typeface="Tahoma" panose="020B0604030504040204" pitchFamily="34" charset="0"/>
                <a:cs typeface="Tahoma" panose="020B0604030504040204" pitchFamily="34" charset="0"/>
              </a:rPr>
              <a:t>-- Variable to hold the message</a:t>
            </a:r>
          </a:p>
          <a:p>
            <a:r>
              <a:rPr lang="en-CA" sz="1100" dirty="0">
                <a:latin typeface="Tahoma" panose="020B0604030504040204" pitchFamily="34" charset="0"/>
                <a:ea typeface="Tahoma" panose="020B0604030504040204" pitchFamily="34" charset="0"/>
                <a:cs typeface="Tahoma" panose="020B0604030504040204" pitchFamily="34" charset="0"/>
              </a:rPr>
              <a:t>BEGIN</a:t>
            </a:r>
          </a:p>
          <a:p>
            <a:r>
              <a:rPr lang="en-CA" sz="1100" dirty="0">
                <a:latin typeface="Tahoma" panose="020B0604030504040204" pitchFamily="34" charset="0"/>
                <a:ea typeface="Tahoma" panose="020B0604030504040204" pitchFamily="34" charset="0"/>
                <a:cs typeface="Tahoma" panose="020B0604030504040204" pitchFamily="34" charset="0"/>
              </a:rPr>
              <a:t>    CASE grade</a:t>
            </a:r>
          </a:p>
          <a:p>
            <a:r>
              <a:rPr lang="en-CA" sz="1100" dirty="0">
                <a:latin typeface="Tahoma" panose="020B0604030504040204" pitchFamily="34" charset="0"/>
                <a:ea typeface="Tahoma" panose="020B0604030504040204" pitchFamily="34" charset="0"/>
                <a:cs typeface="Tahoma" panose="020B0604030504040204" pitchFamily="34" charset="0"/>
              </a:rPr>
              <a:t>        WHEN 'A' THEN</a:t>
            </a:r>
          </a:p>
          <a:p>
            <a:r>
              <a:rPr lang="en-CA" sz="1100" dirty="0">
                <a:latin typeface="Tahoma" panose="020B0604030504040204" pitchFamily="34" charset="0"/>
                <a:ea typeface="Tahoma" panose="020B0604030504040204" pitchFamily="34" charset="0"/>
                <a:cs typeface="Tahoma" panose="020B0604030504040204" pitchFamily="34" charset="0"/>
              </a:rPr>
              <a:t>            message := 'Excellent work!';</a:t>
            </a:r>
          </a:p>
          <a:p>
            <a:r>
              <a:rPr lang="en-CA" sz="1100" dirty="0">
                <a:latin typeface="Tahoma" panose="020B0604030504040204" pitchFamily="34" charset="0"/>
                <a:ea typeface="Tahoma" panose="020B0604030504040204" pitchFamily="34" charset="0"/>
                <a:cs typeface="Tahoma" panose="020B0604030504040204" pitchFamily="34" charset="0"/>
              </a:rPr>
              <a:t>        WHEN 'B' THEN</a:t>
            </a:r>
          </a:p>
          <a:p>
            <a:r>
              <a:rPr lang="en-CA" sz="1100" dirty="0">
                <a:latin typeface="Tahoma" panose="020B0604030504040204" pitchFamily="34" charset="0"/>
                <a:ea typeface="Tahoma" panose="020B0604030504040204" pitchFamily="34" charset="0"/>
                <a:cs typeface="Tahoma" panose="020B0604030504040204" pitchFamily="34" charset="0"/>
              </a:rPr>
              <a:t>            message := 'Good job!';</a:t>
            </a:r>
          </a:p>
          <a:p>
            <a:r>
              <a:rPr lang="en-CA" sz="1100" dirty="0">
                <a:latin typeface="Tahoma" panose="020B0604030504040204" pitchFamily="34" charset="0"/>
                <a:ea typeface="Tahoma" panose="020B0604030504040204" pitchFamily="34" charset="0"/>
                <a:cs typeface="Tahoma" panose="020B0604030504040204" pitchFamily="34" charset="0"/>
              </a:rPr>
              <a:t>        WHEN 'C' THEN</a:t>
            </a:r>
          </a:p>
          <a:p>
            <a:r>
              <a:rPr lang="en-CA" sz="1100" dirty="0">
                <a:latin typeface="Tahoma" panose="020B0604030504040204" pitchFamily="34" charset="0"/>
                <a:ea typeface="Tahoma" panose="020B0604030504040204" pitchFamily="34" charset="0"/>
                <a:cs typeface="Tahoma" panose="020B0604030504040204" pitchFamily="34" charset="0"/>
              </a:rPr>
              <a:t>            message := 'Fair performance.';</a:t>
            </a:r>
          </a:p>
          <a:p>
            <a:r>
              <a:rPr lang="en-CA" sz="1100" dirty="0">
                <a:latin typeface="Tahoma" panose="020B0604030504040204" pitchFamily="34" charset="0"/>
                <a:ea typeface="Tahoma" panose="020B0604030504040204" pitchFamily="34" charset="0"/>
                <a:cs typeface="Tahoma" panose="020B0604030504040204" pitchFamily="34" charset="0"/>
              </a:rPr>
              <a:t>        WHEN 'D' THEN</a:t>
            </a:r>
          </a:p>
          <a:p>
            <a:r>
              <a:rPr lang="en-CA" sz="1100" dirty="0">
                <a:latin typeface="Tahoma" panose="020B0604030504040204" pitchFamily="34" charset="0"/>
                <a:ea typeface="Tahoma" panose="020B0604030504040204" pitchFamily="34" charset="0"/>
                <a:cs typeface="Tahoma" panose="020B0604030504040204" pitchFamily="34" charset="0"/>
              </a:rPr>
              <a:t>            message := 'Needs improvement.';</a:t>
            </a:r>
          </a:p>
          <a:p>
            <a:r>
              <a:rPr lang="en-CA" sz="1100" dirty="0">
                <a:latin typeface="Tahoma" panose="020B0604030504040204" pitchFamily="34" charset="0"/>
                <a:ea typeface="Tahoma" panose="020B0604030504040204" pitchFamily="34" charset="0"/>
                <a:cs typeface="Tahoma" panose="020B0604030504040204" pitchFamily="34" charset="0"/>
              </a:rPr>
              <a:t>        WHEN 'F' THEN</a:t>
            </a:r>
          </a:p>
          <a:p>
            <a:r>
              <a:rPr lang="en-CA" sz="1100" dirty="0">
                <a:latin typeface="Tahoma" panose="020B0604030504040204" pitchFamily="34" charset="0"/>
                <a:ea typeface="Tahoma" panose="020B0604030504040204" pitchFamily="34" charset="0"/>
                <a:cs typeface="Tahoma" panose="020B0604030504040204" pitchFamily="34" charset="0"/>
              </a:rPr>
              <a:t>            message := 'Failed. Please try again.';</a:t>
            </a:r>
          </a:p>
          <a:p>
            <a:r>
              <a:rPr lang="en-CA" sz="1100" dirty="0">
                <a:latin typeface="Tahoma" panose="020B0604030504040204" pitchFamily="34" charset="0"/>
                <a:ea typeface="Tahoma" panose="020B0604030504040204" pitchFamily="34" charset="0"/>
                <a:cs typeface="Tahoma" panose="020B0604030504040204" pitchFamily="34" charset="0"/>
              </a:rPr>
              <a:t>        ELSE</a:t>
            </a:r>
          </a:p>
          <a:p>
            <a:r>
              <a:rPr lang="en-CA" sz="1100" dirty="0">
                <a:latin typeface="Tahoma" panose="020B0604030504040204" pitchFamily="34" charset="0"/>
                <a:ea typeface="Tahoma" panose="020B0604030504040204" pitchFamily="34" charset="0"/>
                <a:cs typeface="Tahoma" panose="020B0604030504040204" pitchFamily="34" charset="0"/>
              </a:rPr>
              <a:t>            RAISE_APPLICATION_ERROR(-20001, 'Invalid grade entered.'); </a:t>
            </a:r>
          </a:p>
          <a:p>
            <a:r>
              <a:rPr lang="en-CA" sz="1100" dirty="0">
                <a:latin typeface="Tahoma" panose="020B0604030504040204" pitchFamily="34" charset="0"/>
                <a:ea typeface="Tahoma" panose="020B0604030504040204" pitchFamily="34" charset="0"/>
                <a:cs typeface="Tahoma" panose="020B0604030504040204" pitchFamily="34" charset="0"/>
              </a:rPr>
              <a:t>    END CASE;</a:t>
            </a:r>
          </a:p>
          <a:p>
            <a:endParaRPr lang="en-CA" sz="1100" dirty="0">
              <a:latin typeface="Tahoma" panose="020B0604030504040204" pitchFamily="34" charset="0"/>
              <a:ea typeface="Tahoma" panose="020B0604030504040204" pitchFamily="34" charset="0"/>
              <a:cs typeface="Tahoma" panose="020B0604030504040204" pitchFamily="34" charset="0"/>
            </a:endParaRPr>
          </a:p>
          <a:p>
            <a:r>
              <a:rPr lang="en-CA" sz="1100" dirty="0">
                <a:latin typeface="Tahoma" panose="020B0604030504040204" pitchFamily="34" charset="0"/>
                <a:ea typeface="Tahoma" panose="020B0604030504040204" pitchFamily="34" charset="0"/>
                <a:cs typeface="Tahoma" panose="020B0604030504040204" pitchFamily="34" charset="0"/>
              </a:rPr>
              <a:t>    DBMS_OUTPUT.PUT_LINE('Message: ' || message);</a:t>
            </a:r>
          </a:p>
          <a:p>
            <a:r>
              <a:rPr lang="en-CA" sz="1100" dirty="0">
                <a:latin typeface="Tahoma" panose="020B0604030504040204" pitchFamily="34" charset="0"/>
                <a:ea typeface="Tahoma" panose="020B0604030504040204" pitchFamily="34" charset="0"/>
                <a:cs typeface="Tahoma" panose="020B0604030504040204" pitchFamily="34" charset="0"/>
              </a:rPr>
              <a:t>EXCEPTION</a:t>
            </a:r>
          </a:p>
          <a:p>
            <a:r>
              <a:rPr lang="en-CA" sz="1100" dirty="0">
                <a:latin typeface="Tahoma" panose="020B0604030504040204" pitchFamily="34" charset="0"/>
                <a:ea typeface="Tahoma" panose="020B0604030504040204" pitchFamily="34" charset="0"/>
                <a:cs typeface="Tahoma" panose="020B0604030504040204" pitchFamily="34" charset="0"/>
              </a:rPr>
              <a:t>    WHEN OTHERS THEN</a:t>
            </a:r>
          </a:p>
          <a:p>
            <a:r>
              <a:rPr lang="en-CA" sz="1100" dirty="0">
                <a:latin typeface="Tahoma" panose="020B0604030504040204" pitchFamily="34" charset="0"/>
                <a:ea typeface="Tahoma" panose="020B0604030504040204" pitchFamily="34" charset="0"/>
                <a:cs typeface="Tahoma" panose="020B0604030504040204" pitchFamily="34" charset="0"/>
              </a:rPr>
              <a:t>        DBMS_OUTPUT.PUT_LINE('Error occurred: ' || SQLERRM);</a:t>
            </a:r>
          </a:p>
          <a:p>
            <a:r>
              <a:rPr lang="en-CA" sz="1100" dirty="0">
                <a:latin typeface="Tahoma" panose="020B0604030504040204" pitchFamily="34" charset="0"/>
                <a:ea typeface="Tahoma" panose="020B0604030504040204" pitchFamily="34" charset="0"/>
                <a:cs typeface="Tahoma" panose="020B0604030504040204" pitchFamily="34" charset="0"/>
              </a:rPr>
              <a:t>END;</a:t>
            </a:r>
          </a:p>
          <a:p>
            <a:r>
              <a:rPr lang="en-CA" sz="1100" dirty="0">
                <a:latin typeface="Tahoma" panose="020B0604030504040204" pitchFamily="34" charset="0"/>
                <a:ea typeface="Tahoma" panose="020B0604030504040204" pitchFamily="34" charset="0"/>
                <a:cs typeface="Tahoma" panose="020B0604030504040204" pitchFamily="34" charset="0"/>
              </a:rPr>
              <a:t>/</a:t>
            </a:r>
          </a:p>
        </p:txBody>
      </p:sp>
      <p:sp>
        <p:nvSpPr>
          <p:cNvPr id="17" name="TextBox 16">
            <a:extLst>
              <a:ext uri="{FF2B5EF4-FFF2-40B4-BE49-F238E27FC236}">
                <a16:creationId xmlns:a16="http://schemas.microsoft.com/office/drawing/2014/main" id="{1CD96698-65B3-878F-3B38-A09779CEAE27}"/>
              </a:ext>
            </a:extLst>
          </p:cNvPr>
          <p:cNvSpPr txBox="1"/>
          <p:nvPr/>
        </p:nvSpPr>
        <p:spPr>
          <a:xfrm>
            <a:off x="232229" y="2222078"/>
            <a:ext cx="3771255" cy="276999"/>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Example Using CASE Statement:</a:t>
            </a:r>
          </a:p>
        </p:txBody>
      </p:sp>
      <p:sp>
        <p:nvSpPr>
          <p:cNvPr id="2" name="Rectangle 1">
            <a:extLst>
              <a:ext uri="{FF2B5EF4-FFF2-40B4-BE49-F238E27FC236}">
                <a16:creationId xmlns:a16="http://schemas.microsoft.com/office/drawing/2014/main" id="{C16E7128-DCF4-CD35-3DC7-589982AFDD97}"/>
              </a:ext>
            </a:extLst>
          </p:cNvPr>
          <p:cNvSpPr>
            <a:spLocks noChangeArrowheads="1"/>
          </p:cNvSpPr>
          <p:nvPr/>
        </p:nvSpPr>
        <p:spPr bwMode="auto">
          <a:xfrm>
            <a:off x="123824" y="1637736"/>
            <a:ext cx="109352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CASE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statement is useful when you have multiple conditions based on the same expression. It evaluates an expression and executes the corresponding block of code for the first matching value. </a:t>
            </a:r>
          </a:p>
        </p:txBody>
      </p:sp>
      <p:graphicFrame>
        <p:nvGraphicFramePr>
          <p:cNvPr id="11" name="Table 10">
            <a:extLst>
              <a:ext uri="{FF2B5EF4-FFF2-40B4-BE49-F238E27FC236}">
                <a16:creationId xmlns:a16="http://schemas.microsoft.com/office/drawing/2014/main" id="{076991BB-9CCE-E43A-C0B3-B33A92D31643}"/>
              </a:ext>
            </a:extLst>
          </p:cNvPr>
          <p:cNvGraphicFramePr>
            <a:graphicFrameLocks noGrp="1"/>
          </p:cNvGraphicFramePr>
          <p:nvPr>
            <p:extLst>
              <p:ext uri="{D42A27DB-BD31-4B8C-83A1-F6EECF244321}">
                <p14:modId xmlns:p14="http://schemas.microsoft.com/office/powerpoint/2010/main" val="3007303630"/>
              </p:ext>
            </p:extLst>
          </p:nvPr>
        </p:nvGraphicFramePr>
        <p:xfrm>
          <a:off x="5749889" y="2421371"/>
          <a:ext cx="5084641" cy="1371600"/>
        </p:xfrm>
        <a:graphic>
          <a:graphicData uri="http://schemas.openxmlformats.org/drawingml/2006/table">
            <a:tbl>
              <a:tblPr>
                <a:tableStyleId>{775DCB02-9BB8-47FD-8907-85C794F793BA}</a:tableStyleId>
              </a:tblPr>
              <a:tblGrid>
                <a:gridCol w="775731">
                  <a:extLst>
                    <a:ext uri="{9D8B030D-6E8A-4147-A177-3AD203B41FA5}">
                      <a16:colId xmlns:a16="http://schemas.microsoft.com/office/drawing/2014/main" val="3950947094"/>
                    </a:ext>
                  </a:extLst>
                </a:gridCol>
                <a:gridCol w="4308910">
                  <a:extLst>
                    <a:ext uri="{9D8B030D-6E8A-4147-A177-3AD203B41FA5}">
                      <a16:colId xmlns:a16="http://schemas.microsoft.com/office/drawing/2014/main" val="1902960257"/>
                    </a:ext>
                  </a:extLst>
                </a:gridCol>
              </a:tblGrid>
              <a:tr h="208076">
                <a:tc>
                  <a:txBody>
                    <a:bodyPr/>
                    <a:lstStyle/>
                    <a:p>
                      <a:r>
                        <a:rPr lang="en-US" sz="1200" b="1">
                          <a:latin typeface="Tahoma" panose="020B0604030504040204" pitchFamily="34" charset="0"/>
                          <a:ea typeface="Tahoma" panose="020B0604030504040204" pitchFamily="34" charset="0"/>
                          <a:cs typeface="Tahoma" panose="020B0604030504040204" pitchFamily="34" charset="0"/>
                        </a:rPr>
                        <a:t>grade</a:t>
                      </a:r>
                    </a:p>
                  </a:txBody>
                  <a:tcPr anchor="ctr"/>
                </a:tc>
                <a:tc>
                  <a:txBody>
                    <a:bodyPr/>
                    <a:lstStyle/>
                    <a:p>
                      <a:r>
                        <a:rPr lang="en-US" sz="1200" b="1" dirty="0">
                          <a:latin typeface="Tahoma" panose="020B0604030504040204" pitchFamily="34" charset="0"/>
                          <a:ea typeface="Tahoma" panose="020B0604030504040204" pitchFamily="34" charset="0"/>
                          <a:cs typeface="Tahoma" panose="020B0604030504040204" pitchFamily="34" charset="0"/>
                        </a:rPr>
                        <a:t>Expected Output</a:t>
                      </a:r>
                    </a:p>
                  </a:txBody>
                  <a:tcPr anchor="ctr"/>
                </a:tc>
                <a:extLst>
                  <a:ext uri="{0D108BD9-81ED-4DB2-BD59-A6C34878D82A}">
                    <a16:rowId xmlns:a16="http://schemas.microsoft.com/office/drawing/2014/main" val="1532469820"/>
                  </a:ext>
                </a:extLst>
              </a:tr>
              <a:tr h="208076">
                <a:tc>
                  <a:txBody>
                    <a:bodyPr/>
                    <a:lstStyle/>
                    <a:p>
                      <a:r>
                        <a:rPr lang="en-US" sz="1200">
                          <a:latin typeface="Tahoma" panose="020B0604030504040204" pitchFamily="34" charset="0"/>
                          <a:ea typeface="Tahoma" panose="020B0604030504040204" pitchFamily="34" charset="0"/>
                          <a:cs typeface="Tahoma" panose="020B0604030504040204" pitchFamily="34" charset="0"/>
                        </a:rPr>
                        <a:t>'A'</a:t>
                      </a:r>
                    </a:p>
                  </a:txBody>
                  <a:tcPr anchor="ctr"/>
                </a:tc>
                <a:tc>
                  <a:txBody>
                    <a:bodyPr/>
                    <a:lstStyle/>
                    <a:p>
                      <a:r>
                        <a:rPr lang="en-US" sz="1200">
                          <a:latin typeface="Tahoma" panose="020B0604030504040204" pitchFamily="34" charset="0"/>
                          <a:ea typeface="Tahoma" panose="020B0604030504040204" pitchFamily="34" charset="0"/>
                          <a:cs typeface="Tahoma" panose="020B0604030504040204" pitchFamily="34" charset="0"/>
                        </a:rPr>
                        <a:t>Message: Excellent work!</a:t>
                      </a:r>
                    </a:p>
                  </a:txBody>
                  <a:tcPr anchor="ctr"/>
                </a:tc>
                <a:extLst>
                  <a:ext uri="{0D108BD9-81ED-4DB2-BD59-A6C34878D82A}">
                    <a16:rowId xmlns:a16="http://schemas.microsoft.com/office/drawing/2014/main" val="997379984"/>
                  </a:ext>
                </a:extLst>
              </a:tr>
              <a:tr h="208076">
                <a:tc>
                  <a:txBody>
                    <a:bodyPr/>
                    <a:lstStyle/>
                    <a:p>
                      <a:r>
                        <a:rPr lang="en-US" sz="1200">
                          <a:latin typeface="Tahoma" panose="020B0604030504040204" pitchFamily="34" charset="0"/>
                          <a:ea typeface="Tahoma" panose="020B0604030504040204" pitchFamily="34" charset="0"/>
                          <a:cs typeface="Tahoma" panose="020B0604030504040204" pitchFamily="34" charset="0"/>
                        </a:rPr>
                        <a:t>'B'</a:t>
                      </a:r>
                    </a:p>
                  </a:txBody>
                  <a:tcPr anchor="ctr"/>
                </a:tc>
                <a:tc>
                  <a:txBody>
                    <a:bodyPr/>
                    <a:lstStyle/>
                    <a:p>
                      <a:r>
                        <a:rPr lang="en-US" sz="1200">
                          <a:latin typeface="Tahoma" panose="020B0604030504040204" pitchFamily="34" charset="0"/>
                          <a:ea typeface="Tahoma" panose="020B0604030504040204" pitchFamily="34" charset="0"/>
                          <a:cs typeface="Tahoma" panose="020B0604030504040204" pitchFamily="34" charset="0"/>
                        </a:rPr>
                        <a:t>Message: Good job!</a:t>
                      </a:r>
                    </a:p>
                  </a:txBody>
                  <a:tcPr anchor="ctr"/>
                </a:tc>
                <a:extLst>
                  <a:ext uri="{0D108BD9-81ED-4DB2-BD59-A6C34878D82A}">
                    <a16:rowId xmlns:a16="http://schemas.microsoft.com/office/drawing/2014/main" val="1628765034"/>
                  </a:ext>
                </a:extLst>
              </a:tr>
              <a:tr h="208076">
                <a:tc>
                  <a:txBody>
                    <a:bodyPr/>
                    <a:lstStyle/>
                    <a:p>
                      <a:r>
                        <a:rPr lang="en-US" sz="1200">
                          <a:latin typeface="Tahoma" panose="020B0604030504040204" pitchFamily="34" charset="0"/>
                          <a:ea typeface="Tahoma" panose="020B0604030504040204" pitchFamily="34" charset="0"/>
                          <a:cs typeface="Tahoma" panose="020B0604030504040204" pitchFamily="34" charset="0"/>
                        </a:rPr>
                        <a:t>'F'</a:t>
                      </a:r>
                    </a:p>
                  </a:txBody>
                  <a:tcPr anchor="ctr"/>
                </a:tc>
                <a:tc>
                  <a:txBody>
                    <a:bodyPr/>
                    <a:lstStyle/>
                    <a:p>
                      <a:r>
                        <a:rPr lang="en-CA" sz="1200">
                          <a:latin typeface="Tahoma" panose="020B0604030504040204" pitchFamily="34" charset="0"/>
                          <a:ea typeface="Tahoma" panose="020B0604030504040204" pitchFamily="34" charset="0"/>
                          <a:cs typeface="Tahoma" panose="020B0604030504040204" pitchFamily="34" charset="0"/>
                        </a:rPr>
                        <a:t>Message: Failed. Please try again.</a:t>
                      </a:r>
                    </a:p>
                  </a:txBody>
                  <a:tcPr anchor="ctr"/>
                </a:tc>
                <a:extLst>
                  <a:ext uri="{0D108BD9-81ED-4DB2-BD59-A6C34878D82A}">
                    <a16:rowId xmlns:a16="http://schemas.microsoft.com/office/drawing/2014/main" val="3191265924"/>
                  </a:ext>
                </a:extLst>
              </a:tr>
              <a:tr h="208076">
                <a:tc>
                  <a:txBody>
                    <a:bodyPr/>
                    <a:lstStyle/>
                    <a:p>
                      <a:r>
                        <a:rPr lang="en-US" sz="1200">
                          <a:latin typeface="Tahoma" panose="020B0604030504040204" pitchFamily="34" charset="0"/>
                          <a:ea typeface="Tahoma" panose="020B0604030504040204" pitchFamily="34" charset="0"/>
                          <a:cs typeface="Tahoma" panose="020B0604030504040204" pitchFamily="34" charset="0"/>
                        </a:rPr>
                        <a:t>'X'</a:t>
                      </a:r>
                    </a:p>
                  </a:txBody>
                  <a:tcPr anchor="ctr"/>
                </a:tc>
                <a:tc>
                  <a:txBody>
                    <a:bodyPr/>
                    <a:lstStyle/>
                    <a:p>
                      <a:r>
                        <a:rPr lang="en-US" sz="1200" dirty="0">
                          <a:latin typeface="Tahoma" panose="020B0604030504040204" pitchFamily="34" charset="0"/>
                          <a:ea typeface="Tahoma" panose="020B0604030504040204" pitchFamily="34" charset="0"/>
                          <a:cs typeface="Tahoma" panose="020B0604030504040204" pitchFamily="34" charset="0"/>
                        </a:rPr>
                        <a:t>Error occurred: ORA-20001: Invalid grade entered.</a:t>
                      </a:r>
                    </a:p>
                  </a:txBody>
                  <a:tcPr anchor="ctr"/>
                </a:tc>
                <a:extLst>
                  <a:ext uri="{0D108BD9-81ED-4DB2-BD59-A6C34878D82A}">
                    <a16:rowId xmlns:a16="http://schemas.microsoft.com/office/drawing/2014/main" val="2195136026"/>
                  </a:ext>
                </a:extLst>
              </a:tr>
            </a:tbl>
          </a:graphicData>
        </a:graphic>
      </p:graphicFrame>
      <p:sp>
        <p:nvSpPr>
          <p:cNvPr id="13" name="TextBox 12">
            <a:extLst>
              <a:ext uri="{FF2B5EF4-FFF2-40B4-BE49-F238E27FC236}">
                <a16:creationId xmlns:a16="http://schemas.microsoft.com/office/drawing/2014/main" id="{122489A1-F14B-FF88-6D2D-FF47BA330ADB}"/>
              </a:ext>
            </a:extLst>
          </p:cNvPr>
          <p:cNvSpPr txBox="1"/>
          <p:nvPr/>
        </p:nvSpPr>
        <p:spPr>
          <a:xfrm>
            <a:off x="5749889" y="2108395"/>
            <a:ext cx="3771255" cy="277000"/>
          </a:xfrm>
          <a:prstGeom prst="rect">
            <a:avLst/>
          </a:prstGeom>
          <a:noFill/>
        </p:spPr>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 Sample Inputs &amp; Expected Outputs</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5" name="Rectangle 4">
            <a:extLst>
              <a:ext uri="{FF2B5EF4-FFF2-40B4-BE49-F238E27FC236}">
                <a16:creationId xmlns:a16="http://schemas.microsoft.com/office/drawing/2014/main" id="{E2E5DA2D-08FC-7811-6934-73ACCB0B38B5}"/>
              </a:ext>
            </a:extLst>
          </p:cNvPr>
          <p:cNvSpPr>
            <a:spLocks noChangeArrowheads="1"/>
          </p:cNvSpPr>
          <p:nvPr/>
        </p:nvSpPr>
        <p:spPr bwMode="auto">
          <a:xfrm>
            <a:off x="5749889" y="4299166"/>
            <a:ext cx="620988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Questions for Further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Why is RAISE_APPLICATION_ERROR useful instead of just assigning a message?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How can you modify this procedure 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log errors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into an error-tracking table instead of just printing them?</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How would you modify this if grade were stored in a database column instead of a variable?</a:t>
            </a:r>
          </a:p>
        </p:txBody>
      </p:sp>
    </p:spTree>
    <p:extLst>
      <p:ext uri="{BB962C8B-B14F-4D97-AF65-F5344CB8AC3E}">
        <p14:creationId xmlns:p14="http://schemas.microsoft.com/office/powerpoint/2010/main" val="3975313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3E9E8C-4724-CC7A-8F8B-6AE47ACA2A12}"/>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089CB4F1-B692-E5B4-99C1-6AE7D84F3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2A95F124-68D4-F0C7-561E-444A0964E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343302AF-6710-3044-F157-3A63EEB31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69BDD585-BE79-0D71-5A95-ED1FD26E41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FD4CC1AD-32D2-D659-8409-B937494AB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C779143-A79C-63F3-1DB3-866BADF39163}"/>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PL/SQL Using GOTO Statement</a:t>
            </a:r>
          </a:p>
        </p:txBody>
      </p:sp>
      <p:sp>
        <p:nvSpPr>
          <p:cNvPr id="5" name="Slide Number Placeholder 4">
            <a:extLst>
              <a:ext uri="{FF2B5EF4-FFF2-40B4-BE49-F238E27FC236}">
                <a16:creationId xmlns:a16="http://schemas.microsoft.com/office/drawing/2014/main" id="{FF3FE459-438E-C12E-A4DA-67BAACDEE6B5}"/>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35</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FF5F2765-7861-1F29-2B84-1A56E194C0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24" y="6229763"/>
            <a:ext cx="885288" cy="451802"/>
          </a:xfrm>
          <a:prstGeom prst="rect">
            <a:avLst/>
          </a:prstGeom>
        </p:spPr>
      </p:pic>
      <p:sp>
        <p:nvSpPr>
          <p:cNvPr id="2" name="Rectangle 1">
            <a:extLst>
              <a:ext uri="{FF2B5EF4-FFF2-40B4-BE49-F238E27FC236}">
                <a16:creationId xmlns:a16="http://schemas.microsoft.com/office/drawing/2014/main" id="{4BAE176C-D310-D613-6290-5ED5DF04859B}"/>
              </a:ext>
            </a:extLst>
          </p:cNvPr>
          <p:cNvSpPr>
            <a:spLocks noChangeArrowheads="1"/>
          </p:cNvSpPr>
          <p:nvPr/>
        </p:nvSpPr>
        <p:spPr bwMode="auto">
          <a:xfrm>
            <a:off x="123824" y="1660048"/>
            <a:ext cx="119597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GOTO statement in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allows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you to transfer control unconditionally to a labeled section </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of the code. It can be used in some cases, but it's generally discouraged due to readability and maintainability issues.</a:t>
            </a:r>
          </a:p>
        </p:txBody>
      </p:sp>
      <p:sp>
        <p:nvSpPr>
          <p:cNvPr id="6" name="Rectangle 2">
            <a:extLst>
              <a:ext uri="{FF2B5EF4-FFF2-40B4-BE49-F238E27FC236}">
                <a16:creationId xmlns:a16="http://schemas.microsoft.com/office/drawing/2014/main" id="{AEB13EE2-3BC7-025A-1688-F43509E190D6}"/>
              </a:ext>
            </a:extLst>
          </p:cNvPr>
          <p:cNvSpPr>
            <a:spLocks noChangeArrowheads="1"/>
          </p:cNvSpPr>
          <p:nvPr/>
        </p:nvSpPr>
        <p:spPr bwMode="auto">
          <a:xfrm>
            <a:off x="232229" y="2401615"/>
            <a:ext cx="183588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Basic Example of GOTO </a:t>
            </a:r>
          </a:p>
        </p:txBody>
      </p:sp>
      <p:sp>
        <p:nvSpPr>
          <p:cNvPr id="10" name="Rectangle 3">
            <a:extLst>
              <a:ext uri="{FF2B5EF4-FFF2-40B4-BE49-F238E27FC236}">
                <a16:creationId xmlns:a16="http://schemas.microsoft.com/office/drawing/2014/main" id="{BEC8F2FD-9EED-2AAB-2291-928FC7612C74}"/>
              </a:ext>
            </a:extLst>
          </p:cNvPr>
          <p:cNvSpPr>
            <a:spLocks noChangeArrowheads="1"/>
          </p:cNvSpPr>
          <p:nvPr/>
        </p:nvSpPr>
        <p:spPr bwMode="auto">
          <a:xfrm>
            <a:off x="5181534" y="3327359"/>
            <a:ext cx="6746814" cy="1384995"/>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lvl="3" eaLnBrk="0" fontAlgn="base" hangingPunct="0">
              <a:spcBef>
                <a:spcPct val="0"/>
              </a:spcBef>
              <a:spcAft>
                <a:spcPct val="0"/>
              </a:spcAft>
            </a:pP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Explanation</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If salary &lt; 10000, it jumps to &lt;&lt;</a:t>
            </a:r>
            <a:r>
              <a:rPr kumimoji="0" lang="en-US" altLang="en-US" sz="1200" b="0" i="0" u="none" strike="noStrike" cap="none" normalizeH="0" baseline="0" dirty="0" err="1">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low_salary</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&gt;&gt; and prints "Salary is too low".</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After printing, it </a:t>
            </a: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does not return back</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but continues execution.</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GOTO </a:t>
            </a:r>
            <a:r>
              <a:rPr kumimoji="0" lang="en-US" altLang="en-US" sz="1200" b="1" i="0" u="none" strike="noStrike" cap="none" normalizeH="0" baseline="0" dirty="0" err="1">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end_program</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ensures no unintended execution happens after the first message.</a:t>
            </a:r>
          </a:p>
          <a:p>
            <a:pPr lvl="3" eaLnBrk="0" fontAlgn="base" hangingPunct="0">
              <a:spcBef>
                <a:spcPct val="0"/>
              </a:spcBef>
              <a:spcAft>
                <a:spcPct val="0"/>
              </a:spcAft>
            </a:pPr>
            <a:endPar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DE3532D6-BAF9-9FFF-95AF-4C844EF3B7DC}"/>
              </a:ext>
            </a:extLst>
          </p:cNvPr>
          <p:cNvSpPr txBox="1"/>
          <p:nvPr/>
        </p:nvSpPr>
        <p:spPr>
          <a:xfrm>
            <a:off x="123824" y="2696039"/>
            <a:ext cx="6096000" cy="32316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latin typeface="Tahoma" panose="020B0604030504040204" pitchFamily="34" charset="0"/>
                <a:ea typeface="Tahoma" panose="020B0604030504040204" pitchFamily="34" charset="0"/>
                <a:cs typeface="Tahoma" panose="020B0604030504040204" pitchFamily="34" charset="0"/>
              </a:rPr>
              <a:t>DECLARE</a:t>
            </a:r>
          </a:p>
          <a:p>
            <a:r>
              <a:rPr lang="en-US" sz="1200" dirty="0">
                <a:latin typeface="Tahoma" panose="020B0604030504040204" pitchFamily="34" charset="0"/>
                <a:ea typeface="Tahoma" panose="020B0604030504040204" pitchFamily="34" charset="0"/>
                <a:cs typeface="Tahoma" panose="020B0604030504040204" pitchFamily="34" charset="0"/>
              </a:rPr>
              <a:t>    salary NUMBER := 5000;</a:t>
            </a:r>
          </a:p>
          <a:p>
            <a:r>
              <a:rPr lang="en-US" sz="1200" dirty="0">
                <a:latin typeface="Tahoma" panose="020B0604030504040204" pitchFamily="34" charset="0"/>
                <a:ea typeface="Tahoma" panose="020B0604030504040204" pitchFamily="34" charset="0"/>
                <a:cs typeface="Tahoma" panose="020B0604030504040204" pitchFamily="34" charset="0"/>
              </a:rPr>
              <a:t>BEGIN</a:t>
            </a:r>
          </a:p>
          <a:p>
            <a:r>
              <a:rPr lang="en-US" sz="1200" dirty="0">
                <a:latin typeface="Tahoma" panose="020B0604030504040204" pitchFamily="34" charset="0"/>
                <a:ea typeface="Tahoma" panose="020B0604030504040204" pitchFamily="34" charset="0"/>
                <a:cs typeface="Tahoma" panose="020B0604030504040204" pitchFamily="34" charset="0"/>
              </a:rPr>
              <a:t>    IF salary &lt; 10000 THEN</a:t>
            </a:r>
          </a:p>
          <a:p>
            <a:r>
              <a:rPr lang="en-US" sz="1200" dirty="0">
                <a:latin typeface="Tahoma" panose="020B0604030504040204" pitchFamily="34" charset="0"/>
                <a:ea typeface="Tahoma" panose="020B0604030504040204" pitchFamily="34" charset="0"/>
                <a:cs typeface="Tahoma" panose="020B0604030504040204" pitchFamily="34" charset="0"/>
              </a:rPr>
              <a:t>        GOTO </a:t>
            </a:r>
            <a:r>
              <a:rPr lang="en-US" sz="1200" dirty="0" err="1">
                <a:latin typeface="Tahoma" panose="020B0604030504040204" pitchFamily="34" charset="0"/>
                <a:ea typeface="Tahoma" panose="020B0604030504040204" pitchFamily="34" charset="0"/>
                <a:cs typeface="Tahoma" panose="020B0604030504040204" pitchFamily="34" charset="0"/>
              </a:rPr>
              <a:t>low_salary</a:t>
            </a:r>
            <a:r>
              <a:rPr lang="en-US" sz="1200" dirty="0">
                <a:latin typeface="Tahoma" panose="020B0604030504040204" pitchFamily="34" charset="0"/>
                <a:ea typeface="Tahoma" panose="020B0604030504040204" pitchFamily="34" charset="0"/>
                <a:cs typeface="Tahoma" panose="020B0604030504040204" pitchFamily="34" charset="0"/>
              </a:rPr>
              <a:t>;</a:t>
            </a:r>
          </a:p>
          <a:p>
            <a:r>
              <a:rPr lang="en-US" sz="1200" dirty="0">
                <a:latin typeface="Tahoma" panose="020B0604030504040204" pitchFamily="34" charset="0"/>
                <a:ea typeface="Tahoma" panose="020B0604030504040204" pitchFamily="34" charset="0"/>
                <a:cs typeface="Tahoma" panose="020B0604030504040204" pitchFamily="34" charset="0"/>
              </a:rPr>
              <a:t>    END IF;</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    DBMS_OUTPUT.PUT_LINE('Salary is sufficient.');</a:t>
            </a:r>
          </a:p>
          <a:p>
            <a:r>
              <a:rPr lang="en-US" sz="1200" dirty="0">
                <a:latin typeface="Tahoma" panose="020B0604030504040204" pitchFamily="34" charset="0"/>
                <a:ea typeface="Tahoma" panose="020B0604030504040204" pitchFamily="34" charset="0"/>
                <a:cs typeface="Tahoma" panose="020B0604030504040204" pitchFamily="34" charset="0"/>
              </a:rPr>
              <a:t>    GOTO </a:t>
            </a:r>
            <a:r>
              <a:rPr lang="en-US" sz="1200" dirty="0" err="1">
                <a:latin typeface="Tahoma" panose="020B0604030504040204" pitchFamily="34" charset="0"/>
                <a:ea typeface="Tahoma" panose="020B0604030504040204" pitchFamily="34" charset="0"/>
                <a:cs typeface="Tahoma" panose="020B0604030504040204" pitchFamily="34" charset="0"/>
              </a:rPr>
              <a:t>end_program</a:t>
            </a:r>
            <a:r>
              <a:rPr lang="en-US" sz="1200" dirty="0">
                <a:latin typeface="Tahoma" panose="020B0604030504040204" pitchFamily="34" charset="0"/>
                <a:ea typeface="Tahoma" panose="020B0604030504040204" pitchFamily="34" charset="0"/>
                <a:cs typeface="Tahoma" panose="020B0604030504040204" pitchFamily="34" charset="0"/>
              </a:rPr>
              <a:t>;</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    &lt;&lt;</a:t>
            </a:r>
            <a:r>
              <a:rPr lang="en-US" sz="1200" dirty="0" err="1">
                <a:latin typeface="Tahoma" panose="020B0604030504040204" pitchFamily="34" charset="0"/>
                <a:ea typeface="Tahoma" panose="020B0604030504040204" pitchFamily="34" charset="0"/>
                <a:cs typeface="Tahoma" panose="020B0604030504040204" pitchFamily="34" charset="0"/>
              </a:rPr>
              <a:t>low_salary</a:t>
            </a:r>
            <a:r>
              <a:rPr lang="en-US" sz="1200" dirty="0">
                <a:latin typeface="Tahoma" panose="020B0604030504040204" pitchFamily="34" charset="0"/>
                <a:ea typeface="Tahoma" panose="020B0604030504040204" pitchFamily="34" charset="0"/>
                <a:cs typeface="Tahoma" panose="020B0604030504040204" pitchFamily="34" charset="0"/>
              </a:rPr>
              <a:t>&gt;&gt;</a:t>
            </a:r>
          </a:p>
          <a:p>
            <a:r>
              <a:rPr lang="en-US" sz="1200" dirty="0">
                <a:latin typeface="Tahoma" panose="020B0604030504040204" pitchFamily="34" charset="0"/>
                <a:ea typeface="Tahoma" panose="020B0604030504040204" pitchFamily="34" charset="0"/>
                <a:cs typeface="Tahoma" panose="020B0604030504040204" pitchFamily="34" charset="0"/>
              </a:rPr>
              <a:t>    DBMS_OUTPUT.PUT_LINE('Salary is too low, consider a raise.');</a:t>
            </a: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    &lt;&lt;</a:t>
            </a:r>
            <a:r>
              <a:rPr lang="en-US" sz="1200" dirty="0" err="1">
                <a:latin typeface="Tahoma" panose="020B0604030504040204" pitchFamily="34" charset="0"/>
                <a:ea typeface="Tahoma" panose="020B0604030504040204" pitchFamily="34" charset="0"/>
                <a:cs typeface="Tahoma" panose="020B0604030504040204" pitchFamily="34" charset="0"/>
              </a:rPr>
              <a:t>end_program</a:t>
            </a:r>
            <a:r>
              <a:rPr lang="en-US" sz="1200" dirty="0">
                <a:latin typeface="Tahoma" panose="020B0604030504040204" pitchFamily="34" charset="0"/>
                <a:ea typeface="Tahoma" panose="020B0604030504040204" pitchFamily="34" charset="0"/>
                <a:cs typeface="Tahoma" panose="020B0604030504040204" pitchFamily="34" charset="0"/>
              </a:rPr>
              <a:t>&gt;&gt;</a:t>
            </a:r>
          </a:p>
          <a:p>
            <a:r>
              <a:rPr lang="en-US" sz="1200" dirty="0">
                <a:latin typeface="Tahoma" panose="020B0604030504040204" pitchFamily="34" charset="0"/>
                <a:ea typeface="Tahoma" panose="020B0604030504040204" pitchFamily="34" charset="0"/>
                <a:cs typeface="Tahoma" panose="020B0604030504040204" pitchFamily="34" charset="0"/>
              </a:rPr>
              <a:t>    NULL;</a:t>
            </a:r>
          </a:p>
          <a:p>
            <a:r>
              <a:rPr lang="en-US" sz="1200" dirty="0">
                <a:latin typeface="Tahoma" panose="020B0604030504040204" pitchFamily="34" charset="0"/>
                <a:ea typeface="Tahoma" panose="020B0604030504040204" pitchFamily="34" charset="0"/>
                <a:cs typeface="Tahoma" panose="020B0604030504040204" pitchFamily="34" charset="0"/>
              </a:rPr>
              <a:t>END;</a:t>
            </a:r>
          </a:p>
          <a:p>
            <a:r>
              <a:rPr lang="en-US" sz="12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1165192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74D270-1B28-887A-10A5-BAA0157D6704}"/>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A8D97080-D0C5-0652-E850-05257BDD5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77FE538B-FC94-2BE7-F795-124DC31B3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2FA03524-5E53-258F-CEB9-B62B8ECE9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E4442A9D-4720-2BEF-22E8-3A4E8AD53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3D71DB2C-2838-BD8A-D5A5-DFD1CAC14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6F6C421-CF7B-62F6-C6CF-58D9D9845C8E}"/>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GOTO with Loops and Conditions</a:t>
            </a:r>
          </a:p>
        </p:txBody>
      </p:sp>
      <p:sp>
        <p:nvSpPr>
          <p:cNvPr id="5" name="Slide Number Placeholder 4">
            <a:extLst>
              <a:ext uri="{FF2B5EF4-FFF2-40B4-BE49-F238E27FC236}">
                <a16:creationId xmlns:a16="http://schemas.microsoft.com/office/drawing/2014/main" id="{D6510190-62F2-90F3-F9A9-C769AAE27991}"/>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36</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F8763DE-E727-F063-0913-2C91B32A25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24" y="6229763"/>
            <a:ext cx="885288" cy="451802"/>
          </a:xfrm>
          <a:prstGeom prst="rect">
            <a:avLst/>
          </a:prstGeom>
        </p:spPr>
      </p:pic>
      <p:sp>
        <p:nvSpPr>
          <p:cNvPr id="2" name="Rectangle 1">
            <a:extLst>
              <a:ext uri="{FF2B5EF4-FFF2-40B4-BE49-F238E27FC236}">
                <a16:creationId xmlns:a16="http://schemas.microsoft.com/office/drawing/2014/main" id="{CE2FF8CC-C4F3-533F-9C5C-0C719D9BAEAF}"/>
              </a:ext>
            </a:extLst>
          </p:cNvPr>
          <p:cNvSpPr>
            <a:spLocks noChangeArrowheads="1"/>
          </p:cNvSpPr>
          <p:nvPr/>
        </p:nvSpPr>
        <p:spPr bwMode="auto">
          <a:xfrm>
            <a:off x="123824" y="1660048"/>
            <a:ext cx="119597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GOTO statement in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allows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you to transfer control unconditionally to a labeled section </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of the code. It can be used in some cases, but it's generally discouraged due to readability and maintainability issues.</a:t>
            </a:r>
          </a:p>
        </p:txBody>
      </p:sp>
      <p:sp>
        <p:nvSpPr>
          <p:cNvPr id="6" name="Rectangle 2">
            <a:extLst>
              <a:ext uri="{FF2B5EF4-FFF2-40B4-BE49-F238E27FC236}">
                <a16:creationId xmlns:a16="http://schemas.microsoft.com/office/drawing/2014/main" id="{159DD4BC-5270-B88C-2DA5-5A49D1888DFE}"/>
              </a:ext>
            </a:extLst>
          </p:cNvPr>
          <p:cNvSpPr>
            <a:spLocks noChangeArrowheads="1"/>
          </p:cNvSpPr>
          <p:nvPr/>
        </p:nvSpPr>
        <p:spPr bwMode="auto">
          <a:xfrm>
            <a:off x="232229" y="2401615"/>
            <a:ext cx="183588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Basic Example of GOTO </a:t>
            </a:r>
          </a:p>
        </p:txBody>
      </p:sp>
      <p:sp>
        <p:nvSpPr>
          <p:cNvPr id="10" name="Rectangle 3">
            <a:extLst>
              <a:ext uri="{FF2B5EF4-FFF2-40B4-BE49-F238E27FC236}">
                <a16:creationId xmlns:a16="http://schemas.microsoft.com/office/drawing/2014/main" id="{16BE5C6F-A347-9578-EADF-38E436A0C9D7}"/>
              </a:ext>
            </a:extLst>
          </p:cNvPr>
          <p:cNvSpPr>
            <a:spLocks noChangeArrowheads="1"/>
          </p:cNvSpPr>
          <p:nvPr/>
        </p:nvSpPr>
        <p:spPr bwMode="auto">
          <a:xfrm>
            <a:off x="5181534" y="3604358"/>
            <a:ext cx="5776752" cy="830997"/>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lvl="3" eaLnBrk="0" fontAlgn="base" hangingPunct="0">
              <a:spcBef>
                <a:spcPct val="0"/>
              </a:spcBef>
              <a:spcAft>
                <a:spcPct val="0"/>
              </a:spcAft>
            </a:pP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Explanation</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It </a:t>
            </a: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simulates a loop</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using GOTO.</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Prints "Iteration: X" for X = 1 to 5, then exits.</a:t>
            </a:r>
          </a:p>
          <a:p>
            <a:pPr lvl="3" eaLnBrk="0" fontAlgn="base" hangingPunct="0">
              <a:spcBef>
                <a:spcPct val="0"/>
              </a:spcBef>
              <a:spcAft>
                <a:spcPct val="0"/>
              </a:spcAft>
            </a:pPr>
            <a:endPar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631A539D-3C1A-DB9E-79C9-13C0154B02BD}"/>
              </a:ext>
            </a:extLst>
          </p:cNvPr>
          <p:cNvSpPr txBox="1"/>
          <p:nvPr/>
        </p:nvSpPr>
        <p:spPr>
          <a:xfrm>
            <a:off x="123824" y="2696039"/>
            <a:ext cx="6096000" cy="26776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DECLARE</a:t>
            </a:r>
          </a:p>
          <a:p>
            <a:r>
              <a:rPr lang="en-CA" sz="1200" dirty="0">
                <a:latin typeface="Tahoma" panose="020B0604030504040204" pitchFamily="34" charset="0"/>
                <a:ea typeface="Tahoma" panose="020B0604030504040204" pitchFamily="34" charset="0"/>
                <a:cs typeface="Tahoma" panose="020B0604030504040204" pitchFamily="34" charset="0"/>
              </a:rPr>
              <a:t>    counter NUMBER := 1;</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dirty="0">
                <a:latin typeface="Tahoma" panose="020B0604030504040204" pitchFamily="34" charset="0"/>
                <a:ea typeface="Tahoma" panose="020B0604030504040204" pitchFamily="34" charset="0"/>
                <a:cs typeface="Tahoma" panose="020B0604030504040204" pitchFamily="34" charset="0"/>
              </a:rPr>
              <a:t>    &lt;&lt;</a:t>
            </a:r>
            <a:r>
              <a:rPr lang="en-CA" sz="1200" dirty="0" err="1">
                <a:latin typeface="Tahoma" panose="020B0604030504040204" pitchFamily="34" charset="0"/>
                <a:ea typeface="Tahoma" panose="020B0604030504040204" pitchFamily="34" charset="0"/>
                <a:cs typeface="Tahoma" panose="020B0604030504040204" pitchFamily="34" charset="0"/>
              </a:rPr>
              <a:t>start_loop</a:t>
            </a:r>
            <a:r>
              <a:rPr lang="en-CA" sz="1200" dirty="0">
                <a:latin typeface="Tahoma" panose="020B0604030504040204" pitchFamily="34" charset="0"/>
                <a:ea typeface="Tahoma" panose="020B0604030504040204" pitchFamily="34" charset="0"/>
                <a:cs typeface="Tahoma" panose="020B0604030504040204" pitchFamily="34" charset="0"/>
              </a:rPr>
              <a:t>&gt;&gt;</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DBMS_OUTPUT.PUT_LINE('Iteration: ' || counter);</a:t>
            </a:r>
          </a:p>
          <a:p>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dirty="0">
                <a:latin typeface="Tahoma" panose="020B0604030504040204" pitchFamily="34" charset="0"/>
                <a:ea typeface="Tahoma" panose="020B0604030504040204" pitchFamily="34" charset="0"/>
                <a:cs typeface="Tahoma" panose="020B0604030504040204" pitchFamily="34" charset="0"/>
              </a:rPr>
              <a:t>    counter := counter + 1;</a:t>
            </a:r>
          </a:p>
          <a:p>
            <a:r>
              <a:rPr lang="en-CA" sz="1200" dirty="0">
                <a:latin typeface="Tahoma" panose="020B0604030504040204" pitchFamily="34" charset="0"/>
                <a:ea typeface="Tahoma" panose="020B0604030504040204" pitchFamily="34" charset="0"/>
                <a:cs typeface="Tahoma" panose="020B0604030504040204" pitchFamily="34" charset="0"/>
              </a:rPr>
              <a:t>    IF counter &lt;= 5 THEN</a:t>
            </a:r>
          </a:p>
          <a:p>
            <a:r>
              <a:rPr lang="en-CA" sz="1200" dirty="0">
                <a:latin typeface="Tahoma" panose="020B0604030504040204" pitchFamily="34" charset="0"/>
                <a:ea typeface="Tahoma" panose="020B0604030504040204" pitchFamily="34" charset="0"/>
                <a:cs typeface="Tahoma" panose="020B0604030504040204" pitchFamily="34" charset="0"/>
              </a:rPr>
              <a:t>        GOTO </a:t>
            </a:r>
            <a:r>
              <a:rPr lang="en-CA" sz="1200" dirty="0" err="1">
                <a:latin typeface="Tahoma" panose="020B0604030504040204" pitchFamily="34" charset="0"/>
                <a:ea typeface="Tahoma" panose="020B0604030504040204" pitchFamily="34" charset="0"/>
                <a:cs typeface="Tahoma" panose="020B0604030504040204" pitchFamily="34" charset="0"/>
              </a:rPr>
              <a:t>start_loop</a:t>
            </a:r>
            <a:r>
              <a:rPr lang="en-CA" sz="1200" dirty="0">
                <a:latin typeface="Tahoma" panose="020B0604030504040204" pitchFamily="34" charset="0"/>
                <a:ea typeface="Tahoma" panose="020B0604030504040204" pitchFamily="34" charset="0"/>
                <a:cs typeface="Tahoma" panose="020B0604030504040204" pitchFamily="34" charset="0"/>
              </a:rPr>
              <a:t>; </a:t>
            </a:r>
            <a:r>
              <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rPr>
              <a:t>-- Jumps back to </a:t>
            </a:r>
            <a:r>
              <a:rPr lang="en-CA" sz="1200" i="1" dirty="0" err="1">
                <a:highlight>
                  <a:srgbClr val="C0C0C0"/>
                </a:highlight>
                <a:latin typeface="Tahoma" panose="020B0604030504040204" pitchFamily="34" charset="0"/>
                <a:ea typeface="Tahoma" panose="020B0604030504040204" pitchFamily="34" charset="0"/>
                <a:cs typeface="Tahoma" panose="020B0604030504040204" pitchFamily="34" charset="0"/>
              </a:rPr>
              <a:t>start_loop</a:t>
            </a:r>
            <a:endParaRPr lang="en-CA" sz="1200" i="1" dirty="0">
              <a:highlight>
                <a:srgbClr val="C0C0C0"/>
              </a:highlight>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END IF;</a:t>
            </a:r>
          </a:p>
          <a:p>
            <a:r>
              <a:rPr lang="en-CA" sz="1200" dirty="0">
                <a:latin typeface="Tahoma" panose="020B0604030504040204" pitchFamily="34" charset="0"/>
                <a:ea typeface="Tahoma" panose="020B0604030504040204" pitchFamily="34" charset="0"/>
                <a:cs typeface="Tahoma" panose="020B0604030504040204" pitchFamily="34" charset="0"/>
              </a:rPr>
              <a:t>    </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DBMS_OUTPUT.PUT_LINE('Loop completed.');</a:t>
            </a:r>
          </a:p>
          <a:p>
            <a:r>
              <a:rPr lang="en-CA" sz="1200" dirty="0">
                <a:latin typeface="Tahoma" panose="020B0604030504040204" pitchFamily="34" charset="0"/>
                <a:ea typeface="Tahoma" panose="020B0604030504040204" pitchFamily="34" charset="0"/>
                <a:cs typeface="Tahoma" panose="020B0604030504040204" pitchFamily="34" charset="0"/>
              </a:rPr>
              <a:t>END;</a:t>
            </a:r>
          </a:p>
          <a:p>
            <a:r>
              <a:rPr lang="en-CA" sz="12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972456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FCF3FE-DF7E-7F87-672E-22562C5E7ECB}"/>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CCE89D2C-33B2-507D-97AA-4D2D47756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F0D169A-1C6F-7CF8-4114-1366D48AD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3996125-8282-0695-DC74-84C010CC6F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0DA0D71F-A225-A238-5166-32051523C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10A5C8A9-90F2-F34E-996E-714ADA79C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8F0D3E8-EF5A-8015-79B0-8FC64959BAD8}"/>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GOTO with Exception Handling</a:t>
            </a:r>
          </a:p>
        </p:txBody>
      </p:sp>
      <p:sp>
        <p:nvSpPr>
          <p:cNvPr id="5" name="Slide Number Placeholder 4">
            <a:extLst>
              <a:ext uri="{FF2B5EF4-FFF2-40B4-BE49-F238E27FC236}">
                <a16:creationId xmlns:a16="http://schemas.microsoft.com/office/drawing/2014/main" id="{D0839C05-3D00-09F4-83DF-5B569B8CB8C5}"/>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37</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67591A92-3673-83B4-B885-F7DCE31B91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24" y="6229763"/>
            <a:ext cx="885288" cy="451802"/>
          </a:xfrm>
          <a:prstGeom prst="rect">
            <a:avLst/>
          </a:prstGeom>
        </p:spPr>
      </p:pic>
      <p:sp>
        <p:nvSpPr>
          <p:cNvPr id="10" name="Rectangle 3">
            <a:extLst>
              <a:ext uri="{FF2B5EF4-FFF2-40B4-BE49-F238E27FC236}">
                <a16:creationId xmlns:a16="http://schemas.microsoft.com/office/drawing/2014/main" id="{65F811F8-34D7-FBE9-5C85-F9E9F4CF1878}"/>
              </a:ext>
            </a:extLst>
          </p:cNvPr>
          <p:cNvSpPr>
            <a:spLocks noChangeArrowheads="1"/>
          </p:cNvSpPr>
          <p:nvPr/>
        </p:nvSpPr>
        <p:spPr bwMode="auto">
          <a:xfrm>
            <a:off x="5181533" y="3604358"/>
            <a:ext cx="6780793" cy="830997"/>
          </a:xfrm>
          <a:prstGeom prst="rect">
            <a:avLst/>
          </a:prstGeom>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lvl="3" eaLnBrk="0" fontAlgn="base" hangingPunct="0">
              <a:spcBef>
                <a:spcPct val="0"/>
              </a:spcBef>
              <a:spcAft>
                <a:spcPct val="0"/>
              </a:spcAft>
            </a:pP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Explanation</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If num &lt; 0, the control </a:t>
            </a: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jumps</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to </a:t>
            </a:r>
            <a:r>
              <a:rPr kumimoji="0" lang="en-US" altLang="en-US" sz="1200" b="0" i="0" u="none" strike="noStrike" cap="none" normalizeH="0" baseline="0" dirty="0" err="1">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error_label</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and prints an error message.</a:t>
            </a:r>
          </a:p>
          <a:p>
            <a:pPr marL="1543050" lvl="3" indent="-171450" eaLnBrk="0" fontAlgn="base" hangingPunct="0">
              <a:spcBef>
                <a:spcPct val="0"/>
              </a:spcBef>
              <a:spcAft>
                <a:spcPct val="0"/>
              </a:spcAft>
              <a:buFont typeface="Wingdings" panose="05000000000000000000" pitchFamily="2" charset="2"/>
              <a:buChar char="§"/>
            </a:pPr>
            <a:r>
              <a:rPr kumimoji="0" lang="en-US" altLang="en-US" sz="1200" b="1"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Ensures program does not execute unnecessary code</a:t>
            </a:r>
            <a:r>
              <a:rPr kumimoji="0" lang="en-US" altLang="en-US" sz="1200" b="0" i="0" u="none" strike="noStrike" cap="none" normalizeH="0" baseline="0" dirty="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after an error.</a:t>
            </a:r>
          </a:p>
          <a:p>
            <a:pPr lvl="3" eaLnBrk="0" fontAlgn="base" hangingPunct="0">
              <a:spcBef>
                <a:spcPct val="0"/>
              </a:spcBef>
              <a:spcAft>
                <a:spcPct val="0"/>
              </a:spcAf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5C1FB2B2-DE8F-7CEB-3C60-B3E1BBCBA6C8}"/>
              </a:ext>
            </a:extLst>
          </p:cNvPr>
          <p:cNvSpPr txBox="1"/>
          <p:nvPr/>
        </p:nvSpPr>
        <p:spPr>
          <a:xfrm>
            <a:off x="229673" y="1896198"/>
            <a:ext cx="6096000"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sz="1200" dirty="0">
                <a:latin typeface="Tahoma" panose="020B0604030504040204" pitchFamily="34" charset="0"/>
                <a:ea typeface="Tahoma" panose="020B0604030504040204" pitchFamily="34" charset="0"/>
                <a:cs typeface="Tahoma" panose="020B0604030504040204" pitchFamily="34" charset="0"/>
              </a:rPr>
              <a:t>DECLARE</a:t>
            </a:r>
          </a:p>
          <a:p>
            <a:r>
              <a:rPr lang="en-CA" sz="1200" dirty="0">
                <a:latin typeface="Tahoma" panose="020B0604030504040204" pitchFamily="34" charset="0"/>
                <a:ea typeface="Tahoma" panose="020B0604030504040204" pitchFamily="34" charset="0"/>
                <a:cs typeface="Tahoma" panose="020B0604030504040204" pitchFamily="34" charset="0"/>
              </a:rPr>
              <a:t>    num NUMBER := 10;</a:t>
            </a:r>
          </a:p>
          <a:p>
            <a:r>
              <a:rPr lang="en-CA" sz="1200" dirty="0">
                <a:latin typeface="Tahoma" panose="020B0604030504040204" pitchFamily="34" charset="0"/>
                <a:ea typeface="Tahoma" panose="020B0604030504040204" pitchFamily="34" charset="0"/>
                <a:cs typeface="Tahoma" panose="020B0604030504040204" pitchFamily="34" charset="0"/>
              </a:rPr>
              <a:t>BEGIN</a:t>
            </a:r>
          </a:p>
          <a:p>
            <a:r>
              <a:rPr lang="en-CA" sz="1200" dirty="0">
                <a:latin typeface="Tahoma" panose="020B0604030504040204" pitchFamily="34" charset="0"/>
                <a:ea typeface="Tahoma" panose="020B0604030504040204" pitchFamily="34" charset="0"/>
                <a:cs typeface="Tahoma" panose="020B0604030504040204" pitchFamily="34" charset="0"/>
              </a:rPr>
              <a:t>    IF num &lt; 0 THEN</a:t>
            </a:r>
          </a:p>
          <a:p>
            <a:r>
              <a:rPr lang="en-CA" sz="1200" dirty="0">
                <a:latin typeface="Tahoma" panose="020B0604030504040204" pitchFamily="34" charset="0"/>
                <a:ea typeface="Tahoma" panose="020B0604030504040204" pitchFamily="34" charset="0"/>
                <a:cs typeface="Tahoma" panose="020B0604030504040204" pitchFamily="34" charset="0"/>
              </a:rPr>
              <a:t>        GOTO </a:t>
            </a:r>
            <a:r>
              <a:rPr lang="en-CA" sz="1200" dirty="0" err="1">
                <a:latin typeface="Tahoma" panose="020B0604030504040204" pitchFamily="34" charset="0"/>
                <a:ea typeface="Tahoma" panose="020B0604030504040204" pitchFamily="34" charset="0"/>
                <a:cs typeface="Tahoma" panose="020B0604030504040204" pitchFamily="34" charset="0"/>
              </a:rPr>
              <a:t>error_label</a:t>
            </a:r>
            <a:r>
              <a:rPr lang="en-CA" sz="1200" dirty="0">
                <a:latin typeface="Tahoma" panose="020B0604030504040204" pitchFamily="34" charset="0"/>
                <a:ea typeface="Tahoma" panose="020B0604030504040204" pitchFamily="34" charset="0"/>
                <a:cs typeface="Tahoma" panose="020B0604030504040204" pitchFamily="34" charset="0"/>
              </a:rPr>
              <a:t>;</a:t>
            </a:r>
          </a:p>
          <a:p>
            <a:r>
              <a:rPr lang="en-CA" sz="1200" dirty="0">
                <a:latin typeface="Tahoma" panose="020B0604030504040204" pitchFamily="34" charset="0"/>
                <a:ea typeface="Tahoma" panose="020B0604030504040204" pitchFamily="34" charset="0"/>
                <a:cs typeface="Tahoma" panose="020B0604030504040204" pitchFamily="34" charset="0"/>
              </a:rPr>
              <a:t>    END IF;</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DBMS_OUTPUT.PUT_LINE('Number is positive.');</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GOTO </a:t>
            </a:r>
            <a:r>
              <a:rPr lang="en-CA" sz="1200" dirty="0" err="1">
                <a:latin typeface="Tahoma" panose="020B0604030504040204" pitchFamily="34" charset="0"/>
                <a:ea typeface="Tahoma" panose="020B0604030504040204" pitchFamily="34" charset="0"/>
                <a:cs typeface="Tahoma" panose="020B0604030504040204" pitchFamily="34" charset="0"/>
              </a:rPr>
              <a:t>end_program</a:t>
            </a:r>
            <a:r>
              <a:rPr lang="en-CA" sz="1200" dirty="0">
                <a:latin typeface="Tahoma" panose="020B0604030504040204" pitchFamily="34" charset="0"/>
                <a:ea typeface="Tahoma" panose="020B0604030504040204" pitchFamily="34" charset="0"/>
                <a:cs typeface="Tahoma" panose="020B0604030504040204" pitchFamily="34" charset="0"/>
              </a:rPr>
              <a:t>;</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&lt;&lt;</a:t>
            </a:r>
            <a:r>
              <a:rPr lang="en-CA" sz="1200" dirty="0" err="1">
                <a:latin typeface="Tahoma" panose="020B0604030504040204" pitchFamily="34" charset="0"/>
                <a:ea typeface="Tahoma" panose="020B0604030504040204" pitchFamily="34" charset="0"/>
                <a:cs typeface="Tahoma" panose="020B0604030504040204" pitchFamily="34" charset="0"/>
              </a:rPr>
              <a:t>error_label</a:t>
            </a:r>
            <a:r>
              <a:rPr lang="en-CA" sz="1200" dirty="0">
                <a:latin typeface="Tahoma" panose="020B0604030504040204" pitchFamily="34" charset="0"/>
                <a:ea typeface="Tahoma" panose="020B0604030504040204" pitchFamily="34" charset="0"/>
                <a:cs typeface="Tahoma" panose="020B0604030504040204" pitchFamily="34" charset="0"/>
              </a:rPr>
              <a:t>&gt;&gt;</a:t>
            </a:r>
          </a:p>
          <a:p>
            <a:r>
              <a:rPr lang="en-CA" sz="1200" dirty="0">
                <a:latin typeface="Tahoma" panose="020B0604030504040204" pitchFamily="34" charset="0"/>
                <a:ea typeface="Tahoma" panose="020B0604030504040204" pitchFamily="34" charset="0"/>
                <a:cs typeface="Tahoma" panose="020B0604030504040204" pitchFamily="34" charset="0"/>
              </a:rPr>
              <a:t>    DBMS_OUTPUT.PUT_LINE('Error: Negative number detected.');</a:t>
            </a:r>
          </a:p>
          <a:p>
            <a:endParaRPr lang="en-CA" sz="1200" dirty="0">
              <a:latin typeface="Tahoma" panose="020B0604030504040204" pitchFamily="34" charset="0"/>
              <a:ea typeface="Tahoma" panose="020B0604030504040204" pitchFamily="34" charset="0"/>
              <a:cs typeface="Tahoma" panose="020B0604030504040204" pitchFamily="34" charset="0"/>
            </a:endParaRPr>
          </a:p>
          <a:p>
            <a:r>
              <a:rPr lang="en-CA" sz="1200" dirty="0">
                <a:latin typeface="Tahoma" panose="020B0604030504040204" pitchFamily="34" charset="0"/>
                <a:ea typeface="Tahoma" panose="020B0604030504040204" pitchFamily="34" charset="0"/>
                <a:cs typeface="Tahoma" panose="020B0604030504040204" pitchFamily="34" charset="0"/>
              </a:rPr>
              <a:t>    &lt;&lt;</a:t>
            </a:r>
            <a:r>
              <a:rPr lang="en-CA" sz="1200" dirty="0" err="1">
                <a:latin typeface="Tahoma" panose="020B0604030504040204" pitchFamily="34" charset="0"/>
                <a:ea typeface="Tahoma" panose="020B0604030504040204" pitchFamily="34" charset="0"/>
                <a:cs typeface="Tahoma" panose="020B0604030504040204" pitchFamily="34" charset="0"/>
              </a:rPr>
              <a:t>end_program</a:t>
            </a:r>
            <a:r>
              <a:rPr lang="en-CA" sz="1200" dirty="0">
                <a:latin typeface="Tahoma" panose="020B0604030504040204" pitchFamily="34" charset="0"/>
                <a:ea typeface="Tahoma" panose="020B0604030504040204" pitchFamily="34" charset="0"/>
                <a:cs typeface="Tahoma" panose="020B0604030504040204" pitchFamily="34" charset="0"/>
              </a:rPr>
              <a:t>&gt;&gt;</a:t>
            </a:r>
          </a:p>
          <a:p>
            <a:r>
              <a:rPr lang="en-CA" sz="1200" dirty="0">
                <a:latin typeface="Tahoma" panose="020B0604030504040204" pitchFamily="34" charset="0"/>
                <a:ea typeface="Tahoma" panose="020B0604030504040204" pitchFamily="34" charset="0"/>
                <a:cs typeface="Tahoma" panose="020B0604030504040204" pitchFamily="34" charset="0"/>
              </a:rPr>
              <a:t>    NULL;</a:t>
            </a:r>
          </a:p>
          <a:p>
            <a:r>
              <a:rPr lang="en-CA" sz="1200" dirty="0">
                <a:latin typeface="Tahoma" panose="020B0604030504040204" pitchFamily="34" charset="0"/>
                <a:ea typeface="Tahoma" panose="020B0604030504040204" pitchFamily="34" charset="0"/>
                <a:cs typeface="Tahoma" panose="020B0604030504040204" pitchFamily="34" charset="0"/>
              </a:rPr>
              <a:t>END;</a:t>
            </a:r>
          </a:p>
          <a:p>
            <a:r>
              <a:rPr lang="en-CA" sz="12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817406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E44D12-3FE8-3247-C10D-BD89B2C1FF6B}"/>
            </a:ext>
          </a:extLst>
        </p:cNvPr>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B5DA42AE-F26A-F54A-ECC5-F88DADFF7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F547FDA2-F541-C055-41B2-F035ECB229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980122DC-BFD8-7E07-89D7-BEBFB0621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B52A47B7-D704-2907-AFD9-07504B3F1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573F9DB-427D-67A2-5D6A-1FADE2902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F190FE4-17B7-3A9D-FA38-D838A0CD7AF8}"/>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 Why GOTO?</a:t>
            </a:r>
          </a:p>
        </p:txBody>
      </p:sp>
      <p:sp>
        <p:nvSpPr>
          <p:cNvPr id="5" name="Slide Number Placeholder 4">
            <a:extLst>
              <a:ext uri="{FF2B5EF4-FFF2-40B4-BE49-F238E27FC236}">
                <a16:creationId xmlns:a16="http://schemas.microsoft.com/office/drawing/2014/main" id="{9283C208-7C1D-A62F-F503-3112BD9CCC0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38</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B63B2E4-8168-0BDD-765D-76B301E40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24" y="6229763"/>
            <a:ext cx="885288" cy="451802"/>
          </a:xfrm>
          <a:prstGeom prst="rect">
            <a:avLst/>
          </a:prstGeom>
        </p:spPr>
      </p:pic>
      <p:sp>
        <p:nvSpPr>
          <p:cNvPr id="2" name="Rectangle 1">
            <a:extLst>
              <a:ext uri="{FF2B5EF4-FFF2-40B4-BE49-F238E27FC236}">
                <a16:creationId xmlns:a16="http://schemas.microsoft.com/office/drawing/2014/main" id="{3A66A2E7-ACAF-91D8-E2E2-E396D4BB8CBD}"/>
              </a:ext>
            </a:extLst>
          </p:cNvPr>
          <p:cNvSpPr>
            <a:spLocks noChangeArrowheads="1"/>
          </p:cNvSpPr>
          <p:nvPr/>
        </p:nvSpPr>
        <p:spPr bwMode="auto">
          <a:xfrm>
            <a:off x="348343" y="1965236"/>
            <a:ext cx="48686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CA"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Why GOTO is Rarely Used?</a:t>
            </a:r>
          </a:p>
          <a:p>
            <a:pPr marR="0" lvl="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Makes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code harder to read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debug.</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Can lead 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"spaghetti code"</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(too many jumps).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Loops (FOR, WHILE) and CASE statements</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usually replace it.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6" name="Rectangle 2">
            <a:extLst>
              <a:ext uri="{FF2B5EF4-FFF2-40B4-BE49-F238E27FC236}">
                <a16:creationId xmlns:a16="http://schemas.microsoft.com/office/drawing/2014/main" id="{AC2E64C3-93D7-EB57-9174-165970C45E78}"/>
              </a:ext>
            </a:extLst>
          </p:cNvPr>
          <p:cNvSpPr>
            <a:spLocks noChangeArrowheads="1"/>
          </p:cNvSpPr>
          <p:nvPr/>
        </p:nvSpPr>
        <p:spPr bwMode="auto">
          <a:xfrm>
            <a:off x="6325673" y="4910546"/>
            <a:ext cx="520878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Key Questions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When is GOTO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justified</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 PL/SQL?</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How can you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replace GOTO</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with structured control flow?</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What happens if a GOTO </a:t>
            </a: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jumps over an EXCEPTION block</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p:txBody>
      </p:sp>
      <p:pic>
        <p:nvPicPr>
          <p:cNvPr id="19462" name="Picture 6" descr="Cara Confused | The Ad Mascot Wiki | Fandom">
            <a:extLst>
              <a:ext uri="{FF2B5EF4-FFF2-40B4-BE49-F238E27FC236}">
                <a16:creationId xmlns:a16="http://schemas.microsoft.com/office/drawing/2014/main" id="{9AF15BE4-0C02-6066-BB8A-FC38C7FC06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0286" y="2166568"/>
            <a:ext cx="2931884" cy="2682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1062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E34D7F-389F-956D-CCC3-6A1CB6C15043}"/>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3595608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 name="Rectangle 10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B2BBFB4-5288-9B39-545E-3E2628B592D1}"/>
              </a:ext>
            </a:extLst>
          </p:cNvPr>
          <p:cNvSpPr>
            <a:spLocks noGrp="1"/>
          </p:cNvSpPr>
          <p:nvPr>
            <p:ph type="ctrTitle"/>
          </p:nvPr>
        </p:nvSpPr>
        <p:spPr>
          <a:xfrm>
            <a:off x="232229" y="294538"/>
            <a:ext cx="11035321" cy="1033669"/>
          </a:xfrm>
        </p:spPr>
        <p:txBody>
          <a:bodyPr vert="horz" lIns="91440" tIns="45720" rIns="91440" bIns="45720" rtlCol="0" anchor="ctr">
            <a:normAutofit/>
          </a:bodyPr>
          <a:lstStyle/>
          <a:p>
            <a:r>
              <a:rPr lang="en-CA" sz="4000" b="1" kern="1200" dirty="0">
                <a:solidFill>
                  <a:srgbClr val="FFFFFF"/>
                </a:solidFill>
                <a:latin typeface="Tahoma" panose="020B0604030504040204" pitchFamily="34" charset="0"/>
                <a:ea typeface="Tahoma" panose="020B0604030504040204" pitchFamily="34" charset="0"/>
                <a:cs typeface="Tahoma" panose="020B0604030504040204" pitchFamily="34" charset="0"/>
              </a:rPr>
              <a:t>Loops in PL/SQL</a:t>
            </a:r>
          </a:p>
        </p:txBody>
      </p:sp>
      <p:sp>
        <p:nvSpPr>
          <p:cNvPr id="5" name="Slide Number Placeholder 4">
            <a:extLst>
              <a:ext uri="{FF2B5EF4-FFF2-40B4-BE49-F238E27FC236}">
                <a16:creationId xmlns:a16="http://schemas.microsoft.com/office/drawing/2014/main" id="{C2D70710-E341-E28B-C839-8F821A55F90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62BC31D5-3DB6-4CC7-B4BC-04D916B4976B}" type="slidenum">
              <a:rPr lang="en-US" sz="1100" smtClean="0">
                <a:solidFill>
                  <a:schemeClr val="tx1">
                    <a:lumMod val="50000"/>
                    <a:lumOff val="50000"/>
                  </a:schemeClr>
                </a:solidFill>
              </a:rPr>
              <a:pPr>
                <a:spcAft>
                  <a:spcPts val="600"/>
                </a:spcAft>
              </a:pPr>
              <a:t>40</a:t>
            </a:fld>
            <a:endParaRPr lang="en-US" sz="1100">
              <a:solidFill>
                <a:schemeClr val="tx1">
                  <a:lumMod val="50000"/>
                  <a:lumOff val="50000"/>
                </a:schemeClr>
              </a:solidFill>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503860A8-B5AC-72FA-B5EF-19225DBB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
        <p:nvSpPr>
          <p:cNvPr id="2" name="Rectangle 1">
            <a:extLst>
              <a:ext uri="{FF2B5EF4-FFF2-40B4-BE49-F238E27FC236}">
                <a16:creationId xmlns:a16="http://schemas.microsoft.com/office/drawing/2014/main" id="{DD7FF249-170F-6FA5-0EC0-CB5DE4875A91}"/>
              </a:ext>
            </a:extLst>
          </p:cNvPr>
          <p:cNvSpPr>
            <a:spLocks noChangeArrowheads="1"/>
          </p:cNvSpPr>
          <p:nvPr/>
        </p:nvSpPr>
        <p:spPr bwMode="auto">
          <a:xfrm>
            <a:off x="232229" y="3419692"/>
            <a:ext cx="51576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PL/SQL supports several looping constructs: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eaLnBrk="0" fontAlgn="base" hangingPunct="0">
              <a:spcBef>
                <a:spcPct val="0"/>
              </a:spcBef>
              <a:spcAft>
                <a:spcPct val="0"/>
              </a:spcAft>
              <a:buFontTx/>
              <a:buAutoNum type="arabicPeriod"/>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Basic Loop</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(infinite until EXIT)</a:t>
            </a:r>
          </a:p>
          <a:p>
            <a:pPr lvl="1" eaLnBrk="0" fontAlgn="base" hangingPunct="0">
              <a:spcBef>
                <a:spcPct val="0"/>
              </a:spcBef>
              <a:spcAft>
                <a:spcPct val="0"/>
              </a:spcAft>
              <a:buFontTx/>
              <a:buAutoNum type="arabicPeriod" startAt="2"/>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WHILE Loop</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(repeats while a condition is TRUE)</a:t>
            </a:r>
          </a:p>
          <a:p>
            <a:pPr lvl="1" eaLnBrk="0" fontAlgn="base" hangingPunct="0">
              <a:spcBef>
                <a:spcPct val="0"/>
              </a:spcBef>
              <a:spcAft>
                <a:spcPct val="0"/>
              </a:spcAft>
              <a:buFontTx/>
              <a:buAutoNum type="arabicPeriod" startAt="3"/>
            </a:pPr>
            <a:r>
              <a:rPr kumimoji="0" lang="en-US" altLang="en-US" sz="12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FOR Loop</a:t>
            </a:r>
            <a:r>
              <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(repeats for a fixed number of times)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2989E7BE-C001-67DE-97D3-73B3B71DDF64}"/>
              </a:ext>
            </a:extLst>
          </p:cNvPr>
          <p:cNvSpPr txBox="1"/>
          <p:nvPr/>
        </p:nvSpPr>
        <p:spPr>
          <a:xfrm>
            <a:off x="329126" y="1658675"/>
            <a:ext cx="10853762" cy="1384995"/>
          </a:xfrm>
          <a:prstGeom prst="rect">
            <a:avLst/>
          </a:prstGeom>
          <a:noFill/>
        </p:spPr>
        <p:txBody>
          <a:bodyPr wrap="square">
            <a:spAutoFit/>
          </a:bodyPr>
          <a:lstStyle/>
          <a:p>
            <a:r>
              <a:rPr lang="en-CA" sz="1200" b="1" dirty="0">
                <a:latin typeface="Tahoma" panose="020B0604030504040204" pitchFamily="34" charset="0"/>
                <a:ea typeface="Tahoma" panose="020B0604030504040204" pitchFamily="34" charset="0"/>
                <a:cs typeface="Tahoma" panose="020B0604030504040204" pitchFamily="34" charset="0"/>
              </a:rPr>
              <a:t>Why Use Loops in PL/SQL? </a:t>
            </a:r>
          </a:p>
          <a:p>
            <a:r>
              <a:rPr lang="en-CA" sz="1200" dirty="0">
                <a:latin typeface="Tahoma" panose="020B0604030504040204" pitchFamily="34" charset="0"/>
                <a:ea typeface="Tahoma" panose="020B0604030504040204" pitchFamily="34" charset="0"/>
                <a:cs typeface="Tahoma" panose="020B0604030504040204" pitchFamily="34" charset="0"/>
              </a:rPr>
              <a:t>Loops are essential in </a:t>
            </a:r>
            <a:r>
              <a:rPr lang="en-CA" sz="1200" b="1" dirty="0">
                <a:latin typeface="Tahoma" panose="020B0604030504040204" pitchFamily="34" charset="0"/>
                <a:ea typeface="Tahoma" panose="020B0604030504040204" pitchFamily="34" charset="0"/>
                <a:cs typeface="Tahoma" panose="020B0604030504040204" pitchFamily="34" charset="0"/>
              </a:rPr>
              <a:t>PL/SQL programming</a:t>
            </a:r>
            <a:r>
              <a:rPr lang="en-CA" sz="1200" dirty="0">
                <a:latin typeface="Tahoma" panose="020B0604030504040204" pitchFamily="34" charset="0"/>
                <a:ea typeface="Tahoma" panose="020B0604030504040204" pitchFamily="34" charset="0"/>
                <a:cs typeface="Tahoma" panose="020B0604030504040204" pitchFamily="34" charset="0"/>
              </a:rPr>
              <a:t> because they allow you to </a:t>
            </a:r>
            <a:r>
              <a:rPr lang="en-CA" sz="1200" b="1" dirty="0">
                <a:latin typeface="Tahoma" panose="020B0604030504040204" pitchFamily="34" charset="0"/>
                <a:ea typeface="Tahoma" panose="020B0604030504040204" pitchFamily="34" charset="0"/>
                <a:cs typeface="Tahoma" panose="020B0604030504040204" pitchFamily="34" charset="0"/>
              </a:rPr>
              <a:t>repeat</a:t>
            </a:r>
            <a:r>
              <a:rPr lang="en-CA" sz="1200" dirty="0">
                <a:latin typeface="Tahoma" panose="020B0604030504040204" pitchFamily="34" charset="0"/>
                <a:ea typeface="Tahoma" panose="020B0604030504040204" pitchFamily="34" charset="0"/>
                <a:cs typeface="Tahoma" panose="020B0604030504040204" pitchFamily="34" charset="0"/>
              </a:rPr>
              <a:t> a set of statements multiple times </a:t>
            </a:r>
            <a:r>
              <a:rPr lang="en-CA" sz="1200" b="1" dirty="0">
                <a:latin typeface="Tahoma" panose="020B0604030504040204" pitchFamily="34" charset="0"/>
                <a:ea typeface="Tahoma" panose="020B0604030504040204" pitchFamily="34" charset="0"/>
                <a:cs typeface="Tahoma" panose="020B0604030504040204" pitchFamily="34" charset="0"/>
              </a:rPr>
              <a:t>without rewriting code</a:t>
            </a:r>
            <a:r>
              <a:rPr lang="en-CA" sz="1200" dirty="0">
                <a:latin typeface="Tahoma" panose="020B0604030504040204" pitchFamily="34" charset="0"/>
                <a:ea typeface="Tahoma" panose="020B0604030504040204" pitchFamily="34" charset="0"/>
                <a:cs typeface="Tahoma" panose="020B0604030504040204" pitchFamily="34" charset="0"/>
              </a:rPr>
              <a:t>. They help in:</a:t>
            </a:r>
          </a:p>
          <a:p>
            <a:endParaRPr lang="en-CA" sz="1200" b="1" dirty="0">
              <a:latin typeface="Tahoma" panose="020B0604030504040204" pitchFamily="34" charset="0"/>
              <a:ea typeface="Tahoma" panose="020B0604030504040204" pitchFamily="34" charset="0"/>
              <a:cs typeface="Tahoma" panose="020B0604030504040204" pitchFamily="34" charset="0"/>
            </a:endParaRPr>
          </a:p>
          <a:p>
            <a:r>
              <a:rPr lang="en-CA" sz="1200" b="1" dirty="0">
                <a:latin typeface="Tahoma" panose="020B0604030504040204" pitchFamily="34" charset="0"/>
                <a:ea typeface="Tahoma" panose="020B0604030504040204" pitchFamily="34" charset="0"/>
                <a:cs typeface="Tahoma" panose="020B0604030504040204" pitchFamily="34" charset="0"/>
              </a:rPr>
              <a:t>Automating Repetitive Tasks</a:t>
            </a:r>
          </a:p>
          <a:p>
            <a:r>
              <a:rPr lang="en-CA" sz="1200" dirty="0">
                <a:latin typeface="Tahoma" panose="020B0604030504040204" pitchFamily="34" charset="0"/>
                <a:ea typeface="Tahoma" panose="020B0604030504040204" pitchFamily="34" charset="0"/>
                <a:cs typeface="Tahoma" panose="020B0604030504040204" pitchFamily="34" charset="0"/>
              </a:rPr>
              <a:t>Instead of writing </a:t>
            </a:r>
            <a:r>
              <a:rPr lang="en-CA" sz="1200" b="1" dirty="0">
                <a:latin typeface="Tahoma" panose="020B0604030504040204" pitchFamily="34" charset="0"/>
                <a:ea typeface="Tahoma" panose="020B0604030504040204" pitchFamily="34" charset="0"/>
                <a:cs typeface="Tahoma" panose="020B0604030504040204" pitchFamily="34" charset="0"/>
              </a:rPr>
              <a:t>duplicate SQL statements</a:t>
            </a:r>
            <a:r>
              <a:rPr lang="en-CA" sz="1200" dirty="0">
                <a:latin typeface="Tahoma" panose="020B0604030504040204" pitchFamily="34" charset="0"/>
                <a:ea typeface="Tahoma" panose="020B0604030504040204" pitchFamily="34" charset="0"/>
                <a:cs typeface="Tahoma" panose="020B0604030504040204" pitchFamily="34" charset="0"/>
              </a:rPr>
              <a:t>, loops </a:t>
            </a:r>
            <a:r>
              <a:rPr lang="en-CA" sz="1200" b="1" dirty="0">
                <a:latin typeface="Tahoma" panose="020B0604030504040204" pitchFamily="34" charset="0"/>
                <a:ea typeface="Tahoma" panose="020B0604030504040204" pitchFamily="34" charset="0"/>
                <a:cs typeface="Tahoma" panose="020B0604030504040204" pitchFamily="34" charset="0"/>
              </a:rPr>
              <a:t>repeat them dynamically</a:t>
            </a:r>
            <a:r>
              <a:rPr lang="en-CA" sz="1200" dirty="0">
                <a:latin typeface="Tahoma" panose="020B0604030504040204" pitchFamily="34" charset="0"/>
                <a:ea typeface="Tahoma" panose="020B0604030504040204" pitchFamily="34" charset="0"/>
                <a:cs typeface="Tahoma" panose="020B0604030504040204" pitchFamily="34" charset="0"/>
              </a:rPr>
              <a:t>.</a:t>
            </a:r>
            <a:br>
              <a:rPr lang="en-CA" sz="1200" dirty="0">
                <a:latin typeface="Tahoma" panose="020B0604030504040204" pitchFamily="34" charset="0"/>
                <a:ea typeface="Tahoma" panose="020B0604030504040204" pitchFamily="34" charset="0"/>
                <a:cs typeface="Tahoma" panose="020B0604030504040204" pitchFamily="34" charset="0"/>
              </a:rPr>
            </a:br>
            <a:br>
              <a:rPr lang="en-CA" sz="1200" dirty="0">
                <a:latin typeface="Tahoma" panose="020B0604030504040204" pitchFamily="34" charset="0"/>
                <a:ea typeface="Tahoma" panose="020B0604030504040204" pitchFamily="34" charset="0"/>
                <a:cs typeface="Tahoma" panose="020B0604030504040204" pitchFamily="34" charset="0"/>
              </a:rPr>
            </a:br>
            <a:r>
              <a:rPr lang="en-CA" sz="1200" dirty="0">
                <a:latin typeface="Tahoma" panose="020B0604030504040204" pitchFamily="34" charset="0"/>
                <a:ea typeface="Tahoma" panose="020B0604030504040204" pitchFamily="34" charset="0"/>
                <a:cs typeface="Tahoma" panose="020B0604030504040204" pitchFamily="34" charset="0"/>
              </a:rPr>
              <a:t>Example: Updating salaries for all employees in a department.</a:t>
            </a:r>
          </a:p>
        </p:txBody>
      </p:sp>
      <p:pic>
        <p:nvPicPr>
          <p:cNvPr id="14" name="Picture 13">
            <a:extLst>
              <a:ext uri="{FF2B5EF4-FFF2-40B4-BE49-F238E27FC236}">
                <a16:creationId xmlns:a16="http://schemas.microsoft.com/office/drawing/2014/main" id="{6A6A387A-9E28-138F-6835-431457DFDAB1}"/>
              </a:ext>
            </a:extLst>
          </p:cNvPr>
          <p:cNvPicPr>
            <a:picLocks noChangeAspect="1"/>
          </p:cNvPicPr>
          <p:nvPr/>
        </p:nvPicPr>
        <p:blipFill>
          <a:blip r:embed="rId4"/>
          <a:stretch>
            <a:fillRect/>
          </a:stretch>
        </p:blipFill>
        <p:spPr>
          <a:xfrm>
            <a:off x="6595154" y="2294186"/>
            <a:ext cx="4161478" cy="4161478"/>
          </a:xfrm>
          <a:prstGeom prst="rect">
            <a:avLst/>
          </a:prstGeom>
        </p:spPr>
      </p:pic>
      <p:sp>
        <p:nvSpPr>
          <p:cNvPr id="16" name="TextBox 15">
            <a:extLst>
              <a:ext uri="{FF2B5EF4-FFF2-40B4-BE49-F238E27FC236}">
                <a16:creationId xmlns:a16="http://schemas.microsoft.com/office/drawing/2014/main" id="{7FEE3623-5089-5B58-1BC3-6564EA5D5DE8}"/>
              </a:ext>
            </a:extLst>
          </p:cNvPr>
          <p:cNvSpPr txBox="1"/>
          <p:nvPr/>
        </p:nvSpPr>
        <p:spPr>
          <a:xfrm>
            <a:off x="7058693" y="6240220"/>
            <a:ext cx="2943749" cy="215444"/>
          </a:xfrm>
          <a:prstGeom prst="rect">
            <a:avLst/>
          </a:prstGeom>
          <a:noFill/>
        </p:spPr>
        <p:txBody>
          <a:bodyPr wrap="square">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Source Image: </a:t>
            </a:r>
            <a:r>
              <a:rPr lang="en-US" sz="800" dirty="0">
                <a:latin typeface="Tahoma" panose="020B0604030504040204" pitchFamily="34" charset="0"/>
                <a:ea typeface="Tahoma" panose="020B0604030504040204" pitchFamily="34" charset="0"/>
                <a:cs typeface="Tahoma" panose="020B0604030504040204" pitchFamily="34" charset="0"/>
                <a:hlinkClick r:id="rId5"/>
              </a:rPr>
              <a:t>https://www.geeksforgeeks.org/plsql-loops/</a:t>
            </a:r>
            <a:r>
              <a:rPr lang="en-US" sz="8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287248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Slide Number Placeholder 6">
            <a:extLst>
              <a:ext uri="{FF2B5EF4-FFF2-40B4-BE49-F238E27FC236}">
                <a16:creationId xmlns:a16="http://schemas.microsoft.com/office/drawing/2014/main" id="{6C7D6C75-76C1-150B-7D32-84BE131EC7A6}"/>
              </a:ext>
            </a:extLst>
          </p:cNvPr>
          <p:cNvSpPr>
            <a:spLocks noGrp="1"/>
          </p:cNvSpPr>
          <p:nvPr>
            <p:ph type="sldNum" sz="quarter" idx="12"/>
          </p:nvPr>
        </p:nvSpPr>
        <p:spPr/>
        <p:txBody>
          <a:bodyPr/>
          <a:lstStyle/>
          <a:p>
            <a:fld id="{62BC31D5-3DB6-4CC7-B4BC-04D916B4976B}" type="slidenum">
              <a:rPr lang="en-US" smtClean="0"/>
              <a:t>41</a:t>
            </a:fld>
            <a:endParaRPr lang="en-US"/>
          </a:p>
        </p:txBody>
      </p:sp>
      <p:sp>
        <p:nvSpPr>
          <p:cNvPr id="2" name="Title 1">
            <a:extLst>
              <a:ext uri="{FF2B5EF4-FFF2-40B4-BE49-F238E27FC236}">
                <a16:creationId xmlns:a16="http://schemas.microsoft.com/office/drawing/2014/main" id="{A0A51B6C-5D7A-DCBD-2687-C8F042507D6F}"/>
              </a:ext>
            </a:extLst>
          </p:cNvPr>
          <p:cNvSpPr txBox="1">
            <a:spLocks/>
          </p:cNvSpPr>
          <p:nvPr/>
        </p:nvSpPr>
        <p:spPr>
          <a:xfrm>
            <a:off x="2782825" y="3031236"/>
            <a:ext cx="6272784" cy="79552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5200" b="1"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descr="A logo of a person with arrows&#10;&#10;Description automatically generated with medium confidence">
            <a:extLst>
              <a:ext uri="{FF2B5EF4-FFF2-40B4-BE49-F238E27FC236}">
                <a16:creationId xmlns:a16="http://schemas.microsoft.com/office/drawing/2014/main" id="{C7887EF4-3531-9B05-BA3C-4FF7755B51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2888" y="1732880"/>
            <a:ext cx="885288" cy="451802"/>
          </a:xfrm>
          <a:prstGeom prst="rect">
            <a:avLst/>
          </a:prstGeom>
        </p:spPr>
      </p:pic>
    </p:spTree>
    <p:extLst>
      <p:ext uri="{BB962C8B-B14F-4D97-AF65-F5344CB8AC3E}">
        <p14:creationId xmlns:p14="http://schemas.microsoft.com/office/powerpoint/2010/main" val="1517554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10104</TotalTime>
  <Words>10606</Words>
  <Application>Microsoft Office PowerPoint</Application>
  <PresentationFormat>Widescreen</PresentationFormat>
  <Paragraphs>1326</Paragraphs>
  <Slides>41</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Aptos</vt:lpstr>
      <vt:lpstr>Aptos Display</vt:lpstr>
      <vt:lpstr>Arial</vt:lpstr>
      <vt:lpstr>Google Sans</vt:lpstr>
      <vt:lpstr>Open Sans</vt:lpstr>
      <vt:lpstr>Tahoma</vt:lpstr>
      <vt:lpstr>Wingdings</vt:lpstr>
      <vt:lpstr>Office Theme</vt:lpstr>
      <vt:lpstr>Database development with PL/SQL INSY 8311</vt:lpstr>
      <vt:lpstr>Database development with PL/SQL</vt:lpstr>
      <vt:lpstr>Error Handling in PL/SQL  &amp; Control Structures</vt:lpstr>
      <vt:lpstr>Exception Handling in PL/SQL</vt:lpstr>
      <vt:lpstr>1. System-Defined Exceptions</vt:lpstr>
      <vt:lpstr>Syntax for Handling System-Defined Exceptions</vt:lpstr>
      <vt:lpstr>2. User-Defined Exceptions</vt:lpstr>
      <vt:lpstr>Syntax for Declaring and Handling</vt:lpstr>
      <vt:lpstr>RAISE_APPLICATION_ERROR &amp; Summary </vt:lpstr>
      <vt:lpstr>Using SQLERRM to Capture Any Error</vt:lpstr>
      <vt:lpstr>Exception or Error Handling in PL/SQL – Problem Definition</vt:lpstr>
      <vt:lpstr>PL/SQL Script Implementation: Table Creation &amp; Data Insertion</vt:lpstr>
      <vt:lpstr>PL/SQL Script Implementation - Update</vt:lpstr>
      <vt:lpstr>Here’s parameterized PL/SQL procedure to handle updates with error handling and rollback</vt:lpstr>
      <vt:lpstr>Parameterized PL/SQL procedure to handle updates with error handling and rollback</vt:lpstr>
      <vt:lpstr>What Happens If You Move COMMIT Under EXCEPTION? </vt:lpstr>
      <vt:lpstr>Example - Logging Errors with SQLERRM</vt:lpstr>
      <vt:lpstr>Exception or Error Handling in PL/SQL - Examples</vt:lpstr>
      <vt:lpstr>Catch-All Exception in PL/SQL – WHEN OTHERS</vt:lpstr>
      <vt:lpstr>Catch-All Exception in PL/SQL – WHEN OTHERS/Example  </vt:lpstr>
      <vt:lpstr>Exception Handling – Extra Examples</vt:lpstr>
      <vt:lpstr>Exception Handling – Extra Examples</vt:lpstr>
      <vt:lpstr>Question for Students</vt:lpstr>
      <vt:lpstr>PL/SQL Procedure to Calculate Tax for a Purchase</vt:lpstr>
      <vt:lpstr>Condition Statement (If &amp; Case) </vt:lpstr>
      <vt:lpstr>IF Statements - Syntax</vt:lpstr>
      <vt:lpstr>📌 Problem Statement: Employee Bonus Update with Error Handling</vt:lpstr>
      <vt:lpstr>Code Implementation</vt:lpstr>
      <vt:lpstr>PL/SQL Stored Procedure in Oracle – Real Example</vt:lpstr>
      <vt:lpstr>📌 Problem Statement: Employee Bonus Update with Error Handling</vt:lpstr>
      <vt:lpstr>PL/SQL Stored Procedure in Oracle – Real Example</vt:lpstr>
      <vt:lpstr>PL/SQL Stored Procedure in Oracle – Real Example</vt:lpstr>
      <vt:lpstr>CASE Statements</vt:lpstr>
      <vt:lpstr>Example: CASE Statements</vt:lpstr>
      <vt:lpstr>PL/SQL Using GOTO Statement</vt:lpstr>
      <vt:lpstr>GOTO with Loops and Conditions</vt:lpstr>
      <vt:lpstr>GOTO with Exception Handling</vt:lpstr>
      <vt:lpstr>🚀 Why GOTO?</vt:lpstr>
      <vt:lpstr>PowerPoint Presentation</vt:lpstr>
      <vt:lpstr>Loops in PL/SQL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Maniraguha</dc:creator>
  <cp:lastModifiedBy>Eric Maniraguha</cp:lastModifiedBy>
  <cp:revision>1337</cp:revision>
  <dcterms:created xsi:type="dcterms:W3CDTF">2024-06-10T06:24:23Z</dcterms:created>
  <dcterms:modified xsi:type="dcterms:W3CDTF">2025-02-27T20:04:17Z</dcterms:modified>
</cp:coreProperties>
</file>